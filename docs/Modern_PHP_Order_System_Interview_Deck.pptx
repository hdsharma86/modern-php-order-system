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6c6f02d0a4b49df" /><Relationship Type="http://schemas.openxmlformats.org/officeDocument/2006/relationships/extended-properties" Target="/docProps/app.xml" Id="R468294dfec6d4db1" /><Relationship Type="http://schemas.openxmlformats.org/officeDocument/2006/relationships/officeDocument" Target="/ppt/presentation.xml" Id="Rc493077c85da47e5" /></Relationships>
</file>

<file path=ppt/presentation.xml><?xml version="1.0" encoding="utf-8"?>
<p:presentation xmlns:p="http://schemas.openxmlformats.org/presentationml/2006/main">
  <p:sldMasterIdLst>
    <p:sldMasterId xmlns:r="http://schemas.openxmlformats.org/officeDocument/2006/relationships" id="2147483648" r:id="Rc5c4d6762bad4e16"/>
  </p:sldMasterIdLst>
  <p:notesMasterIdLst>
    <p:notesMasterId xmlns:r="http://schemas.openxmlformats.org/officeDocument/2006/relationships" r:id="R49428432bdb947dc"/>
  </p:notesMasterIdLst>
  <p:sldIdLst>
    <p:sldId xmlns:r="http://schemas.openxmlformats.org/officeDocument/2006/relationships" id="256" r:id="R1370a155f3d94a5e"/>
    <p:sldId xmlns:r="http://schemas.openxmlformats.org/officeDocument/2006/relationships" id="257" r:id="R0575c324a84c4cbe"/>
    <p:sldId xmlns:r="http://schemas.openxmlformats.org/officeDocument/2006/relationships" id="258" r:id="R969f78f4dc26419d"/>
    <p:sldId xmlns:r="http://schemas.openxmlformats.org/officeDocument/2006/relationships" id="259" r:id="R3bc5f5d9c27448a3"/>
    <p:sldId xmlns:r="http://schemas.openxmlformats.org/officeDocument/2006/relationships" id="260" r:id="R7bdb88b94088442f"/>
    <p:sldId xmlns:r="http://schemas.openxmlformats.org/officeDocument/2006/relationships" id="261" r:id="R512a1e32afc44d5a"/>
    <p:sldId xmlns:r="http://schemas.openxmlformats.org/officeDocument/2006/relationships" id="262" r:id="Rdba39f58ee1d45b6"/>
    <p:sldId xmlns:r="http://schemas.openxmlformats.org/officeDocument/2006/relationships" id="263" r:id="Reb85c154d82f4ca7"/>
    <p:sldId xmlns:r="http://schemas.openxmlformats.org/officeDocument/2006/relationships" id="264" r:id="R23e9ac71c1b24a13"/>
    <p:sldId xmlns:r="http://schemas.openxmlformats.org/officeDocument/2006/relationships" id="265" r:id="R1fc10483d9354a17"/>
    <p:sldId xmlns:r="http://schemas.openxmlformats.org/officeDocument/2006/relationships" id="266" r:id="R606b6bdd0741490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5f61ac6ec8c4e85" /><Relationship Type="http://schemas.openxmlformats.org/officeDocument/2006/relationships/slideMaster" Target="/ppt/slideMasters/slideMaster1.xml" Id="Rc5c4d6762bad4e16" /><Relationship Type="http://schemas.openxmlformats.org/officeDocument/2006/relationships/notesMaster" Target="/ppt/notesMasters/notesMaster1.xml" Id="R49428432bdb947dc" /><Relationship Type="http://schemas.openxmlformats.org/officeDocument/2006/relationships/presProps" Target="/ppt/presProps.xml" Id="R14ab671fd1c44c0f" /><Relationship Type="http://schemas.openxmlformats.org/officeDocument/2006/relationships/tableStyles" Target="/ppt/tableStyles.xml" Id="R89b6cd9572b24082" /><Relationship Type="http://schemas.openxmlformats.org/officeDocument/2006/relationships/slide" Target="/ppt/slides/slide1.xml" Id="R1370a155f3d94a5e" /><Relationship Type="http://schemas.openxmlformats.org/officeDocument/2006/relationships/slide" Target="/ppt/slides/slide2.xml" Id="R0575c324a84c4cbe" /><Relationship Type="http://schemas.openxmlformats.org/officeDocument/2006/relationships/slide" Target="/ppt/slides/slide3.xml" Id="R969f78f4dc26419d" /><Relationship Type="http://schemas.openxmlformats.org/officeDocument/2006/relationships/slide" Target="/ppt/slides/slide4.xml" Id="R3bc5f5d9c27448a3" /><Relationship Type="http://schemas.openxmlformats.org/officeDocument/2006/relationships/slide" Target="/ppt/slides/slide5.xml" Id="R7bdb88b94088442f" /><Relationship Type="http://schemas.openxmlformats.org/officeDocument/2006/relationships/slide" Target="/ppt/slides/slide6.xml" Id="R512a1e32afc44d5a" /><Relationship Type="http://schemas.openxmlformats.org/officeDocument/2006/relationships/slide" Target="/ppt/slides/slide7.xml" Id="Rdba39f58ee1d45b6" /><Relationship Type="http://schemas.openxmlformats.org/officeDocument/2006/relationships/slide" Target="/ppt/slides/slide8.xml" Id="Reb85c154d82f4ca7" /><Relationship Type="http://schemas.openxmlformats.org/officeDocument/2006/relationships/slide" Target="/ppt/slides/slide9.xml" Id="R23e9ac71c1b24a13" /><Relationship Type="http://schemas.openxmlformats.org/officeDocument/2006/relationships/slide" Target="/ppt/slides/slide10.xml" Id="R1fc10483d9354a17" /><Relationship Type="http://schemas.openxmlformats.org/officeDocument/2006/relationships/slide" Target="/ppt/slides/slide11.xml" Id="R606b6bdd0741490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f9bf0c8acf4473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694841dc5a14c37" /><Relationship Type="http://schemas.openxmlformats.org/officeDocument/2006/relationships/notesMaster" Target="/ppt/notesMasters/notesMaster1.xml" Id="R552a805282b843b1" /></Relationships>
</file>

<file path=ppt/notesSlides/_rels/notesSlide2.xml.rels>&#65279;<?xml version="1.0" encoding="utf-8"?><Relationships xmlns="http://schemas.openxmlformats.org/package/2006/relationships"><Relationship Type="http://schemas.openxmlformats.org/officeDocument/2006/relationships/slide" Target="/ppt/slides/slide2.xml" Id="R73b0aeaad36d4de7" /><Relationship Type="http://schemas.openxmlformats.org/officeDocument/2006/relationships/notesMaster" Target="/ppt/notesMasters/notesMaster1.xml" Id="R42532adc78264c10" /></Relationships>
</file>

<file path=ppt/notesSlides/_rels/notesSlide3.xml.rels>&#65279;<?xml version="1.0" encoding="utf-8"?><Relationships xmlns="http://schemas.openxmlformats.org/package/2006/relationships"><Relationship Type="http://schemas.openxmlformats.org/officeDocument/2006/relationships/slide" Target="/ppt/slides/slide3.xml" Id="R208d99388cb74ae4" /><Relationship Type="http://schemas.openxmlformats.org/officeDocument/2006/relationships/notesMaster" Target="/ppt/notesMasters/notesMaster1.xml" Id="R4262004889654879" /></Relationships>
</file>

<file path=ppt/notesSlides/_rels/notesSlide4.xml.rels>&#65279;<?xml version="1.0" encoding="utf-8"?><Relationships xmlns="http://schemas.openxmlformats.org/package/2006/relationships"><Relationship Type="http://schemas.openxmlformats.org/officeDocument/2006/relationships/slide" Target="/ppt/slides/slide4.xml" Id="R266b8732da2f41e3" /><Relationship Type="http://schemas.openxmlformats.org/officeDocument/2006/relationships/notesMaster" Target="/ppt/notesMasters/notesMaster1.xml" Id="R0480467c8ed84227" /></Relationships>
</file>

<file path=ppt/notesSlides/_rels/notesSlide5.xml.rels>&#65279;<?xml version="1.0" encoding="utf-8"?><Relationships xmlns="http://schemas.openxmlformats.org/package/2006/relationships"><Relationship Type="http://schemas.openxmlformats.org/officeDocument/2006/relationships/slide" Target="/ppt/slides/slide5.xml" Id="R70a25b37995b46ba" /><Relationship Type="http://schemas.openxmlformats.org/officeDocument/2006/relationships/notesMaster" Target="/ppt/notesMasters/notesMaster1.xml" Id="Radb8a62e22ae4aba" /></Relationships>
</file>

<file path=ppt/notesSlides/_rels/notesSlide6.xml.rels>&#65279;<?xml version="1.0" encoding="utf-8"?><Relationships xmlns="http://schemas.openxmlformats.org/package/2006/relationships"><Relationship Type="http://schemas.openxmlformats.org/officeDocument/2006/relationships/slide" Target="/ppt/slides/slide6.xml" Id="Rc7ab0de440574b26" /><Relationship Type="http://schemas.openxmlformats.org/officeDocument/2006/relationships/notesMaster" Target="/ppt/notesMasters/notesMaster1.xml" Id="R6bc7162eac8f4189" /></Relationships>
</file>

<file path=ppt/notesSlides/_rels/notesSlide7.xml.rels>&#65279;<?xml version="1.0" encoding="utf-8"?><Relationships xmlns="http://schemas.openxmlformats.org/package/2006/relationships"><Relationship Type="http://schemas.openxmlformats.org/officeDocument/2006/relationships/slide" Target="/ppt/slides/slide7.xml" Id="Rbccc5f83300f4045" /><Relationship Type="http://schemas.openxmlformats.org/officeDocument/2006/relationships/notesMaster" Target="/ppt/notesMasters/notesMaster1.xml" Id="R7c3584a1db4640f9" /></Relationships>
</file>

<file path=ppt/notesSlides/_rels/notesSlide8.xml.rels>&#65279;<?xml version="1.0" encoding="utf-8"?><Relationships xmlns="http://schemas.openxmlformats.org/package/2006/relationships"><Relationship Type="http://schemas.openxmlformats.org/officeDocument/2006/relationships/slide" Target="/ppt/slides/slide8.xml" Id="R76ed901fb47d4e33" /><Relationship Type="http://schemas.openxmlformats.org/officeDocument/2006/relationships/notesMaster" Target="/ppt/notesMasters/notesMaster1.xml" Id="R2832fb0bd8fb48b9" /></Relationships>
</file>

<file path=ppt/notesSlides/_rels/notesSlide9.xml.rels>&#65279;<?xml version="1.0" encoding="utf-8"?><Relationships xmlns="http://schemas.openxmlformats.org/package/2006/relationships"><Relationship Type="http://schemas.openxmlformats.org/officeDocument/2006/relationships/slide" Target="/ppt/slides/slide9.xml" Id="R52cf043dd79d429e" /><Relationship Type="http://schemas.openxmlformats.org/officeDocument/2006/relationships/notesMaster" Target="/ppt/notesMasters/notesMaster1.xml" Id="Rda9dd4ea430d4cf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446ee91183e4fa7" /><Relationship Type="http://schemas.openxmlformats.org/officeDocument/2006/relationships/notesMaster" Target="/ppt/notesMasters/notesMaster1.xml" Id="R68807decdbf2418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c1daabe9dea46c5" /><Relationship Type="http://schemas.openxmlformats.org/officeDocument/2006/relationships/notesMaster" Target="/ppt/notesMasters/notesMaster1.xml" Id="Rcbf9c2bbbfc34b5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This is a small Modern PHP project that models an order lifecycle. I built it to practise clean domain modelling, modern language features, repository separation, attributes, reflection, and PHPUnit testing.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project in business terms first. A customer places an order containing multiple items. Each item has a price and quantity. The order calculates its total and controls which status changes are valid.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key point is separation of responsibilities. The Order model protects order rules. The service coordinates the workflow. The repository hides how orders are stored. This makes each part easier to test and replace.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Mention that modern PHP features are not used only for syntax. Each feature solves a design problem: types define contracts, readonly protects values, enums prevent invalid status strings, and exceptions communicate rule violations.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why Money is a value object. It represents a value, not an identity. Minor units avoid floating-point rounding errors. Readonly keeps it immutable. Addition checks the currency and returns a new object.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allowed transitions. Pending can move to Processing or Cancelled. Processing can move to Completed or Cancelled. Completed and Cancelled are terminal states. The model rejects every other transition.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Clarify the word coordinate. The service does not own the status rules. It calls the Order model, which performs and validates the change. The repository handles saving and retrieving orders through an interface.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Attributes do not record actions by themselves. They attach metadata. Reflection reads that metadata, and application code decides what to do with it, such as writing an audit log. This is similar in spirit to framework metadata and event-driven behaviour.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Arrange, Act, Assert. Tests verify valid transitions, rejected transitions, collection totals, empty collection behaviour, and mixed-currency protection. The current suite has 10 tests and 18 assertions, with more tests planned.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shows that I understand tradeoffs. The project intentionally uses several patterns for learning, but every abstraction has a purpose. For a very small script, some layers may be unnecessary. For a growing application, they improve clarity and replaceability.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Closing: This project demonstrates how I structure a small business domain, not only how I write PHP syntax. I can now extend it with database persistence, integration tests, dependency injection, and an API without moving the core business rules out of the domain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b300cf18f924e7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dfd3bdde0da4f48" /><Relationship Type="http://schemas.openxmlformats.org/officeDocument/2006/relationships/slideLayout" Target="/ppt/slideLayouts/slideLayout1.xml" Id="R06455772ddc642a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6455772ddc642a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41f6774d98743fe" /><Relationship Type="http://schemas.openxmlformats.org/officeDocument/2006/relationships/notesSlide" Target="/ppt/notesSlides/notesSlide1.xml" Id="R6fc1886e8c8b4b1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a2b2542d2024b9c" /><Relationship Type="http://schemas.openxmlformats.org/officeDocument/2006/relationships/notesSlide" Target="/ppt/notesSlides/notesSlide2.xml" Id="R7d61b3e3b4d34fd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406b6099d834761" /><Relationship Type="http://schemas.openxmlformats.org/officeDocument/2006/relationships/notesSlide" Target="/ppt/notesSlides/notesSlide3.xml" Id="R88c0deaa9c43455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39905b6e0df46ae" /><Relationship Type="http://schemas.openxmlformats.org/officeDocument/2006/relationships/notesSlide" Target="/ppt/notesSlides/notesSlide4.xml" Id="R489e274a81cc4a9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104bb7c12ca45a8" /><Relationship Type="http://schemas.openxmlformats.org/officeDocument/2006/relationships/notesSlide" Target="/ppt/notesSlides/notesSlide5.xml" Id="R223ba244c0b54c3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2127f4cedec4d42" /><Relationship Type="http://schemas.openxmlformats.org/officeDocument/2006/relationships/notesSlide" Target="/ppt/notesSlides/notesSlide6.xml" Id="R5be26045d2f8480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2197e8adbc54dcb" /><Relationship Type="http://schemas.openxmlformats.org/officeDocument/2006/relationships/notesSlide" Target="/ppt/notesSlides/notesSlide7.xml" Id="R3067803ea2e54c4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9639302995b446e" /><Relationship Type="http://schemas.openxmlformats.org/officeDocument/2006/relationships/notesSlide" Target="/ppt/notesSlides/notesSlide8.xml" Id="Rb135dc202bad48e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ee5ada9fc34496f" /><Relationship Type="http://schemas.openxmlformats.org/officeDocument/2006/relationships/notesSlide" Target="/ppt/notesSlides/notesSlide9.xml" Id="R123ffa054d01464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63748aafa044fde" /><Relationship Type="http://schemas.openxmlformats.org/officeDocument/2006/relationships/notesSlide" Target="/ppt/notesSlides/notesSlide10.xml" Id="R4cd63fdc2f0b4cd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19880edbf8d434d" /><Relationship Type="http://schemas.openxmlformats.org/officeDocument/2006/relationships/notesSlide" Target="/ppt/notesSlides/notesSlide11.xml" Id="Ra9e448d6e60f4869" /></Relationships>
</file>

<file path=ppt/slides/slide1.xml><?xml version="1.0" encoding="utf-8"?>
<p:sld xmlns:p="http://schemas.openxmlformats.org/presentationml/2006/main">
  <p:cSld>
    <p:bg>
      <p:bgPr>
        <a:solidFill xmlns:a="http://schemas.openxmlformats.org/drawingml/2006/main">
          <a:srgbClr val="0B1F33"/>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C5509AD-E4B9-4F18-B9F2-739239DBB91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2B8A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DD057A7-FEC8-4E01-8159-79178D9CBD6C}"/>
              </a:ext>
            </a:extLst>
          </p:cNvPr>
          <p:cNvSpPr>
            <a:spLocks xmlns:a="http://schemas.openxmlformats.org/drawingml/2006/main" noGrp="1"/>
          </p:cNvSpPr>
          <p:nvPr/>
        </p:nvSpPr>
        <p:spPr>
          <a:xfrm xmlns:a="http://schemas.openxmlformats.org/drawingml/2006/main">
            <a:off x="8001000" y="0"/>
            <a:ext cx="4191000" cy="6858000"/>
          </a:xfrm>
          <a:prstGeom xmlns:a="http://schemas.openxmlformats.org/drawingml/2006/main" prst="rect">
            <a:avLst/>
          </a:prstGeom>
          <a:solidFill xmlns:a="http://schemas.openxmlformats.org/drawingml/2006/main">
            <a:srgbClr val="155E8A"/>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844CFA3-4E05-4DBD-9A26-6BFDFA59C719}"/>
              </a:ext>
            </a:extLst>
          </p:cNvPr>
          <p:cNvSpPr>
            <a:spLocks xmlns:a="http://schemas.openxmlformats.org/drawingml/2006/main" noGrp="1"/>
          </p:cNvSpPr>
          <p:nvPr/>
        </p:nvSpPr>
        <p:spPr>
          <a:xfrm xmlns:a="http://schemas.openxmlformats.org/drawingml/2006/main">
            <a:off x="8439150" y="1009650"/>
            <a:ext cx="2762250" cy="2762250"/>
          </a:xfrm>
          <a:prstGeom xmlns:a="http://schemas.openxmlformats.org/drawingml/2006/main" prst="roundRect">
            <a:avLst>
              <a:gd name="adj" fmla="val 2759"/>
            </a:avLst>
          </a:prstGeom>
          <a:solidFill xmlns:a="http://schemas.openxmlformats.org/drawingml/2006/main">
            <a:srgbClr val="0F3551"/>
          </a:solidFill>
          <a:ln xmlns:a="http://schemas.openxmlformats.org/drawingml/2006/main" w="9525">
            <a:solidFill>
              <a:srgbClr val="7DE2D1"/>
            </a:solidFill>
          </a:ln>
        </p:spPr>
      </p:sp>
      <p:sp>
        <p:nvSpPr>
          <p:cNvPr id="4" name="">
            <a:extLst xmlns:a="http://schemas.openxmlformats.org/drawingml/2006/main">
              <a:ext uri="{FF2B5EF4-FFF2-40B4-BE49-F238E27FC236}">
                <a16:creationId xmlns:a16="http://schemas.microsoft.com/office/drawing/2014/main" id="{B252EBAB-DF5F-4BE4-A94B-21DAD0CDE1AB}"/>
              </a:ext>
            </a:extLst>
          </p:cNvPr>
          <p:cNvSpPr>
            <a:spLocks xmlns:a="http://schemas.openxmlformats.org/drawingml/2006/main" noGrp="1"/>
          </p:cNvSpPr>
          <p:nvPr/>
        </p:nvSpPr>
        <p:spPr>
          <a:xfrm xmlns:a="http://schemas.openxmlformats.org/drawingml/2006/main">
            <a:off x="8782050" y="1295400"/>
            <a:ext cx="2095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927"/>
          </a:bodyPr>
          <a:lstStyle xmlns:a="http://schemas.openxmlformats.org/drawingml/2006/main"/>
          <a:p xmlns:a="http://schemas.openxmlformats.org/drawingml/2006/main">
            <a:pPr algn="l">
              <a:defRPr sz="3450" b="1" i="0">
                <a:solidFill>
                  <a:srgbClr val="7DE2D1"/>
                </a:solidFill>
                <a:latin typeface="Consolas"/>
                <a:ea typeface="Consolas"/>
                <a:cs typeface="Consolas"/>
              </a:defRPr>
            </a:pPr>
            <a:r>
              <a:rPr sz="3450" b="1" i="0">
                <a:solidFill>
                  <a:srgbClr val="7DE2D1"/>
                </a:solidFill>
                <a:latin typeface="Consolas"/>
                <a:ea typeface="Consolas"/>
                <a:cs typeface="Consolas"/>
              </a:rPr>
              <a:t>&lt;?php</a:t>
            </a:r>
          </a:p>
        </p:txBody>
      </p:sp>
      <p:sp>
        <p:nvSpPr>
          <p:cNvPr id="5" name="">
            <a:extLst xmlns:a="http://schemas.openxmlformats.org/drawingml/2006/main">
              <a:ext uri="{FF2B5EF4-FFF2-40B4-BE49-F238E27FC236}">
                <a16:creationId xmlns:a16="http://schemas.microsoft.com/office/drawing/2014/main" id="{62431DF9-7317-42B4-9E29-7ED25A631EFA}"/>
              </a:ext>
            </a:extLst>
          </p:cNvPr>
          <p:cNvSpPr>
            <a:spLocks xmlns:a="http://schemas.openxmlformats.org/drawingml/2006/main" noGrp="1"/>
          </p:cNvSpPr>
          <p:nvPr/>
        </p:nvSpPr>
        <p:spPr>
          <a:xfrm xmlns:a="http://schemas.openxmlformats.org/drawingml/2006/main">
            <a:off x="8782050" y="2047875"/>
            <a:ext cx="2095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500"/>
          </a:bodyPr>
          <a:lstStyle xmlns:a="http://schemas.openxmlformats.org/drawingml/2006/main"/>
          <a:p xmlns:a="http://schemas.openxmlformats.org/drawingml/2006/main">
            <a:pPr algn="l">
              <a:defRPr sz="3000" b="1" i="0">
                <a:solidFill>
                  <a:srgbClr val="FFFFFF"/>
                </a:solidFill>
                <a:latin typeface="Consolas"/>
                <a:ea typeface="Consolas"/>
                <a:cs typeface="Consolas"/>
              </a:defRPr>
            </a:pPr>
            <a:r>
              <a:rPr sz="3000" b="1" i="0">
                <a:solidFill>
                  <a:srgbClr val="FFFFFF"/>
                </a:solidFill>
                <a:latin typeface="Consolas"/>
                <a:ea typeface="Consolas"/>
                <a:cs typeface="Consolas"/>
              </a:rPr>
              <a:t>Order</a:t>
            </a:r>
          </a:p>
        </p:txBody>
      </p:sp>
      <p:sp>
        <p:nvSpPr>
          <p:cNvPr id="6" name="">
            <a:extLst xmlns:a="http://schemas.openxmlformats.org/drawingml/2006/main">
              <a:ext uri="{FF2B5EF4-FFF2-40B4-BE49-F238E27FC236}">
                <a16:creationId xmlns:a16="http://schemas.microsoft.com/office/drawing/2014/main" id="{97778301-7B8C-4E9A-B6FC-2048E93B2D44}"/>
              </a:ext>
            </a:extLst>
          </p:cNvPr>
          <p:cNvSpPr>
            <a:spLocks xmlns:a="http://schemas.openxmlformats.org/drawingml/2006/main" noGrp="1"/>
          </p:cNvSpPr>
          <p:nvPr/>
        </p:nvSpPr>
        <p:spPr>
          <a:xfrm xmlns:a="http://schemas.openxmlformats.org/drawingml/2006/main">
            <a:off x="8648700" y="2695575"/>
            <a:ext cx="238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i="0">
                <a:solidFill>
                  <a:srgbClr val="7DE2D1"/>
                </a:solidFill>
                <a:latin typeface="Consolas"/>
                <a:ea typeface="Consolas"/>
                <a:cs typeface="Consolas"/>
              </a:defRPr>
            </a:pPr>
            <a:r>
              <a:rPr sz="1350" b="0" i="0">
                <a:solidFill>
                  <a:srgbClr val="7DE2D1"/>
                </a:solidFill>
                <a:latin typeface="Consolas"/>
                <a:ea typeface="Consolas"/>
                <a:cs typeface="Consolas"/>
              </a:rPr>
              <a:t>Status::PROCESSING</a:t>
            </a:r>
          </a:p>
        </p:txBody>
      </p:sp>
      <p:sp>
        <p:nvSpPr>
          <p:cNvPr id="7" name="">
            <a:extLst xmlns:a="http://schemas.openxmlformats.org/drawingml/2006/main">
              <a:ext uri="{FF2B5EF4-FFF2-40B4-BE49-F238E27FC236}">
                <a16:creationId xmlns:a16="http://schemas.microsoft.com/office/drawing/2014/main" id="{9224E3B9-5081-4D8C-8416-423D34990DD8}"/>
              </a:ext>
            </a:extLst>
          </p:cNvPr>
          <p:cNvSpPr>
            <a:spLocks xmlns:a="http://schemas.openxmlformats.org/drawingml/2006/main" noGrp="1"/>
          </p:cNvSpPr>
          <p:nvPr/>
        </p:nvSpPr>
        <p:spPr>
          <a:xfrm xmlns:a="http://schemas.openxmlformats.org/drawingml/2006/main">
            <a:off x="781050" y="1219200"/>
            <a:ext cx="65722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3900" b="1" i="0">
                <a:solidFill>
                  <a:srgbClr val="FFFFFF"/>
                </a:solidFill>
                <a:latin typeface="Aptos"/>
                <a:ea typeface="Aptos"/>
                <a:cs typeface="Aptos"/>
              </a:defRPr>
            </a:pPr>
            <a:r>
              <a:rPr sz="3900" b="1" i="0">
                <a:solidFill>
                  <a:srgbClr val="FFFFFF"/>
                </a:solidFill>
                <a:latin typeface="Aptos"/>
                <a:ea typeface="Aptos"/>
                <a:cs typeface="Aptos"/>
              </a:rPr>
              <a:t>Modern PHP</a:t>
            </a:r>
          </a:p>
          <a:p xmlns:a="http://schemas.openxmlformats.org/drawingml/2006/main">
            <a:pPr algn="l">
              <a:defRPr sz="3900" b="1" i="0">
                <a:solidFill>
                  <a:srgbClr val="FFFFFF"/>
                </a:solidFill>
                <a:latin typeface="Aptos"/>
                <a:ea typeface="Aptos"/>
                <a:cs typeface="Aptos"/>
              </a:defRPr>
            </a:pPr>
            <a:r>
              <a:rPr sz="3900" b="1" i="0">
                <a:solidFill>
                  <a:srgbClr val="FFFFFF"/>
                </a:solidFill>
                <a:latin typeface="Aptos"/>
                <a:ea typeface="Aptos"/>
                <a:cs typeface="Aptos"/>
              </a:rPr>
              <a:t>Order System</a:t>
            </a:r>
          </a:p>
        </p:txBody>
      </p:sp>
      <p:sp>
        <p:nvSpPr>
          <p:cNvPr id="8" name="">
            <a:extLst xmlns:a="http://schemas.openxmlformats.org/drawingml/2006/main">
              <a:ext uri="{FF2B5EF4-FFF2-40B4-BE49-F238E27FC236}">
                <a16:creationId xmlns:a16="http://schemas.microsoft.com/office/drawing/2014/main" id="{2C2FED5F-B604-4C3A-B801-34915293B326}"/>
              </a:ext>
            </a:extLst>
          </p:cNvPr>
          <p:cNvSpPr>
            <a:spLocks xmlns:a="http://schemas.openxmlformats.org/drawingml/2006/main" noGrp="1"/>
          </p:cNvSpPr>
          <p:nvPr/>
        </p:nvSpPr>
        <p:spPr>
          <a:xfrm xmlns:a="http://schemas.openxmlformats.org/drawingml/2006/main">
            <a:off x="819150" y="3162300"/>
            <a:ext cx="5905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0" i="0">
                <a:solidFill>
                  <a:srgbClr val="C9D8E5"/>
                </a:solidFill>
                <a:latin typeface="Aptos"/>
                <a:ea typeface="Aptos"/>
                <a:cs typeface="Aptos"/>
              </a:defRPr>
            </a:pPr>
            <a:r>
              <a:rPr sz="1800" b="0" i="0">
                <a:solidFill>
                  <a:srgbClr val="C9D8E5"/>
                </a:solidFill>
                <a:latin typeface="Aptos"/>
                <a:ea typeface="Aptos"/>
                <a:cs typeface="Aptos"/>
              </a:rPr>
              <a:t>A small domain-driven project built to demonstrate clean PHP design, business rules, and unit testing</a:t>
            </a:r>
          </a:p>
        </p:txBody>
      </p:sp>
      <p:sp>
        <p:nvSpPr>
          <p:cNvPr id="9" name="">
            <a:extLst xmlns:a="http://schemas.openxmlformats.org/drawingml/2006/main">
              <a:ext uri="{FF2B5EF4-FFF2-40B4-BE49-F238E27FC236}">
                <a16:creationId xmlns:a16="http://schemas.microsoft.com/office/drawing/2014/main" id="{BF7D6CC1-8CEC-42F8-8C3B-BC64B7E318C4}"/>
              </a:ext>
            </a:extLst>
          </p:cNvPr>
          <p:cNvSpPr>
            <a:spLocks xmlns:a="http://schemas.openxmlformats.org/drawingml/2006/main" noGrp="1"/>
          </p:cNvSpPr>
          <p:nvPr/>
        </p:nvSpPr>
        <p:spPr>
          <a:xfrm xmlns:a="http://schemas.openxmlformats.org/drawingml/2006/main">
            <a:off x="819150" y="4762500"/>
            <a:ext cx="2000250" cy="400050"/>
          </a:xfrm>
          <a:prstGeom xmlns:a="http://schemas.openxmlformats.org/drawingml/2006/main" prst="roundRect">
            <a:avLst>
              <a:gd name="adj" fmla="val 19048"/>
            </a:avLst>
          </a:prstGeom>
          <a:solidFill xmlns:a="http://schemas.openxmlformats.org/drawingml/2006/main">
            <a:srgbClr val="22B8A7"/>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0DE9D1E8-F737-420E-AC32-8BF8657593DB}"/>
              </a:ext>
            </a:extLst>
          </p:cNvPr>
          <p:cNvSpPr>
            <a:spLocks xmlns:a="http://schemas.openxmlformats.org/drawingml/2006/main" noGrp="1"/>
          </p:cNvSpPr>
          <p:nvPr/>
        </p:nvSpPr>
        <p:spPr>
          <a:xfrm xmlns:a="http://schemas.openxmlformats.org/drawingml/2006/main">
            <a:off x="933450" y="4800600"/>
            <a:ext cx="1771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382"/>
          </a:bodyPr>
          <a:lstStyle xmlns:a="http://schemas.openxmlformats.org/drawingml/2006/main"/>
          <a:p xmlns:a="http://schemas.openxmlformats.org/drawingml/2006/main">
            <a:pPr algn="ctr">
              <a:defRPr sz="1050" b="1" i="0">
                <a:solidFill>
                  <a:srgbClr val="0B1F33"/>
                </a:solidFill>
                <a:latin typeface="Aptos"/>
                <a:ea typeface="Aptos"/>
                <a:cs typeface="Aptos"/>
              </a:defRPr>
            </a:pPr>
            <a:r>
              <a:rPr sz="1050" b="1" i="0">
                <a:solidFill>
                  <a:srgbClr val="0B1F33"/>
                </a:solidFill>
                <a:latin typeface="Aptos"/>
                <a:ea typeface="Aptos"/>
                <a:cs typeface="Aptos"/>
              </a:rPr>
              <a:t>INTERVIEW WALKTHROUGH</a:t>
            </a:r>
          </a:p>
        </p:txBody>
      </p:sp>
      <p:sp>
        <p:nvSpPr>
          <p:cNvPr id="11" name="">
            <a:extLst xmlns:a="http://schemas.openxmlformats.org/drawingml/2006/main">
              <a:ext uri="{FF2B5EF4-FFF2-40B4-BE49-F238E27FC236}">
                <a16:creationId xmlns:a16="http://schemas.microsoft.com/office/drawing/2014/main" id="{16BA919A-9577-459F-BE17-A57124639087}"/>
              </a:ext>
            </a:extLst>
          </p:cNvPr>
          <p:cNvSpPr>
            <a:spLocks xmlns:a="http://schemas.openxmlformats.org/drawingml/2006/main" noGrp="1"/>
          </p:cNvSpPr>
          <p:nvPr/>
        </p:nvSpPr>
        <p:spPr>
          <a:xfrm xmlns:a="http://schemas.openxmlformats.org/drawingml/2006/main">
            <a:off x="819150" y="5581650"/>
            <a:ext cx="333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i="0">
                <a:solidFill>
                  <a:srgbClr val="FFFFFF"/>
                </a:solidFill>
                <a:latin typeface="Aptos"/>
                <a:ea typeface="Aptos"/>
                <a:cs typeface="Aptos"/>
              </a:defRPr>
            </a:pPr>
            <a:r>
              <a:rPr sz="1500" b="1" i="0">
                <a:solidFill>
                  <a:srgbClr val="FFFFFF"/>
                </a:solidFill>
                <a:latin typeface="Aptos"/>
                <a:ea typeface="Aptos"/>
                <a:cs typeface="Aptos"/>
              </a:rPr>
              <a:t>Hardev Sharma</a:t>
            </a:r>
          </a:p>
        </p:txBody>
      </p:sp>
      <p:sp>
        <p:nvSpPr>
          <p:cNvPr id="12" name="">
            <a:extLst xmlns:a="http://schemas.openxmlformats.org/drawingml/2006/main">
              <a:ext uri="{FF2B5EF4-FFF2-40B4-BE49-F238E27FC236}">
                <a16:creationId xmlns:a16="http://schemas.microsoft.com/office/drawing/2014/main" id="{180FA218-D024-4B8B-A564-4C1AF7631A89}"/>
              </a:ext>
            </a:extLst>
          </p:cNvPr>
          <p:cNvSpPr>
            <a:spLocks xmlns:a="http://schemas.openxmlformats.org/drawingml/2006/main" noGrp="1"/>
          </p:cNvSpPr>
          <p:nvPr/>
        </p:nvSpPr>
        <p:spPr>
          <a:xfrm xmlns:a="http://schemas.openxmlformats.org/drawingml/2006/main">
            <a:off x="819150" y="5924550"/>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lgn="l">
              <a:defRPr sz="1200" b="0" i="0">
                <a:solidFill>
                  <a:srgbClr val="AFC3D2"/>
                </a:solidFill>
                <a:latin typeface="Aptos"/>
                <a:ea typeface="Aptos"/>
                <a:cs typeface="Aptos"/>
              </a:defRPr>
            </a:pPr>
            <a:r>
              <a:rPr sz="1200" b="0" i="0">
                <a:solidFill>
                  <a:srgbClr val="AFC3D2"/>
                </a:solidFill>
                <a:latin typeface="Aptos"/>
                <a:ea typeface="Aptos"/>
                <a:cs typeface="Aptos"/>
              </a:rPr>
              <a:t>Senior Full-Stack Engineer</a:t>
            </a:r>
          </a:p>
        </p:txBody>
      </p:sp>
    </p:spTree>
    <p:extLst>
      <p:ext uri="{BB962C8B-B14F-4D97-AF65-F5344CB8AC3E}">
        <p14:creationId xmlns:p14="http://schemas.microsoft.com/office/powerpoint/2010/main" val="148453725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0F94605C-DCF4-46E9-BF68-F283192362BD}"/>
              </a:ext>
            </a:extLst>
          </p:cNvPr>
          <p:cNvSpPr>
            <a:spLocks xmlns:a="http://schemas.openxmlformats.org/drawingml/2006/main" noGrp="1"/>
          </p:cNvSpPr>
          <p:nvPr/>
        </p:nvSpPr>
        <p:spPr>
          <a:xfrm xmlns:a="http://schemas.openxmlformats.org/drawingml/2006/main">
            <a:off x="552450" y="342900"/>
            <a:ext cx="5143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1" i="0">
                <a:solidFill>
                  <a:srgbClr val="22B8A7"/>
                </a:solidFill>
                <a:latin typeface="Aptos"/>
                <a:ea typeface="Aptos"/>
                <a:cs typeface="Aptos"/>
              </a:defRPr>
            </a:pPr>
            <a:r>
              <a:rPr sz="1200" b="1" i="0">
                <a:solidFill>
                  <a:srgbClr val="22B8A7"/>
                </a:solidFill>
                <a:latin typeface="Aptos"/>
                <a:ea typeface="Aptos"/>
                <a:cs typeface="Aptos"/>
              </a:rPr>
              <a:t>02</a:t>
            </a:r>
          </a:p>
        </p:txBody>
      </p:sp>
      <p:sp>
        <p:nvSpPr>
          <p:cNvPr id="2" name="">
            <a:extLst xmlns:a="http://schemas.openxmlformats.org/drawingml/2006/main">
              <a:ext uri="{FF2B5EF4-FFF2-40B4-BE49-F238E27FC236}">
                <a16:creationId xmlns:a16="http://schemas.microsoft.com/office/drawing/2014/main" id="{33CE2111-0916-4AD6-A09B-03265C11B6B7}"/>
              </a:ext>
            </a:extLst>
          </p:cNvPr>
          <p:cNvSpPr>
            <a:spLocks xmlns:a="http://schemas.openxmlformats.org/drawingml/2006/main" noGrp="1"/>
          </p:cNvSpPr>
          <p:nvPr/>
        </p:nvSpPr>
        <p:spPr>
          <a:xfrm xmlns:a="http://schemas.openxmlformats.org/drawingml/2006/main">
            <a:off x="1123950" y="266700"/>
            <a:ext cx="9906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i="0">
                <a:solidFill>
                  <a:srgbClr val="0B1F33"/>
                </a:solidFill>
                <a:latin typeface="Aptos"/>
                <a:ea typeface="Aptos"/>
                <a:cs typeface="Aptos"/>
              </a:defRPr>
            </a:pPr>
            <a:r>
              <a:rPr sz="2550" b="1" i="0">
                <a:solidFill>
                  <a:srgbClr val="0B1F33"/>
                </a:solidFill>
                <a:latin typeface="Aptos"/>
                <a:ea typeface="Aptos"/>
                <a:cs typeface="Aptos"/>
              </a:rPr>
              <a:t>Project overview</a:t>
            </a:r>
          </a:p>
        </p:txBody>
      </p:sp>
      <p:sp>
        <p:nvSpPr>
          <p:cNvPr id="3" name="">
            <a:extLst xmlns:a="http://schemas.openxmlformats.org/drawingml/2006/main">
              <a:ext uri="{FF2B5EF4-FFF2-40B4-BE49-F238E27FC236}">
                <a16:creationId xmlns:a16="http://schemas.microsoft.com/office/drawing/2014/main" id="{49BF48C9-0188-45E7-B71D-C8D6EB19D796}"/>
              </a:ext>
            </a:extLst>
          </p:cNvPr>
          <p:cNvSpPr>
            <a:spLocks xmlns:a="http://schemas.openxmlformats.org/drawingml/2006/main" noGrp="1"/>
          </p:cNvSpPr>
          <p:nvPr/>
        </p:nvSpPr>
        <p:spPr>
          <a:xfrm xmlns:a="http://schemas.openxmlformats.org/drawingml/2006/main">
            <a:off x="552450" y="895350"/>
            <a:ext cx="11087100" cy="28575"/>
          </a:xfrm>
          <a:prstGeom xmlns:a="http://schemas.openxmlformats.org/drawingml/2006/main" prst="rect">
            <a:avLst/>
          </a:prstGeom>
          <a:solidFill xmlns:a="http://schemas.openxmlformats.org/drawingml/2006/main">
            <a:srgbClr val="22B8A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0D50CDB-FF82-46F5-A640-C2FA8E0F87E2}"/>
              </a:ext>
            </a:extLst>
          </p:cNvPr>
          <p:cNvSpPr>
            <a:spLocks xmlns:a="http://schemas.openxmlformats.org/drawingml/2006/main" noGrp="1"/>
          </p:cNvSpPr>
          <p:nvPr/>
        </p:nvSpPr>
        <p:spPr>
          <a:xfrm xmlns:a="http://schemas.openxmlformats.org/drawingml/2006/main">
            <a:off x="685800" y="1143000"/>
            <a:ext cx="10763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950" b="0" i="0">
                <a:solidFill>
                  <a:srgbClr val="152433"/>
                </a:solidFill>
                <a:latin typeface="Aptos"/>
                <a:ea typeface="Aptos"/>
                <a:cs typeface="Aptos"/>
              </a:defRPr>
            </a:pPr>
            <a:r>
              <a:rPr sz="1950" b="0" i="0">
                <a:solidFill>
                  <a:srgbClr val="152433"/>
                </a:solidFill>
                <a:latin typeface="Aptos"/>
                <a:ea typeface="Aptos"/>
                <a:cs typeface="Aptos"/>
              </a:rPr>
              <a:t>The project models a customer order from creation to completion while protecting monetary and status rules.</a:t>
            </a:r>
          </a:p>
        </p:txBody>
      </p:sp>
      <p:sp>
        <p:nvSpPr>
          <p:cNvPr id="5" name="">
            <a:extLst xmlns:a="http://schemas.openxmlformats.org/drawingml/2006/main">
              <a:ext uri="{FF2B5EF4-FFF2-40B4-BE49-F238E27FC236}">
                <a16:creationId xmlns:a16="http://schemas.microsoft.com/office/drawing/2014/main" id="{DF58C5C4-03B8-4559-900A-1176D5191963}"/>
              </a:ext>
            </a:extLst>
          </p:cNvPr>
          <p:cNvSpPr>
            <a:spLocks xmlns:a="http://schemas.openxmlformats.org/drawingml/2006/main" noGrp="1"/>
          </p:cNvSpPr>
          <p:nvPr/>
        </p:nvSpPr>
        <p:spPr>
          <a:xfrm xmlns:a="http://schemas.openxmlformats.org/drawingml/2006/main">
            <a:off x="685800" y="2266950"/>
            <a:ext cx="3333750" cy="2571750"/>
          </a:xfrm>
          <a:prstGeom xmlns:a="http://schemas.openxmlformats.org/drawingml/2006/main" prst="roundRect">
            <a:avLst>
              <a:gd name="adj" fmla="val 2963"/>
            </a:avLst>
          </a:prstGeom>
          <a:solidFill xmlns:a="http://schemas.openxmlformats.org/drawingml/2006/main">
            <a:srgbClr val="F7FAFC"/>
          </a:solidFill>
          <a:ln xmlns:a="http://schemas.openxmlformats.org/drawingml/2006/main" w="9525">
            <a:solidFill>
              <a:srgbClr val="D4E1E8"/>
            </a:solidFill>
          </a:ln>
        </p:spPr>
      </p:sp>
      <p:sp>
        <p:nvSpPr>
          <p:cNvPr id="6" name="">
            <a:extLst xmlns:a="http://schemas.openxmlformats.org/drawingml/2006/main">
              <a:ext uri="{FF2B5EF4-FFF2-40B4-BE49-F238E27FC236}">
                <a16:creationId xmlns:a16="http://schemas.microsoft.com/office/drawing/2014/main" id="{967BF092-CE8E-4087-A28B-EED0A621358E}"/>
              </a:ext>
            </a:extLst>
          </p:cNvPr>
          <p:cNvSpPr>
            <a:spLocks xmlns:a="http://schemas.openxmlformats.org/drawingml/2006/main" noGrp="1"/>
          </p:cNvSpPr>
          <p:nvPr/>
        </p:nvSpPr>
        <p:spPr>
          <a:xfrm xmlns:a="http://schemas.openxmlformats.org/drawingml/2006/main">
            <a:off x="914400" y="2457450"/>
            <a:ext cx="495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i="0">
                <a:solidFill>
                  <a:srgbClr val="22B8A7"/>
                </a:solidFill>
                <a:latin typeface="Aptos"/>
                <a:ea typeface="Aptos"/>
                <a:cs typeface="Aptos"/>
              </a:defRPr>
            </a:pPr>
            <a:r>
              <a:rPr sz="1350" b="1" i="0">
                <a:solidFill>
                  <a:srgbClr val="22B8A7"/>
                </a:solidFill>
                <a:latin typeface="Aptos"/>
                <a:ea typeface="Aptos"/>
                <a:cs typeface="Aptos"/>
              </a:rPr>
              <a:t>01</a:t>
            </a:r>
          </a:p>
        </p:txBody>
      </p:sp>
      <p:sp>
        <p:nvSpPr>
          <p:cNvPr id="7" name="">
            <a:extLst xmlns:a="http://schemas.openxmlformats.org/drawingml/2006/main">
              <a:ext uri="{FF2B5EF4-FFF2-40B4-BE49-F238E27FC236}">
                <a16:creationId xmlns:a16="http://schemas.microsoft.com/office/drawing/2014/main" id="{2E48EDA5-8179-4259-BE2E-732B3A514234}"/>
              </a:ext>
            </a:extLst>
          </p:cNvPr>
          <p:cNvSpPr>
            <a:spLocks xmlns:a="http://schemas.openxmlformats.org/drawingml/2006/main" noGrp="1"/>
          </p:cNvSpPr>
          <p:nvPr/>
        </p:nvSpPr>
        <p:spPr>
          <a:xfrm xmlns:a="http://schemas.openxmlformats.org/drawingml/2006/main">
            <a:off x="914400" y="2952750"/>
            <a:ext cx="276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00" b="1" i="0">
                <a:solidFill>
                  <a:srgbClr val="0B1F33"/>
                </a:solidFill>
                <a:latin typeface="Aptos"/>
                <a:ea typeface="Aptos"/>
                <a:cs typeface="Aptos"/>
              </a:defRPr>
            </a:pPr>
            <a:r>
              <a:rPr sz="2100" b="1" i="0">
                <a:solidFill>
                  <a:srgbClr val="0B1F33"/>
                </a:solidFill>
                <a:latin typeface="Aptos"/>
                <a:ea typeface="Aptos"/>
                <a:cs typeface="Aptos"/>
              </a:rPr>
              <a:t>Problem</a:t>
            </a:r>
          </a:p>
        </p:txBody>
      </p:sp>
      <p:sp>
        <p:nvSpPr>
          <p:cNvPr id="8" name="">
            <a:extLst xmlns:a="http://schemas.openxmlformats.org/drawingml/2006/main">
              <a:ext uri="{FF2B5EF4-FFF2-40B4-BE49-F238E27FC236}">
                <a16:creationId xmlns:a16="http://schemas.microsoft.com/office/drawing/2014/main" id="{FF992B5F-6638-41CD-BFC4-76B0B11D9816}"/>
              </a:ext>
            </a:extLst>
          </p:cNvPr>
          <p:cNvSpPr>
            <a:spLocks xmlns:a="http://schemas.openxmlformats.org/drawingml/2006/main" noGrp="1"/>
          </p:cNvSpPr>
          <p:nvPr/>
        </p:nvSpPr>
        <p:spPr>
          <a:xfrm xmlns:a="http://schemas.openxmlformats.org/drawingml/2006/main">
            <a:off x="914400" y="3562350"/>
            <a:ext cx="27813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i="0">
                <a:solidFill>
                  <a:srgbClr val="5E6B78"/>
                </a:solidFill>
                <a:latin typeface="Aptos"/>
                <a:ea typeface="Aptos"/>
                <a:cs typeface="Aptos"/>
              </a:defRPr>
            </a:pPr>
            <a:r>
              <a:rPr sz="1425" b="0" i="0">
                <a:solidFill>
                  <a:srgbClr val="5E6B78"/>
                </a:solidFill>
                <a:latin typeface="Aptos"/>
                <a:ea typeface="Aptos"/>
                <a:cs typeface="Aptos"/>
              </a:rPr>
              <a:t>Represent orders safely and prevent invalid data or lifecycle changes.</a:t>
            </a:r>
          </a:p>
        </p:txBody>
      </p:sp>
      <p:sp>
        <p:nvSpPr>
          <p:cNvPr id="9" name="">
            <a:extLst xmlns:a="http://schemas.openxmlformats.org/drawingml/2006/main">
              <a:ext uri="{FF2B5EF4-FFF2-40B4-BE49-F238E27FC236}">
                <a16:creationId xmlns:a16="http://schemas.microsoft.com/office/drawing/2014/main" id="{0C300FB4-7C42-4EEA-9708-7EB26DA300D2}"/>
              </a:ext>
            </a:extLst>
          </p:cNvPr>
          <p:cNvSpPr>
            <a:spLocks xmlns:a="http://schemas.openxmlformats.org/drawingml/2006/main" noGrp="1"/>
          </p:cNvSpPr>
          <p:nvPr/>
        </p:nvSpPr>
        <p:spPr>
          <a:xfrm xmlns:a="http://schemas.openxmlformats.org/drawingml/2006/main">
            <a:off x="4362450" y="2266950"/>
            <a:ext cx="3333750" cy="2571750"/>
          </a:xfrm>
          <a:prstGeom xmlns:a="http://schemas.openxmlformats.org/drawingml/2006/main" prst="roundRect">
            <a:avLst>
              <a:gd name="adj" fmla="val 2963"/>
            </a:avLst>
          </a:prstGeom>
          <a:solidFill xmlns:a="http://schemas.openxmlformats.org/drawingml/2006/main">
            <a:srgbClr val="0B1F33"/>
          </a:solidFill>
          <a:ln xmlns:a="http://schemas.openxmlformats.org/drawingml/2006/main" w="9525">
            <a:solidFill>
              <a:srgbClr val="0B1F33"/>
            </a:solidFill>
          </a:ln>
        </p:spPr>
      </p:sp>
      <p:sp>
        <p:nvSpPr>
          <p:cNvPr id="10" name="">
            <a:extLst xmlns:a="http://schemas.openxmlformats.org/drawingml/2006/main">
              <a:ext uri="{FF2B5EF4-FFF2-40B4-BE49-F238E27FC236}">
                <a16:creationId xmlns:a16="http://schemas.microsoft.com/office/drawing/2014/main" id="{9A6803A2-CF3C-42C1-B23D-2678F264C038}"/>
              </a:ext>
            </a:extLst>
          </p:cNvPr>
          <p:cNvSpPr>
            <a:spLocks xmlns:a="http://schemas.openxmlformats.org/drawingml/2006/main" noGrp="1"/>
          </p:cNvSpPr>
          <p:nvPr/>
        </p:nvSpPr>
        <p:spPr>
          <a:xfrm xmlns:a="http://schemas.openxmlformats.org/drawingml/2006/main">
            <a:off x="4591050" y="2457450"/>
            <a:ext cx="495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i="0">
                <a:solidFill>
                  <a:srgbClr val="22B8A7"/>
                </a:solidFill>
                <a:latin typeface="Aptos"/>
                <a:ea typeface="Aptos"/>
                <a:cs typeface="Aptos"/>
              </a:defRPr>
            </a:pPr>
            <a:r>
              <a:rPr sz="1350" b="1" i="0">
                <a:solidFill>
                  <a:srgbClr val="22B8A7"/>
                </a:solidFill>
                <a:latin typeface="Aptos"/>
                <a:ea typeface="Aptos"/>
                <a:cs typeface="Aptos"/>
              </a:rPr>
              <a:t>02</a:t>
            </a:r>
          </a:p>
        </p:txBody>
      </p:sp>
      <p:sp>
        <p:nvSpPr>
          <p:cNvPr id="11" name="">
            <a:extLst xmlns:a="http://schemas.openxmlformats.org/drawingml/2006/main">
              <a:ext uri="{FF2B5EF4-FFF2-40B4-BE49-F238E27FC236}">
                <a16:creationId xmlns:a16="http://schemas.microsoft.com/office/drawing/2014/main" id="{D98A2E28-3CAC-4704-BEBC-52FA0D572D79}"/>
              </a:ext>
            </a:extLst>
          </p:cNvPr>
          <p:cNvSpPr>
            <a:spLocks xmlns:a="http://schemas.openxmlformats.org/drawingml/2006/main" noGrp="1"/>
          </p:cNvSpPr>
          <p:nvPr/>
        </p:nvSpPr>
        <p:spPr>
          <a:xfrm xmlns:a="http://schemas.openxmlformats.org/drawingml/2006/main">
            <a:off x="4591050" y="2952750"/>
            <a:ext cx="276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00" b="1" i="0">
                <a:solidFill>
                  <a:srgbClr val="FFFFFF"/>
                </a:solidFill>
                <a:latin typeface="Aptos"/>
                <a:ea typeface="Aptos"/>
                <a:cs typeface="Aptos"/>
              </a:defRPr>
            </a:pPr>
            <a:r>
              <a:rPr sz="2100" b="1" i="0">
                <a:solidFill>
                  <a:srgbClr val="FFFFFF"/>
                </a:solidFill>
                <a:latin typeface="Aptos"/>
                <a:ea typeface="Aptos"/>
                <a:cs typeface="Aptos"/>
              </a:rPr>
              <a:t>Approach</a:t>
            </a:r>
          </a:p>
        </p:txBody>
      </p:sp>
      <p:sp>
        <p:nvSpPr>
          <p:cNvPr id="12" name="">
            <a:extLst xmlns:a="http://schemas.openxmlformats.org/drawingml/2006/main">
              <a:ext uri="{FF2B5EF4-FFF2-40B4-BE49-F238E27FC236}">
                <a16:creationId xmlns:a16="http://schemas.microsoft.com/office/drawing/2014/main" id="{0A1314C6-E049-474A-81F5-4BC2D366FC8F}"/>
              </a:ext>
            </a:extLst>
          </p:cNvPr>
          <p:cNvSpPr>
            <a:spLocks xmlns:a="http://schemas.openxmlformats.org/drawingml/2006/main" noGrp="1"/>
          </p:cNvSpPr>
          <p:nvPr/>
        </p:nvSpPr>
        <p:spPr>
          <a:xfrm xmlns:a="http://schemas.openxmlformats.org/drawingml/2006/main">
            <a:off x="4591050" y="3562350"/>
            <a:ext cx="27813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i="0">
                <a:solidFill>
                  <a:srgbClr val="D7E4EC"/>
                </a:solidFill>
                <a:latin typeface="Aptos"/>
                <a:ea typeface="Aptos"/>
                <a:cs typeface="Aptos"/>
              </a:defRPr>
            </a:pPr>
            <a:r>
              <a:rPr sz="1425" b="0" i="0">
                <a:solidFill>
                  <a:srgbClr val="D7E4EC"/>
                </a:solidFill>
                <a:latin typeface="Aptos"/>
                <a:ea typeface="Aptos"/>
                <a:cs typeface="Aptos"/>
              </a:rPr>
              <a:t>Keep core rules inside domain models and isolate storage behind a repository contract.</a:t>
            </a:r>
          </a:p>
        </p:txBody>
      </p:sp>
      <p:sp>
        <p:nvSpPr>
          <p:cNvPr id="13" name="">
            <a:extLst xmlns:a="http://schemas.openxmlformats.org/drawingml/2006/main">
              <a:ext uri="{FF2B5EF4-FFF2-40B4-BE49-F238E27FC236}">
                <a16:creationId xmlns:a16="http://schemas.microsoft.com/office/drawing/2014/main" id="{E7D5823D-10F7-473D-83F9-E06FB37F349C}"/>
              </a:ext>
            </a:extLst>
          </p:cNvPr>
          <p:cNvSpPr>
            <a:spLocks xmlns:a="http://schemas.openxmlformats.org/drawingml/2006/main" noGrp="1"/>
          </p:cNvSpPr>
          <p:nvPr/>
        </p:nvSpPr>
        <p:spPr>
          <a:xfrm xmlns:a="http://schemas.openxmlformats.org/drawingml/2006/main">
            <a:off x="8039100" y="2266950"/>
            <a:ext cx="3333750" cy="2571750"/>
          </a:xfrm>
          <a:prstGeom xmlns:a="http://schemas.openxmlformats.org/drawingml/2006/main" prst="roundRect">
            <a:avLst>
              <a:gd name="adj" fmla="val 2963"/>
            </a:avLst>
          </a:prstGeom>
          <a:solidFill xmlns:a="http://schemas.openxmlformats.org/drawingml/2006/main">
            <a:srgbClr val="F7FAFC"/>
          </a:solidFill>
          <a:ln xmlns:a="http://schemas.openxmlformats.org/drawingml/2006/main" w="9525">
            <a:solidFill>
              <a:srgbClr val="D4E1E8"/>
            </a:solidFill>
          </a:ln>
        </p:spPr>
      </p:sp>
      <p:sp>
        <p:nvSpPr>
          <p:cNvPr id="14" name="">
            <a:extLst xmlns:a="http://schemas.openxmlformats.org/drawingml/2006/main">
              <a:ext uri="{FF2B5EF4-FFF2-40B4-BE49-F238E27FC236}">
                <a16:creationId xmlns:a16="http://schemas.microsoft.com/office/drawing/2014/main" id="{B6399731-B30A-457C-8EC3-C5EB2023C283}"/>
              </a:ext>
            </a:extLst>
          </p:cNvPr>
          <p:cNvSpPr>
            <a:spLocks xmlns:a="http://schemas.openxmlformats.org/drawingml/2006/main" noGrp="1"/>
          </p:cNvSpPr>
          <p:nvPr/>
        </p:nvSpPr>
        <p:spPr>
          <a:xfrm xmlns:a="http://schemas.openxmlformats.org/drawingml/2006/main">
            <a:off x="8267700" y="2457450"/>
            <a:ext cx="495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i="0">
                <a:solidFill>
                  <a:srgbClr val="22B8A7"/>
                </a:solidFill>
                <a:latin typeface="Aptos"/>
                <a:ea typeface="Aptos"/>
                <a:cs typeface="Aptos"/>
              </a:defRPr>
            </a:pPr>
            <a:r>
              <a:rPr sz="1350" b="1" i="0">
                <a:solidFill>
                  <a:srgbClr val="22B8A7"/>
                </a:solidFill>
                <a:latin typeface="Aptos"/>
                <a:ea typeface="Aptos"/>
                <a:cs typeface="Aptos"/>
              </a:rPr>
              <a:t>03</a:t>
            </a:r>
          </a:p>
        </p:txBody>
      </p:sp>
      <p:sp>
        <p:nvSpPr>
          <p:cNvPr id="15" name="">
            <a:extLst xmlns:a="http://schemas.openxmlformats.org/drawingml/2006/main">
              <a:ext uri="{FF2B5EF4-FFF2-40B4-BE49-F238E27FC236}">
                <a16:creationId xmlns:a16="http://schemas.microsoft.com/office/drawing/2014/main" id="{7736B416-5340-4C78-AC81-869BB38CE747}"/>
              </a:ext>
            </a:extLst>
          </p:cNvPr>
          <p:cNvSpPr>
            <a:spLocks xmlns:a="http://schemas.openxmlformats.org/drawingml/2006/main" noGrp="1"/>
          </p:cNvSpPr>
          <p:nvPr/>
        </p:nvSpPr>
        <p:spPr>
          <a:xfrm xmlns:a="http://schemas.openxmlformats.org/drawingml/2006/main">
            <a:off x="8267700" y="2952750"/>
            <a:ext cx="276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00" b="1" i="0">
                <a:solidFill>
                  <a:srgbClr val="0B1F33"/>
                </a:solidFill>
                <a:latin typeface="Aptos"/>
                <a:ea typeface="Aptos"/>
                <a:cs typeface="Aptos"/>
              </a:defRPr>
            </a:pPr>
            <a:r>
              <a:rPr sz="2100" b="1" i="0">
                <a:solidFill>
                  <a:srgbClr val="0B1F33"/>
                </a:solidFill>
                <a:latin typeface="Aptos"/>
                <a:ea typeface="Aptos"/>
                <a:cs typeface="Aptos"/>
              </a:rPr>
              <a:t>Outcome</a:t>
            </a:r>
          </a:p>
        </p:txBody>
      </p:sp>
      <p:sp>
        <p:nvSpPr>
          <p:cNvPr id="16" name="">
            <a:extLst xmlns:a="http://schemas.openxmlformats.org/drawingml/2006/main">
              <a:ext uri="{FF2B5EF4-FFF2-40B4-BE49-F238E27FC236}">
                <a16:creationId xmlns:a16="http://schemas.microsoft.com/office/drawing/2014/main" id="{1DCF62F8-7A0A-40DF-A47F-1323AD33BE2E}"/>
              </a:ext>
            </a:extLst>
          </p:cNvPr>
          <p:cNvSpPr>
            <a:spLocks xmlns:a="http://schemas.openxmlformats.org/drawingml/2006/main" noGrp="1"/>
          </p:cNvSpPr>
          <p:nvPr/>
        </p:nvSpPr>
        <p:spPr>
          <a:xfrm xmlns:a="http://schemas.openxmlformats.org/drawingml/2006/main">
            <a:off x="8267700" y="3562350"/>
            <a:ext cx="27813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i="0">
                <a:solidFill>
                  <a:srgbClr val="5E6B78"/>
                </a:solidFill>
                <a:latin typeface="Aptos"/>
                <a:ea typeface="Aptos"/>
                <a:cs typeface="Aptos"/>
              </a:defRPr>
            </a:pPr>
            <a:r>
              <a:rPr sz="1425" b="0" i="0">
                <a:solidFill>
                  <a:srgbClr val="5E6B78"/>
                </a:solidFill>
                <a:latin typeface="Aptos"/>
                <a:ea typeface="Aptos"/>
                <a:cs typeface="Aptos"/>
              </a:rPr>
              <a:t>A compact codebase that is easy to explain, test, and extend.</a:t>
            </a:r>
          </a:p>
        </p:txBody>
      </p:sp>
      <p:sp>
        <p:nvSpPr>
          <p:cNvPr id="17" name="">
            <a:extLst xmlns:a="http://schemas.openxmlformats.org/drawingml/2006/main">
              <a:ext uri="{FF2B5EF4-FFF2-40B4-BE49-F238E27FC236}">
                <a16:creationId xmlns:a16="http://schemas.microsoft.com/office/drawing/2014/main" id="{6BF9D83E-1B60-45DD-B743-8D7DF33DC73E}"/>
              </a:ext>
            </a:extLst>
          </p:cNvPr>
          <p:cNvSpPr>
            <a:spLocks xmlns:a="http://schemas.openxmlformats.org/drawingml/2006/main" noGrp="1"/>
          </p:cNvSpPr>
          <p:nvPr/>
        </p:nvSpPr>
        <p:spPr>
          <a:xfrm xmlns:a="http://schemas.openxmlformats.org/drawingml/2006/main">
            <a:off x="685800" y="5295900"/>
            <a:ext cx="10687050" cy="666750"/>
          </a:xfrm>
          <a:prstGeom xmlns:a="http://schemas.openxmlformats.org/drawingml/2006/main" prst="roundRect">
            <a:avLst>
              <a:gd name="adj" fmla="val 11429"/>
            </a:avLst>
          </a:prstGeom>
          <a:solidFill xmlns:a="http://schemas.openxmlformats.org/drawingml/2006/main">
            <a:srgbClr val="EEF5F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322C1781-3E13-4F3E-875B-45B4843EC4D8}"/>
              </a:ext>
            </a:extLst>
          </p:cNvPr>
          <p:cNvSpPr>
            <a:spLocks xmlns:a="http://schemas.openxmlformats.org/drawingml/2006/main" noGrp="1"/>
          </p:cNvSpPr>
          <p:nvPr/>
        </p:nvSpPr>
        <p:spPr>
          <a:xfrm xmlns:a="http://schemas.openxmlformats.org/drawingml/2006/main">
            <a:off x="914400" y="5429250"/>
            <a:ext cx="2095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i="0">
                <a:solidFill>
                  <a:srgbClr val="155E8A"/>
                </a:solidFill>
                <a:latin typeface="Aptos"/>
                <a:ea typeface="Aptos"/>
                <a:cs typeface="Aptos"/>
              </a:defRPr>
            </a:pPr>
            <a:r>
              <a:rPr sz="1275" b="1" i="0">
                <a:solidFill>
                  <a:srgbClr val="155E8A"/>
                </a:solidFill>
                <a:latin typeface="Aptos"/>
                <a:ea typeface="Aptos"/>
                <a:cs typeface="Aptos"/>
              </a:rPr>
              <a:t>Main domain objects</a:t>
            </a:r>
          </a:p>
        </p:txBody>
      </p:sp>
      <p:sp>
        <p:nvSpPr>
          <p:cNvPr id="19" name="">
            <a:extLst xmlns:a="http://schemas.openxmlformats.org/drawingml/2006/main">
              <a:ext uri="{FF2B5EF4-FFF2-40B4-BE49-F238E27FC236}">
                <a16:creationId xmlns:a16="http://schemas.microsoft.com/office/drawing/2014/main" id="{46009A87-662A-4216-9634-1AC54BFADCE1}"/>
              </a:ext>
            </a:extLst>
          </p:cNvPr>
          <p:cNvSpPr>
            <a:spLocks xmlns:a="http://schemas.openxmlformats.org/drawingml/2006/main" noGrp="1"/>
          </p:cNvSpPr>
          <p:nvPr/>
        </p:nvSpPr>
        <p:spPr>
          <a:xfrm xmlns:a="http://schemas.openxmlformats.org/drawingml/2006/main">
            <a:off x="3162300" y="5410200"/>
            <a:ext cx="7905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i="0">
                <a:solidFill>
                  <a:srgbClr val="152433"/>
                </a:solidFill>
                <a:latin typeface="Aptos"/>
                <a:ea typeface="Aptos"/>
                <a:cs typeface="Aptos"/>
              </a:defRPr>
            </a:pPr>
            <a:r>
              <a:rPr sz="1350" b="1" i="0">
                <a:solidFill>
                  <a:srgbClr val="152433"/>
                </a:solidFill>
                <a:latin typeface="Aptos"/>
                <a:ea typeface="Aptos"/>
                <a:cs typeface="Aptos"/>
              </a:rPr>
              <a:t>Money     User     OrderItem     OrderItemCollection     Order     OrderStatus</a:t>
            </a:r>
          </a:p>
        </p:txBody>
      </p:sp>
      <p:sp>
        <p:nvSpPr>
          <p:cNvPr id="20" name="">
            <a:extLst xmlns:a="http://schemas.openxmlformats.org/drawingml/2006/main">
              <a:ext uri="{FF2B5EF4-FFF2-40B4-BE49-F238E27FC236}">
                <a16:creationId xmlns:a16="http://schemas.microsoft.com/office/drawing/2014/main" id="{FE6477B7-2CA6-4754-94E5-5755517EECE6}"/>
              </a:ext>
            </a:extLst>
          </p:cNvPr>
          <p:cNvSpPr>
            <a:spLocks xmlns:a="http://schemas.openxmlformats.org/drawingml/2006/main" noGrp="1"/>
          </p:cNvSpPr>
          <p:nvPr/>
        </p:nvSpPr>
        <p:spPr>
          <a:xfrm xmlns:a="http://schemas.openxmlformats.org/drawingml/2006/main">
            <a:off x="552450" y="6486525"/>
            <a:ext cx="3048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l">
              <a:defRPr sz="825" b="0" i="0">
                <a:solidFill>
                  <a:srgbClr val="5E6B78"/>
                </a:solidFill>
                <a:latin typeface="Aptos"/>
                <a:ea typeface="Aptos"/>
                <a:cs typeface="Aptos"/>
              </a:defRPr>
            </a:pPr>
            <a:r>
              <a:rPr sz="825" b="0" i="0">
                <a:solidFill>
                  <a:srgbClr val="5E6B78"/>
                </a:solidFill>
                <a:latin typeface="Aptos"/>
                <a:ea typeface="Aptos"/>
                <a:cs typeface="Aptos"/>
              </a:rPr>
              <a:t>Modern PHP Order System</a:t>
            </a:r>
          </a:p>
        </p:txBody>
      </p:sp>
      <p:sp>
        <p:nvSpPr>
          <p:cNvPr id="21" name="">
            <a:extLst xmlns:a="http://schemas.openxmlformats.org/drawingml/2006/main">
              <a:ext uri="{FF2B5EF4-FFF2-40B4-BE49-F238E27FC236}">
                <a16:creationId xmlns:a16="http://schemas.microsoft.com/office/drawing/2014/main" id="{166CA634-1F28-47DE-95DA-D40B47013C17}"/>
              </a:ext>
            </a:extLst>
          </p:cNvPr>
          <p:cNvSpPr>
            <a:spLocks xmlns:a="http://schemas.openxmlformats.org/drawingml/2006/main" noGrp="1"/>
          </p:cNvSpPr>
          <p:nvPr/>
        </p:nvSpPr>
        <p:spPr>
          <a:xfrm xmlns:a="http://schemas.openxmlformats.org/drawingml/2006/main">
            <a:off x="11049000" y="6486525"/>
            <a:ext cx="571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r">
              <a:defRPr sz="825" b="1" i="0">
                <a:solidFill>
                  <a:srgbClr val="5E6B78"/>
                </a:solidFill>
                <a:latin typeface="Aptos"/>
                <a:ea typeface="Aptos"/>
                <a:cs typeface="Aptos"/>
              </a:defRPr>
            </a:pPr>
            <a:r>
              <a:rPr sz="825" b="1" i="0">
                <a:solidFill>
                  <a:srgbClr val="5E6B78"/>
                </a:solidFill>
                <a:latin typeface="Aptos"/>
                <a:ea typeface="Aptos"/>
                <a:cs typeface="Aptos"/>
              </a:rPr>
              <a:t>02</a:t>
            </a:r>
          </a:p>
        </p:txBody>
      </p:sp>
    </p:spTree>
    <p:extLst>
      <p:ext uri="{BB962C8B-B14F-4D97-AF65-F5344CB8AC3E}">
        <p14:creationId xmlns:p14="http://schemas.microsoft.com/office/powerpoint/2010/main" val="1620228972"/>
      </p:ext>
    </p:extLst>
  </p:cSld>
</p:sld>
</file>

<file path=ppt/slides/slide3.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6DF0152E-4B9F-4F19-9686-979C8CDF4971}"/>
              </a:ext>
            </a:extLst>
          </p:cNvPr>
          <p:cNvSpPr>
            <a:spLocks xmlns:a="http://schemas.openxmlformats.org/drawingml/2006/main" noGrp="1"/>
          </p:cNvSpPr>
          <p:nvPr/>
        </p:nvSpPr>
        <p:spPr>
          <a:xfrm xmlns:a="http://schemas.openxmlformats.org/drawingml/2006/main">
            <a:off x="552450" y="342900"/>
            <a:ext cx="5143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1" i="0">
                <a:solidFill>
                  <a:srgbClr val="22B8A7"/>
                </a:solidFill>
                <a:latin typeface="Aptos"/>
                <a:ea typeface="Aptos"/>
                <a:cs typeface="Aptos"/>
              </a:defRPr>
            </a:pPr>
            <a:r>
              <a:rPr sz="1200" b="1" i="0">
                <a:solidFill>
                  <a:srgbClr val="22B8A7"/>
                </a:solidFill>
                <a:latin typeface="Aptos"/>
                <a:ea typeface="Aptos"/>
                <a:cs typeface="Aptos"/>
              </a:rPr>
              <a:t>03</a:t>
            </a:r>
          </a:p>
        </p:txBody>
      </p:sp>
      <p:sp>
        <p:nvSpPr>
          <p:cNvPr id="2" name="">
            <a:extLst xmlns:a="http://schemas.openxmlformats.org/drawingml/2006/main">
              <a:ext uri="{FF2B5EF4-FFF2-40B4-BE49-F238E27FC236}">
                <a16:creationId xmlns:a16="http://schemas.microsoft.com/office/drawing/2014/main" id="{475DAFC6-8EDE-4575-89AB-9B4CE07CD116}"/>
              </a:ext>
            </a:extLst>
          </p:cNvPr>
          <p:cNvSpPr>
            <a:spLocks xmlns:a="http://schemas.openxmlformats.org/drawingml/2006/main" noGrp="1"/>
          </p:cNvSpPr>
          <p:nvPr/>
        </p:nvSpPr>
        <p:spPr>
          <a:xfrm xmlns:a="http://schemas.openxmlformats.org/drawingml/2006/main">
            <a:off x="1123950" y="266700"/>
            <a:ext cx="9906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i="0">
                <a:solidFill>
                  <a:srgbClr val="0B1F33"/>
                </a:solidFill>
                <a:latin typeface="Aptos"/>
                <a:ea typeface="Aptos"/>
                <a:cs typeface="Aptos"/>
              </a:defRPr>
            </a:pPr>
            <a:r>
              <a:rPr sz="2550" b="1" i="0">
                <a:solidFill>
                  <a:srgbClr val="0B1F33"/>
                </a:solidFill>
                <a:latin typeface="Aptos"/>
                <a:ea typeface="Aptos"/>
                <a:cs typeface="Aptos"/>
              </a:rPr>
              <a:t>Project structure and responsibilities</a:t>
            </a:r>
          </a:p>
        </p:txBody>
      </p:sp>
      <p:sp>
        <p:nvSpPr>
          <p:cNvPr id="3" name="">
            <a:extLst xmlns:a="http://schemas.openxmlformats.org/drawingml/2006/main">
              <a:ext uri="{FF2B5EF4-FFF2-40B4-BE49-F238E27FC236}">
                <a16:creationId xmlns:a16="http://schemas.microsoft.com/office/drawing/2014/main" id="{DF470DBC-2999-4D33-AFEC-3F38C6DF7C45}"/>
              </a:ext>
            </a:extLst>
          </p:cNvPr>
          <p:cNvSpPr>
            <a:spLocks xmlns:a="http://schemas.openxmlformats.org/drawingml/2006/main" noGrp="1"/>
          </p:cNvSpPr>
          <p:nvPr/>
        </p:nvSpPr>
        <p:spPr>
          <a:xfrm xmlns:a="http://schemas.openxmlformats.org/drawingml/2006/main">
            <a:off x="552450" y="895350"/>
            <a:ext cx="11087100" cy="28575"/>
          </a:xfrm>
          <a:prstGeom xmlns:a="http://schemas.openxmlformats.org/drawingml/2006/main" prst="rect">
            <a:avLst/>
          </a:prstGeom>
          <a:solidFill xmlns:a="http://schemas.openxmlformats.org/drawingml/2006/main">
            <a:srgbClr val="22B8A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12169D1-FE68-4E07-925B-3BDE9C9A0B91}"/>
              </a:ext>
            </a:extLst>
          </p:cNvPr>
          <p:cNvSpPr>
            <a:spLocks xmlns:a="http://schemas.openxmlformats.org/drawingml/2006/main" noGrp="1"/>
          </p:cNvSpPr>
          <p:nvPr/>
        </p:nvSpPr>
        <p:spPr>
          <a:xfrm xmlns:a="http://schemas.openxmlformats.org/drawingml/2006/main">
            <a:off x="762000" y="1257300"/>
            <a:ext cx="6000750" cy="628650"/>
          </a:xfrm>
          <a:prstGeom xmlns:a="http://schemas.openxmlformats.org/drawingml/2006/main" prst="roundRect">
            <a:avLst>
              <a:gd name="adj" fmla="val 12121"/>
            </a:avLst>
          </a:prstGeom>
          <a:solidFill xmlns:a="http://schemas.openxmlformats.org/drawingml/2006/main">
            <a:srgbClr val="155E8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E2AFD78-A51B-42BD-8268-E148DDC03DC6}"/>
              </a:ext>
            </a:extLst>
          </p:cNvPr>
          <p:cNvSpPr>
            <a:spLocks xmlns:a="http://schemas.openxmlformats.org/drawingml/2006/main" noGrp="1"/>
          </p:cNvSpPr>
          <p:nvPr/>
        </p:nvSpPr>
        <p:spPr>
          <a:xfrm xmlns:a="http://schemas.openxmlformats.org/drawingml/2006/main">
            <a:off x="1028700" y="1333500"/>
            <a:ext cx="1714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i="0">
                <a:solidFill>
                  <a:srgbClr val="FFFFFF"/>
                </a:solidFill>
                <a:latin typeface="Aptos"/>
                <a:ea typeface="Aptos"/>
                <a:cs typeface="Aptos"/>
              </a:defRPr>
            </a:pPr>
            <a:r>
              <a:rPr sz="1650" b="1" i="0">
                <a:solidFill>
                  <a:srgbClr val="FFFFFF"/>
                </a:solidFill>
                <a:latin typeface="Aptos"/>
                <a:ea typeface="Aptos"/>
                <a:cs typeface="Aptos"/>
              </a:rPr>
              <a:t>Application</a:t>
            </a:r>
          </a:p>
        </p:txBody>
      </p:sp>
      <p:sp>
        <p:nvSpPr>
          <p:cNvPr id="6" name="">
            <a:extLst xmlns:a="http://schemas.openxmlformats.org/drawingml/2006/main">
              <a:ext uri="{FF2B5EF4-FFF2-40B4-BE49-F238E27FC236}">
                <a16:creationId xmlns:a16="http://schemas.microsoft.com/office/drawing/2014/main" id="{66ACBB60-54BB-4022-9C63-70434D73BA52}"/>
              </a:ext>
            </a:extLst>
          </p:cNvPr>
          <p:cNvSpPr>
            <a:spLocks xmlns:a="http://schemas.openxmlformats.org/drawingml/2006/main" noGrp="1"/>
          </p:cNvSpPr>
          <p:nvPr/>
        </p:nvSpPr>
        <p:spPr>
          <a:xfrm xmlns:a="http://schemas.openxmlformats.org/drawingml/2006/main">
            <a:off x="2781300" y="1333500"/>
            <a:ext cx="333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275" b="0" i="0">
                <a:solidFill>
                  <a:srgbClr val="EAF5F8"/>
                </a:solidFill>
                <a:latin typeface="Aptos"/>
                <a:ea typeface="Aptos"/>
                <a:cs typeface="Aptos"/>
              </a:defRPr>
            </a:pPr>
            <a:r>
              <a:rPr sz="1275" b="0" i="0">
                <a:solidFill>
                  <a:srgbClr val="EAF5F8"/>
                </a:solidFill>
                <a:latin typeface="Aptos"/>
                <a:ea typeface="Aptos"/>
                <a:cs typeface="Aptos"/>
              </a:rPr>
              <a:t>public/index.php</a:t>
            </a:r>
          </a:p>
        </p:txBody>
      </p:sp>
      <p:sp>
        <p:nvSpPr>
          <p:cNvPr id="7" name="">
            <a:extLst xmlns:a="http://schemas.openxmlformats.org/drawingml/2006/main">
              <a:ext uri="{FF2B5EF4-FFF2-40B4-BE49-F238E27FC236}">
                <a16:creationId xmlns:a16="http://schemas.microsoft.com/office/drawing/2014/main" id="{D998F681-E674-4C8A-AB14-C8E97B362C3C}"/>
              </a:ext>
            </a:extLst>
          </p:cNvPr>
          <p:cNvSpPr>
            <a:spLocks xmlns:a="http://schemas.openxmlformats.org/drawingml/2006/main" noGrp="1"/>
          </p:cNvSpPr>
          <p:nvPr/>
        </p:nvSpPr>
        <p:spPr>
          <a:xfrm xmlns:a="http://schemas.openxmlformats.org/drawingml/2006/main">
            <a:off x="1028700" y="2133600"/>
            <a:ext cx="5467350" cy="628650"/>
          </a:xfrm>
          <a:prstGeom xmlns:a="http://schemas.openxmlformats.org/drawingml/2006/main" prst="roundRect">
            <a:avLst>
              <a:gd name="adj" fmla="val 12121"/>
            </a:avLst>
          </a:prstGeom>
          <a:solidFill xmlns:a="http://schemas.openxmlformats.org/drawingml/2006/main">
            <a:srgbClr val="277DA1"/>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307CCBD-47B4-4266-91DC-539A359102E2}"/>
              </a:ext>
            </a:extLst>
          </p:cNvPr>
          <p:cNvSpPr>
            <a:spLocks xmlns:a="http://schemas.openxmlformats.org/drawingml/2006/main" noGrp="1"/>
          </p:cNvSpPr>
          <p:nvPr/>
        </p:nvSpPr>
        <p:spPr>
          <a:xfrm xmlns:a="http://schemas.openxmlformats.org/drawingml/2006/main">
            <a:off x="1295400" y="2209800"/>
            <a:ext cx="1714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i="0">
                <a:solidFill>
                  <a:srgbClr val="FFFFFF"/>
                </a:solidFill>
                <a:latin typeface="Aptos"/>
                <a:ea typeface="Aptos"/>
                <a:cs typeface="Aptos"/>
              </a:defRPr>
            </a:pPr>
            <a:r>
              <a:rPr sz="1650" b="1" i="0">
                <a:solidFill>
                  <a:srgbClr val="FFFFFF"/>
                </a:solidFill>
                <a:latin typeface="Aptos"/>
                <a:ea typeface="Aptos"/>
                <a:cs typeface="Aptos"/>
              </a:rPr>
              <a:t>Service</a:t>
            </a:r>
          </a:p>
        </p:txBody>
      </p:sp>
      <p:sp>
        <p:nvSpPr>
          <p:cNvPr id="9" name="">
            <a:extLst xmlns:a="http://schemas.openxmlformats.org/drawingml/2006/main">
              <a:ext uri="{FF2B5EF4-FFF2-40B4-BE49-F238E27FC236}">
                <a16:creationId xmlns:a16="http://schemas.microsoft.com/office/drawing/2014/main" id="{A131AF19-BF0A-46AA-81CA-4372180A944F}"/>
              </a:ext>
            </a:extLst>
          </p:cNvPr>
          <p:cNvSpPr>
            <a:spLocks xmlns:a="http://schemas.openxmlformats.org/drawingml/2006/main" noGrp="1"/>
          </p:cNvSpPr>
          <p:nvPr/>
        </p:nvSpPr>
        <p:spPr>
          <a:xfrm xmlns:a="http://schemas.openxmlformats.org/drawingml/2006/main">
            <a:off x="2971800" y="2209800"/>
            <a:ext cx="29908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275" b="0" i="0">
                <a:solidFill>
                  <a:srgbClr val="EAF5F8"/>
                </a:solidFill>
                <a:latin typeface="Aptos"/>
                <a:ea typeface="Aptos"/>
                <a:cs typeface="Aptos"/>
              </a:defRPr>
            </a:pPr>
            <a:r>
              <a:rPr sz="1275" b="0" i="0">
                <a:solidFill>
                  <a:srgbClr val="EAF5F8"/>
                </a:solidFill>
                <a:latin typeface="Aptos"/>
                <a:ea typeface="Aptos"/>
                <a:cs typeface="Aptos"/>
              </a:rPr>
              <a:t>Coordinates a use case</a:t>
            </a:r>
          </a:p>
        </p:txBody>
      </p:sp>
      <p:sp>
        <p:nvSpPr>
          <p:cNvPr id="10" name="">
            <a:extLst xmlns:a="http://schemas.openxmlformats.org/drawingml/2006/main">
              <a:ext uri="{FF2B5EF4-FFF2-40B4-BE49-F238E27FC236}">
                <a16:creationId xmlns:a16="http://schemas.microsoft.com/office/drawing/2014/main" id="{00A9DCB1-8934-495B-9CE0-C6E5054729B5}"/>
              </a:ext>
            </a:extLst>
          </p:cNvPr>
          <p:cNvSpPr>
            <a:spLocks xmlns:a="http://schemas.openxmlformats.org/drawingml/2006/main" noGrp="1"/>
          </p:cNvSpPr>
          <p:nvPr/>
        </p:nvSpPr>
        <p:spPr>
          <a:xfrm xmlns:a="http://schemas.openxmlformats.org/drawingml/2006/main">
            <a:off x="1295400" y="3009900"/>
            <a:ext cx="4933950" cy="628650"/>
          </a:xfrm>
          <a:prstGeom xmlns:a="http://schemas.openxmlformats.org/drawingml/2006/main" prst="roundRect">
            <a:avLst>
              <a:gd name="adj" fmla="val 12121"/>
            </a:avLst>
          </a:prstGeom>
          <a:solidFill xmlns:a="http://schemas.openxmlformats.org/drawingml/2006/main">
            <a:srgbClr val="22B8A7"/>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2E75B94B-CCBE-4088-AA7F-D85983DAD81B}"/>
              </a:ext>
            </a:extLst>
          </p:cNvPr>
          <p:cNvSpPr>
            <a:spLocks xmlns:a="http://schemas.openxmlformats.org/drawingml/2006/main" noGrp="1"/>
          </p:cNvSpPr>
          <p:nvPr/>
        </p:nvSpPr>
        <p:spPr>
          <a:xfrm xmlns:a="http://schemas.openxmlformats.org/drawingml/2006/main">
            <a:off x="1562100" y="3086100"/>
            <a:ext cx="1714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i="0">
                <a:solidFill>
                  <a:srgbClr val="FFFFFF"/>
                </a:solidFill>
                <a:latin typeface="Aptos"/>
                <a:ea typeface="Aptos"/>
                <a:cs typeface="Aptos"/>
              </a:defRPr>
            </a:pPr>
            <a:r>
              <a:rPr sz="1650" b="1" i="0">
                <a:solidFill>
                  <a:srgbClr val="FFFFFF"/>
                </a:solidFill>
                <a:latin typeface="Aptos"/>
                <a:ea typeface="Aptos"/>
                <a:cs typeface="Aptos"/>
              </a:rPr>
              <a:t>Domain</a:t>
            </a:r>
          </a:p>
        </p:txBody>
      </p:sp>
      <p:sp>
        <p:nvSpPr>
          <p:cNvPr id="12" name="">
            <a:extLst xmlns:a="http://schemas.openxmlformats.org/drawingml/2006/main">
              <a:ext uri="{FF2B5EF4-FFF2-40B4-BE49-F238E27FC236}">
                <a16:creationId xmlns:a16="http://schemas.microsoft.com/office/drawing/2014/main" id="{D0C5B52D-3C6E-4344-B386-E3A93582F5CD}"/>
              </a:ext>
            </a:extLst>
          </p:cNvPr>
          <p:cNvSpPr>
            <a:spLocks xmlns:a="http://schemas.openxmlformats.org/drawingml/2006/main" noGrp="1"/>
          </p:cNvSpPr>
          <p:nvPr/>
        </p:nvSpPr>
        <p:spPr>
          <a:xfrm xmlns:a="http://schemas.openxmlformats.org/drawingml/2006/main">
            <a:off x="3162300" y="3086100"/>
            <a:ext cx="2647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275" b="0" i="0">
                <a:solidFill>
                  <a:srgbClr val="EAF5F8"/>
                </a:solidFill>
                <a:latin typeface="Aptos"/>
                <a:ea typeface="Aptos"/>
                <a:cs typeface="Aptos"/>
              </a:defRPr>
            </a:pPr>
            <a:r>
              <a:rPr sz="1275" b="0" i="0">
                <a:solidFill>
                  <a:srgbClr val="EAF5F8"/>
                </a:solidFill>
                <a:latin typeface="Aptos"/>
                <a:ea typeface="Aptos"/>
                <a:cs typeface="Aptos"/>
              </a:rPr>
              <a:t>Models, enum, collection, rules</a:t>
            </a:r>
          </a:p>
        </p:txBody>
      </p:sp>
      <p:sp>
        <p:nvSpPr>
          <p:cNvPr id="13" name="">
            <a:extLst xmlns:a="http://schemas.openxmlformats.org/drawingml/2006/main">
              <a:ext uri="{FF2B5EF4-FFF2-40B4-BE49-F238E27FC236}">
                <a16:creationId xmlns:a16="http://schemas.microsoft.com/office/drawing/2014/main" id="{39715B14-5818-40A5-BA03-A2DC4CA1F525}"/>
              </a:ext>
            </a:extLst>
          </p:cNvPr>
          <p:cNvSpPr>
            <a:spLocks xmlns:a="http://schemas.openxmlformats.org/drawingml/2006/main" noGrp="1"/>
          </p:cNvSpPr>
          <p:nvPr/>
        </p:nvSpPr>
        <p:spPr>
          <a:xfrm xmlns:a="http://schemas.openxmlformats.org/drawingml/2006/main">
            <a:off x="1562100" y="3886200"/>
            <a:ext cx="4400550" cy="628650"/>
          </a:xfrm>
          <a:prstGeom xmlns:a="http://schemas.openxmlformats.org/drawingml/2006/main" prst="roundRect">
            <a:avLst>
              <a:gd name="adj" fmla="val 12121"/>
            </a:avLst>
          </a:prstGeom>
          <a:solidFill xmlns:a="http://schemas.openxmlformats.org/drawingml/2006/main">
            <a:srgbClr val="4F6D7A"/>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B77FD323-776B-4CD2-8D67-6F39EF85D1A5}"/>
              </a:ext>
            </a:extLst>
          </p:cNvPr>
          <p:cNvSpPr>
            <a:spLocks xmlns:a="http://schemas.openxmlformats.org/drawingml/2006/main" noGrp="1"/>
          </p:cNvSpPr>
          <p:nvPr/>
        </p:nvSpPr>
        <p:spPr>
          <a:xfrm xmlns:a="http://schemas.openxmlformats.org/drawingml/2006/main">
            <a:off x="1828800" y="3962400"/>
            <a:ext cx="1714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i="0">
                <a:solidFill>
                  <a:srgbClr val="FFFFFF"/>
                </a:solidFill>
                <a:latin typeface="Aptos"/>
                <a:ea typeface="Aptos"/>
                <a:cs typeface="Aptos"/>
              </a:defRPr>
            </a:pPr>
            <a:r>
              <a:rPr sz="1650" b="1" i="0">
                <a:solidFill>
                  <a:srgbClr val="FFFFFF"/>
                </a:solidFill>
                <a:latin typeface="Aptos"/>
                <a:ea typeface="Aptos"/>
                <a:cs typeface="Aptos"/>
              </a:rPr>
              <a:t>Repository</a:t>
            </a:r>
          </a:p>
        </p:txBody>
      </p:sp>
      <p:sp>
        <p:nvSpPr>
          <p:cNvPr id="15" name="">
            <a:extLst xmlns:a="http://schemas.openxmlformats.org/drawingml/2006/main">
              <a:ext uri="{FF2B5EF4-FFF2-40B4-BE49-F238E27FC236}">
                <a16:creationId xmlns:a16="http://schemas.microsoft.com/office/drawing/2014/main" id="{ACBAD075-61EB-441E-B8CD-7B60E5601C8A}"/>
              </a:ext>
            </a:extLst>
          </p:cNvPr>
          <p:cNvSpPr>
            <a:spLocks xmlns:a="http://schemas.openxmlformats.org/drawingml/2006/main" noGrp="1"/>
          </p:cNvSpPr>
          <p:nvPr/>
        </p:nvSpPr>
        <p:spPr>
          <a:xfrm xmlns:a="http://schemas.openxmlformats.org/drawingml/2006/main">
            <a:off x="3352800" y="3962400"/>
            <a:ext cx="2305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118"/>
          </a:bodyPr>
          <a:lstStyle xmlns:a="http://schemas.openxmlformats.org/drawingml/2006/main"/>
          <a:p xmlns:a="http://schemas.openxmlformats.org/drawingml/2006/main">
            <a:pPr algn="r">
              <a:defRPr sz="1275" b="0" i="0">
                <a:solidFill>
                  <a:srgbClr val="EAF5F8"/>
                </a:solidFill>
                <a:latin typeface="Aptos"/>
                <a:ea typeface="Aptos"/>
                <a:cs typeface="Aptos"/>
              </a:defRPr>
            </a:pPr>
            <a:r>
              <a:rPr sz="1275" b="0" i="0">
                <a:solidFill>
                  <a:srgbClr val="EAF5F8"/>
                </a:solidFill>
                <a:latin typeface="Aptos"/>
                <a:ea typeface="Aptos"/>
                <a:cs typeface="Aptos"/>
              </a:rPr>
              <a:t>Storage contract and implementation</a:t>
            </a:r>
          </a:p>
        </p:txBody>
      </p:sp>
      <p:sp>
        <p:nvSpPr>
          <p:cNvPr id="16" name="">
            <a:extLst xmlns:a="http://schemas.openxmlformats.org/drawingml/2006/main">
              <a:ext uri="{FF2B5EF4-FFF2-40B4-BE49-F238E27FC236}">
                <a16:creationId xmlns:a16="http://schemas.microsoft.com/office/drawing/2014/main" id="{65AA7C99-6665-43A6-834B-B91298967098}"/>
              </a:ext>
            </a:extLst>
          </p:cNvPr>
          <p:cNvSpPr>
            <a:spLocks xmlns:a="http://schemas.openxmlformats.org/drawingml/2006/main" noGrp="1"/>
          </p:cNvSpPr>
          <p:nvPr/>
        </p:nvSpPr>
        <p:spPr>
          <a:xfrm xmlns:a="http://schemas.openxmlformats.org/drawingml/2006/main">
            <a:off x="1828800" y="4762500"/>
            <a:ext cx="3867150" cy="628650"/>
          </a:xfrm>
          <a:prstGeom xmlns:a="http://schemas.openxmlformats.org/drawingml/2006/main" prst="roundRect">
            <a:avLst>
              <a:gd name="adj" fmla="val 12121"/>
            </a:avLst>
          </a:prstGeom>
          <a:solidFill xmlns:a="http://schemas.openxmlformats.org/drawingml/2006/main">
            <a:srgbClr val="738A9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A45B4F4B-63D8-4BEC-9107-AC850CE6161E}"/>
              </a:ext>
            </a:extLst>
          </p:cNvPr>
          <p:cNvSpPr>
            <a:spLocks xmlns:a="http://schemas.openxmlformats.org/drawingml/2006/main" noGrp="1"/>
          </p:cNvSpPr>
          <p:nvPr/>
        </p:nvSpPr>
        <p:spPr>
          <a:xfrm xmlns:a="http://schemas.openxmlformats.org/drawingml/2006/main">
            <a:off x="2095500" y="4838700"/>
            <a:ext cx="1714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i="0">
                <a:solidFill>
                  <a:srgbClr val="FFFFFF"/>
                </a:solidFill>
                <a:latin typeface="Aptos"/>
                <a:ea typeface="Aptos"/>
                <a:cs typeface="Aptos"/>
              </a:defRPr>
            </a:pPr>
            <a:r>
              <a:rPr sz="1650" b="1" i="0">
                <a:solidFill>
                  <a:srgbClr val="FFFFFF"/>
                </a:solidFill>
                <a:latin typeface="Aptos"/>
                <a:ea typeface="Aptos"/>
                <a:cs typeface="Aptos"/>
              </a:rPr>
              <a:t>Support</a:t>
            </a:r>
          </a:p>
        </p:txBody>
      </p:sp>
      <p:sp>
        <p:nvSpPr>
          <p:cNvPr id="18" name="">
            <a:extLst xmlns:a="http://schemas.openxmlformats.org/drawingml/2006/main">
              <a:ext uri="{FF2B5EF4-FFF2-40B4-BE49-F238E27FC236}">
                <a16:creationId xmlns:a16="http://schemas.microsoft.com/office/drawing/2014/main" id="{0F9ABBC3-2CC6-4113-AABD-7BDFC9CBCC32}"/>
              </a:ext>
            </a:extLst>
          </p:cNvPr>
          <p:cNvSpPr>
            <a:spLocks xmlns:a="http://schemas.openxmlformats.org/drawingml/2006/main" noGrp="1"/>
          </p:cNvSpPr>
          <p:nvPr/>
        </p:nvSpPr>
        <p:spPr>
          <a:xfrm xmlns:a="http://schemas.openxmlformats.org/drawingml/2006/main">
            <a:off x="3543300" y="4838700"/>
            <a:ext cx="1962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118"/>
          </a:bodyPr>
          <a:lstStyle xmlns:a="http://schemas.openxmlformats.org/drawingml/2006/main"/>
          <a:p xmlns:a="http://schemas.openxmlformats.org/drawingml/2006/main">
            <a:pPr algn="r">
              <a:defRPr sz="1275" b="0" i="0">
                <a:solidFill>
                  <a:srgbClr val="EAF5F8"/>
                </a:solidFill>
                <a:latin typeface="Aptos"/>
                <a:ea typeface="Aptos"/>
                <a:cs typeface="Aptos"/>
              </a:defRPr>
            </a:pPr>
            <a:r>
              <a:rPr sz="1275" b="0" i="0">
                <a:solidFill>
                  <a:srgbClr val="EAF5F8"/>
                </a:solidFill>
                <a:latin typeface="Aptos"/>
                <a:ea typeface="Aptos"/>
                <a:cs typeface="Aptos"/>
              </a:rPr>
              <a:t>Validation and ID generation</a:t>
            </a:r>
          </a:p>
        </p:txBody>
      </p:sp>
      <p:sp>
        <p:nvSpPr>
          <p:cNvPr id="19" name="">
            <a:extLst xmlns:a="http://schemas.openxmlformats.org/drawingml/2006/main">
              <a:ext uri="{FF2B5EF4-FFF2-40B4-BE49-F238E27FC236}">
                <a16:creationId xmlns:a16="http://schemas.microsoft.com/office/drawing/2014/main" id="{868FEF14-C82B-4FE5-8E77-811DEF4436DB}"/>
              </a:ext>
            </a:extLst>
          </p:cNvPr>
          <p:cNvSpPr>
            <a:spLocks xmlns:a="http://schemas.openxmlformats.org/drawingml/2006/main" noGrp="1"/>
          </p:cNvSpPr>
          <p:nvPr/>
        </p:nvSpPr>
        <p:spPr>
          <a:xfrm xmlns:a="http://schemas.openxmlformats.org/drawingml/2006/main">
            <a:off x="7334250" y="1314450"/>
            <a:ext cx="4000500" cy="4095750"/>
          </a:xfrm>
          <a:prstGeom xmlns:a="http://schemas.openxmlformats.org/drawingml/2006/main" prst="roundRect">
            <a:avLst>
              <a:gd name="adj" fmla="val 1905"/>
            </a:avLst>
          </a:prstGeom>
          <a:solidFill xmlns:a="http://schemas.openxmlformats.org/drawingml/2006/main">
            <a:srgbClr val="FFFFFF"/>
          </a:solidFill>
          <a:ln xmlns:a="http://schemas.openxmlformats.org/drawingml/2006/main" w="9525">
            <a:solidFill>
              <a:srgbClr val="D4E1E8"/>
            </a:solidFill>
          </a:ln>
        </p:spPr>
      </p:sp>
      <p:sp>
        <p:nvSpPr>
          <p:cNvPr id="20" name="">
            <a:extLst xmlns:a="http://schemas.openxmlformats.org/drawingml/2006/main">
              <a:ext uri="{FF2B5EF4-FFF2-40B4-BE49-F238E27FC236}">
                <a16:creationId xmlns:a16="http://schemas.microsoft.com/office/drawing/2014/main" id="{DDF42D03-D56B-41B0-8B5D-3897B3C63AE4}"/>
              </a:ext>
            </a:extLst>
          </p:cNvPr>
          <p:cNvSpPr>
            <a:spLocks xmlns:a="http://schemas.openxmlformats.org/drawingml/2006/main" noGrp="1"/>
          </p:cNvSpPr>
          <p:nvPr/>
        </p:nvSpPr>
        <p:spPr>
          <a:xfrm xmlns:a="http://schemas.openxmlformats.org/drawingml/2006/main">
            <a:off x="7696200" y="1562100"/>
            <a:ext cx="323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1" i="0">
                <a:solidFill>
                  <a:srgbClr val="0B1F33"/>
                </a:solidFill>
                <a:latin typeface="Aptos"/>
                <a:ea typeface="Aptos"/>
                <a:cs typeface="Aptos"/>
              </a:defRPr>
            </a:pPr>
            <a:r>
              <a:rPr sz="1800" b="1" i="0">
                <a:solidFill>
                  <a:srgbClr val="0B1F33"/>
                </a:solidFill>
                <a:latin typeface="Aptos"/>
                <a:ea typeface="Aptos"/>
                <a:cs typeface="Aptos"/>
              </a:rPr>
              <a:t>Design principle</a:t>
            </a:r>
          </a:p>
        </p:txBody>
      </p:sp>
      <p:sp>
        <p:nvSpPr>
          <p:cNvPr id="21" name="">
            <a:extLst xmlns:a="http://schemas.openxmlformats.org/drawingml/2006/main">
              <a:ext uri="{FF2B5EF4-FFF2-40B4-BE49-F238E27FC236}">
                <a16:creationId xmlns:a16="http://schemas.microsoft.com/office/drawing/2014/main" id="{249B1E10-5B3F-4AE5-B130-02CDB10AA704}"/>
              </a:ext>
            </a:extLst>
          </p:cNvPr>
          <p:cNvSpPr>
            <a:spLocks xmlns:a="http://schemas.openxmlformats.org/drawingml/2006/main" noGrp="1"/>
          </p:cNvSpPr>
          <p:nvPr/>
        </p:nvSpPr>
        <p:spPr>
          <a:xfrm xmlns:a="http://schemas.openxmlformats.org/drawingml/2006/main">
            <a:off x="7696200" y="2133600"/>
            <a:ext cx="57150" cy="2305050"/>
          </a:xfrm>
          <a:prstGeom xmlns:a="http://schemas.openxmlformats.org/drawingml/2006/main" prst="rect">
            <a:avLst/>
          </a:prstGeom>
          <a:solidFill xmlns:a="http://schemas.openxmlformats.org/drawingml/2006/main">
            <a:srgbClr val="22B8A7"/>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39733D5A-D37A-4ABB-AB3D-48FC36DC895E}"/>
              </a:ext>
            </a:extLst>
          </p:cNvPr>
          <p:cNvSpPr>
            <a:spLocks xmlns:a="http://schemas.openxmlformats.org/drawingml/2006/main" noGrp="1"/>
          </p:cNvSpPr>
          <p:nvPr/>
        </p:nvSpPr>
        <p:spPr>
          <a:xfrm xmlns:a="http://schemas.openxmlformats.org/drawingml/2006/main">
            <a:off x="8020050" y="2095500"/>
            <a:ext cx="285750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0" i="0">
                <a:solidFill>
                  <a:srgbClr val="152433"/>
                </a:solidFill>
                <a:latin typeface="Aptos"/>
                <a:ea typeface="Aptos"/>
                <a:cs typeface="Aptos"/>
              </a:defRPr>
            </a:pPr>
            <a:r>
              <a:rPr sz="1500" b="0" i="0">
                <a:solidFill>
                  <a:srgbClr val="152433"/>
                </a:solidFill>
                <a:latin typeface="Aptos"/>
                <a:ea typeface="Aptos"/>
                <a:cs typeface="Aptos"/>
              </a:rPr>
              <a:t>Domain models own the core business rules.</a:t>
            </a:r>
          </a:p>
          <a:p xmlns:a="http://schemas.openxmlformats.org/drawingml/2006/main">
            <a:r>
              <a:t/>
            </a:r>
          </a:p>
          <a:p xmlns:a="http://schemas.openxmlformats.org/drawingml/2006/main">
            <a:pPr algn="l">
              <a:defRPr sz="1500" b="0" i="0">
                <a:solidFill>
                  <a:srgbClr val="152433"/>
                </a:solidFill>
                <a:latin typeface="Aptos"/>
                <a:ea typeface="Aptos"/>
                <a:cs typeface="Aptos"/>
              </a:defRPr>
            </a:pPr>
            <a:r>
              <a:rPr sz="1500" b="0" i="0">
                <a:solidFill>
                  <a:srgbClr val="152433"/>
                </a:solidFill>
                <a:latin typeface="Aptos"/>
                <a:ea typeface="Aptos"/>
                <a:cs typeface="Aptos"/>
              </a:rPr>
              <a:t>Services coordinate operations.</a:t>
            </a:r>
          </a:p>
          <a:p xmlns:a="http://schemas.openxmlformats.org/drawingml/2006/main">
            <a:r>
              <a:t/>
            </a:r>
          </a:p>
          <a:p xmlns:a="http://schemas.openxmlformats.org/drawingml/2006/main">
            <a:pPr algn="l">
              <a:defRPr sz="1500" b="0" i="0">
                <a:solidFill>
                  <a:srgbClr val="152433"/>
                </a:solidFill>
                <a:latin typeface="Aptos"/>
                <a:ea typeface="Aptos"/>
                <a:cs typeface="Aptos"/>
              </a:defRPr>
            </a:pPr>
            <a:r>
              <a:rPr sz="1500" b="0" i="0">
                <a:solidFill>
                  <a:srgbClr val="152433"/>
                </a:solidFill>
                <a:latin typeface="Aptos"/>
                <a:ea typeface="Aptos"/>
                <a:cs typeface="Aptos"/>
              </a:rPr>
              <a:t>Repositories handle persistence concerns.</a:t>
            </a:r>
          </a:p>
          <a:p xmlns:a="http://schemas.openxmlformats.org/drawingml/2006/main">
            <a:r>
              <a:t/>
            </a:r>
          </a:p>
          <a:p xmlns:a="http://schemas.openxmlformats.org/drawingml/2006/main">
            <a:pPr algn="l">
              <a:defRPr sz="1500" b="0" i="0">
                <a:solidFill>
                  <a:srgbClr val="152433"/>
                </a:solidFill>
                <a:latin typeface="Aptos"/>
                <a:ea typeface="Aptos"/>
                <a:cs typeface="Aptos"/>
              </a:defRPr>
            </a:pPr>
            <a:r>
              <a:rPr sz="1500" b="0" i="0">
                <a:solidFill>
                  <a:srgbClr val="152433"/>
                </a:solidFill>
                <a:latin typeface="Aptos"/>
                <a:ea typeface="Aptos"/>
                <a:cs typeface="Aptos"/>
              </a:rPr>
              <a:t>Support classes provide reusable technical helpers.</a:t>
            </a:r>
          </a:p>
        </p:txBody>
      </p:sp>
      <p:sp>
        <p:nvSpPr>
          <p:cNvPr id="23" name="">
            <a:extLst xmlns:a="http://schemas.openxmlformats.org/drawingml/2006/main">
              <a:ext uri="{FF2B5EF4-FFF2-40B4-BE49-F238E27FC236}">
                <a16:creationId xmlns:a16="http://schemas.microsoft.com/office/drawing/2014/main" id="{AC537B2C-D87F-4DF0-BE23-D70CD5173667}"/>
              </a:ext>
            </a:extLst>
          </p:cNvPr>
          <p:cNvSpPr>
            <a:spLocks xmlns:a="http://schemas.openxmlformats.org/drawingml/2006/main" noGrp="1"/>
          </p:cNvSpPr>
          <p:nvPr/>
        </p:nvSpPr>
        <p:spPr>
          <a:xfrm xmlns:a="http://schemas.openxmlformats.org/drawingml/2006/main">
            <a:off x="7696200" y="4895850"/>
            <a:ext cx="323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903"/>
          </a:bodyPr>
          <a:lstStyle xmlns:a="http://schemas.openxmlformats.org/drawingml/2006/main"/>
          <a:p xmlns:a="http://schemas.openxmlformats.org/drawingml/2006/main">
            <a:pPr algn="l">
              <a:defRPr sz="1275" b="1" i="0">
                <a:solidFill>
                  <a:srgbClr val="155E8A"/>
                </a:solidFill>
                <a:latin typeface="Aptos"/>
                <a:ea typeface="Aptos"/>
                <a:cs typeface="Aptos"/>
              </a:defRPr>
            </a:pPr>
            <a:r>
              <a:rPr sz="1275" b="1" i="0">
                <a:solidFill>
                  <a:srgbClr val="155E8A"/>
                </a:solidFill>
                <a:latin typeface="Aptos"/>
                <a:ea typeface="Aptos"/>
                <a:cs typeface="Aptos"/>
              </a:rPr>
              <a:t>Each class has one clear reason to change.</a:t>
            </a:r>
          </a:p>
        </p:txBody>
      </p:sp>
      <p:sp>
        <p:nvSpPr>
          <p:cNvPr id="24" name="">
            <a:extLst xmlns:a="http://schemas.openxmlformats.org/drawingml/2006/main">
              <a:ext uri="{FF2B5EF4-FFF2-40B4-BE49-F238E27FC236}">
                <a16:creationId xmlns:a16="http://schemas.microsoft.com/office/drawing/2014/main" id="{E2C80B53-C7C3-4D1B-9D2A-D9EC18685C3F}"/>
              </a:ext>
            </a:extLst>
          </p:cNvPr>
          <p:cNvSpPr>
            <a:spLocks xmlns:a="http://schemas.openxmlformats.org/drawingml/2006/main" noGrp="1"/>
          </p:cNvSpPr>
          <p:nvPr/>
        </p:nvSpPr>
        <p:spPr>
          <a:xfrm xmlns:a="http://schemas.openxmlformats.org/drawingml/2006/main">
            <a:off x="552450" y="6486525"/>
            <a:ext cx="3048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l">
              <a:defRPr sz="825" b="0" i="0">
                <a:solidFill>
                  <a:srgbClr val="5E6B78"/>
                </a:solidFill>
                <a:latin typeface="Aptos"/>
                <a:ea typeface="Aptos"/>
                <a:cs typeface="Aptos"/>
              </a:defRPr>
            </a:pPr>
            <a:r>
              <a:rPr sz="825" b="0" i="0">
                <a:solidFill>
                  <a:srgbClr val="5E6B78"/>
                </a:solidFill>
                <a:latin typeface="Aptos"/>
                <a:ea typeface="Aptos"/>
                <a:cs typeface="Aptos"/>
              </a:rPr>
              <a:t>Modern PHP Order System</a:t>
            </a:r>
          </a:p>
        </p:txBody>
      </p:sp>
      <p:sp>
        <p:nvSpPr>
          <p:cNvPr id="25" name="">
            <a:extLst xmlns:a="http://schemas.openxmlformats.org/drawingml/2006/main">
              <a:ext uri="{FF2B5EF4-FFF2-40B4-BE49-F238E27FC236}">
                <a16:creationId xmlns:a16="http://schemas.microsoft.com/office/drawing/2014/main" id="{9649CA4C-6FA7-4A07-8252-496B5F4A076E}"/>
              </a:ext>
            </a:extLst>
          </p:cNvPr>
          <p:cNvSpPr>
            <a:spLocks xmlns:a="http://schemas.openxmlformats.org/drawingml/2006/main" noGrp="1"/>
          </p:cNvSpPr>
          <p:nvPr/>
        </p:nvSpPr>
        <p:spPr>
          <a:xfrm xmlns:a="http://schemas.openxmlformats.org/drawingml/2006/main">
            <a:off x="11049000" y="6486525"/>
            <a:ext cx="571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r">
              <a:defRPr sz="825" b="1" i="0">
                <a:solidFill>
                  <a:srgbClr val="5E6B78"/>
                </a:solidFill>
                <a:latin typeface="Aptos"/>
                <a:ea typeface="Aptos"/>
                <a:cs typeface="Aptos"/>
              </a:defRPr>
            </a:pPr>
            <a:r>
              <a:rPr sz="825" b="1" i="0">
                <a:solidFill>
                  <a:srgbClr val="5E6B78"/>
                </a:solidFill>
                <a:latin typeface="Aptos"/>
                <a:ea typeface="Aptos"/>
                <a:cs typeface="Aptos"/>
              </a:rPr>
              <a:t>03</a:t>
            </a:r>
          </a:p>
        </p:txBody>
      </p:sp>
    </p:spTree>
    <p:extLst>
      <p:ext uri="{BB962C8B-B14F-4D97-AF65-F5344CB8AC3E}">
        <p14:creationId xmlns:p14="http://schemas.microsoft.com/office/powerpoint/2010/main" val="83229569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0" name="">
            <a:extLst xmlns:a="http://schemas.openxmlformats.org/drawingml/2006/main">
              <a:ext uri="{FF2B5EF4-FFF2-40B4-BE49-F238E27FC236}">
                <a16:creationId xmlns:a16="http://schemas.microsoft.com/office/drawing/2014/main" id="{061B9ABA-BBFD-411A-8E95-F389F366F8E4}"/>
              </a:ext>
            </a:extLst>
          </p:cNvPr>
          <p:cNvSpPr>
            <a:spLocks xmlns:a="http://schemas.openxmlformats.org/drawingml/2006/main" noGrp="1"/>
          </p:cNvSpPr>
          <p:nvPr/>
        </p:nvSpPr>
        <p:spPr>
          <a:xfrm xmlns:a="http://schemas.openxmlformats.org/drawingml/2006/main">
            <a:off x="552450" y="342900"/>
            <a:ext cx="5143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1" i="0">
                <a:solidFill>
                  <a:srgbClr val="22B8A7"/>
                </a:solidFill>
                <a:latin typeface="Aptos"/>
                <a:ea typeface="Aptos"/>
                <a:cs typeface="Aptos"/>
              </a:defRPr>
            </a:pPr>
            <a:r>
              <a:rPr sz="1200" b="1" i="0">
                <a:solidFill>
                  <a:srgbClr val="22B8A7"/>
                </a:solidFill>
                <a:latin typeface="Aptos"/>
                <a:ea typeface="Aptos"/>
                <a:cs typeface="Aptos"/>
              </a:rPr>
              <a:t>04</a:t>
            </a:r>
          </a:p>
        </p:txBody>
      </p:sp>
      <p:sp>
        <p:nvSpPr>
          <p:cNvPr id="2" name="">
            <a:extLst xmlns:a="http://schemas.openxmlformats.org/drawingml/2006/main">
              <a:ext uri="{FF2B5EF4-FFF2-40B4-BE49-F238E27FC236}">
                <a16:creationId xmlns:a16="http://schemas.microsoft.com/office/drawing/2014/main" id="{5006FECE-827F-40DF-B30C-C2A0147DA098}"/>
              </a:ext>
            </a:extLst>
          </p:cNvPr>
          <p:cNvSpPr>
            <a:spLocks xmlns:a="http://schemas.openxmlformats.org/drawingml/2006/main" noGrp="1"/>
          </p:cNvSpPr>
          <p:nvPr/>
        </p:nvSpPr>
        <p:spPr>
          <a:xfrm xmlns:a="http://schemas.openxmlformats.org/drawingml/2006/main">
            <a:off x="1123950" y="266700"/>
            <a:ext cx="9906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i="0">
                <a:solidFill>
                  <a:srgbClr val="0B1F33"/>
                </a:solidFill>
                <a:latin typeface="Aptos"/>
                <a:ea typeface="Aptos"/>
                <a:cs typeface="Aptos"/>
              </a:defRPr>
            </a:pPr>
            <a:r>
              <a:rPr sz="2550" b="1" i="0">
                <a:solidFill>
                  <a:srgbClr val="0B1F33"/>
                </a:solidFill>
                <a:latin typeface="Aptos"/>
                <a:ea typeface="Aptos"/>
                <a:cs typeface="Aptos"/>
              </a:rPr>
              <a:t>Modern PHP foundations</a:t>
            </a:r>
          </a:p>
        </p:txBody>
      </p:sp>
      <p:sp>
        <p:nvSpPr>
          <p:cNvPr id="3" name="">
            <a:extLst xmlns:a="http://schemas.openxmlformats.org/drawingml/2006/main">
              <a:ext uri="{FF2B5EF4-FFF2-40B4-BE49-F238E27FC236}">
                <a16:creationId xmlns:a16="http://schemas.microsoft.com/office/drawing/2014/main" id="{B2047C29-DF37-40A4-9C6A-64360F1852F3}"/>
              </a:ext>
            </a:extLst>
          </p:cNvPr>
          <p:cNvSpPr>
            <a:spLocks xmlns:a="http://schemas.openxmlformats.org/drawingml/2006/main" noGrp="1"/>
          </p:cNvSpPr>
          <p:nvPr/>
        </p:nvSpPr>
        <p:spPr>
          <a:xfrm xmlns:a="http://schemas.openxmlformats.org/drawingml/2006/main">
            <a:off x="552450" y="895350"/>
            <a:ext cx="11087100" cy="28575"/>
          </a:xfrm>
          <a:prstGeom xmlns:a="http://schemas.openxmlformats.org/drawingml/2006/main" prst="rect">
            <a:avLst/>
          </a:prstGeom>
          <a:solidFill xmlns:a="http://schemas.openxmlformats.org/drawingml/2006/main">
            <a:srgbClr val="22B8A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6C59676-7B1E-4CD8-A75F-AD4EC84051EA}"/>
              </a:ext>
            </a:extLst>
          </p:cNvPr>
          <p:cNvSpPr>
            <a:spLocks xmlns:a="http://schemas.openxmlformats.org/drawingml/2006/main" noGrp="1"/>
          </p:cNvSpPr>
          <p:nvPr/>
        </p:nvSpPr>
        <p:spPr>
          <a:xfrm xmlns:a="http://schemas.openxmlformats.org/drawingml/2006/main">
            <a:off x="723900" y="1257300"/>
            <a:ext cx="5105400" cy="838200"/>
          </a:xfrm>
          <a:prstGeom xmlns:a="http://schemas.openxmlformats.org/drawingml/2006/main" prst="roundRect">
            <a:avLst>
              <a:gd name="adj" fmla="val 9091"/>
            </a:avLst>
          </a:prstGeom>
          <a:solidFill xmlns:a="http://schemas.openxmlformats.org/drawingml/2006/main">
            <a:srgbClr val="F7FAFC"/>
          </a:solidFill>
          <a:ln xmlns:a="http://schemas.openxmlformats.org/drawingml/2006/main" w="9525">
            <a:solidFill>
              <a:srgbClr val="D4E1E8"/>
            </a:solidFill>
          </a:ln>
        </p:spPr>
      </p:sp>
      <p:sp>
        <p:nvSpPr>
          <p:cNvPr id="5" name="">
            <a:extLst xmlns:a="http://schemas.openxmlformats.org/drawingml/2006/main">
              <a:ext uri="{FF2B5EF4-FFF2-40B4-BE49-F238E27FC236}">
                <a16:creationId xmlns:a16="http://schemas.microsoft.com/office/drawing/2014/main" id="{D3927A63-33C6-4376-8CF3-DE783B6482E5}"/>
              </a:ext>
            </a:extLst>
          </p:cNvPr>
          <p:cNvSpPr>
            <a:spLocks xmlns:a="http://schemas.openxmlformats.org/drawingml/2006/main" noGrp="1"/>
          </p:cNvSpPr>
          <p:nvPr/>
        </p:nvSpPr>
        <p:spPr>
          <a:xfrm xmlns:a="http://schemas.openxmlformats.org/drawingml/2006/main">
            <a:off x="723900" y="1257300"/>
            <a:ext cx="76200" cy="838200"/>
          </a:xfrm>
          <a:prstGeom xmlns:a="http://schemas.openxmlformats.org/drawingml/2006/main" prst="rect">
            <a:avLst/>
          </a:prstGeom>
          <a:solidFill xmlns:a="http://schemas.openxmlformats.org/drawingml/2006/main">
            <a:srgbClr val="22B8A7"/>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F625B78C-BC7B-4951-88C1-06C57E8FD183}"/>
              </a:ext>
            </a:extLst>
          </p:cNvPr>
          <p:cNvSpPr>
            <a:spLocks xmlns:a="http://schemas.openxmlformats.org/drawingml/2006/main" noGrp="1"/>
          </p:cNvSpPr>
          <p:nvPr/>
        </p:nvSpPr>
        <p:spPr>
          <a:xfrm xmlns:a="http://schemas.openxmlformats.org/drawingml/2006/main">
            <a:off x="990600" y="1371600"/>
            <a:ext cx="180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000"/>
          </a:bodyPr>
          <a:lstStyle xmlns:a="http://schemas.openxmlformats.org/drawingml/2006/main"/>
          <a:p xmlns:a="http://schemas.openxmlformats.org/drawingml/2006/main">
            <a:pPr algn="l">
              <a:defRPr sz="1500" b="1" i="0">
                <a:solidFill>
                  <a:srgbClr val="0B1F33"/>
                </a:solidFill>
                <a:latin typeface="Consolas"/>
                <a:ea typeface="Consolas"/>
                <a:cs typeface="Consolas"/>
              </a:defRPr>
            </a:pPr>
            <a:r>
              <a:rPr sz="1500" b="1" i="0">
                <a:solidFill>
                  <a:srgbClr val="0B1F33"/>
                </a:solidFill>
                <a:latin typeface="Consolas"/>
                <a:ea typeface="Consolas"/>
                <a:cs typeface="Consolas"/>
              </a:rPr>
              <a:t>strict_types</a:t>
            </a:r>
          </a:p>
        </p:txBody>
      </p:sp>
      <p:sp>
        <p:nvSpPr>
          <p:cNvPr id="7" name="">
            <a:extLst xmlns:a="http://schemas.openxmlformats.org/drawingml/2006/main">
              <a:ext uri="{FF2B5EF4-FFF2-40B4-BE49-F238E27FC236}">
                <a16:creationId xmlns:a16="http://schemas.microsoft.com/office/drawing/2014/main" id="{5825257F-8BA0-4D07-9607-88DB7F90B5D7}"/>
              </a:ext>
            </a:extLst>
          </p:cNvPr>
          <p:cNvSpPr>
            <a:spLocks xmlns:a="http://schemas.openxmlformats.org/drawingml/2006/main" noGrp="1"/>
          </p:cNvSpPr>
          <p:nvPr/>
        </p:nvSpPr>
        <p:spPr>
          <a:xfrm xmlns:a="http://schemas.openxmlformats.org/drawingml/2006/main">
            <a:off x="990600" y="1676400"/>
            <a:ext cx="4476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417"/>
          </a:bodyPr>
          <a:lstStyle xmlns:a="http://schemas.openxmlformats.org/drawingml/2006/main"/>
          <a:p xmlns:a="http://schemas.openxmlformats.org/drawingml/2006/main">
            <a:pPr algn="l">
              <a:defRPr sz="1200" b="0" i="0">
                <a:solidFill>
                  <a:srgbClr val="5E6B78"/>
                </a:solidFill>
                <a:latin typeface="Aptos"/>
                <a:ea typeface="Aptos"/>
                <a:cs typeface="Aptos"/>
              </a:defRPr>
            </a:pPr>
            <a:r>
              <a:rPr sz="1200" b="0" i="0">
                <a:solidFill>
                  <a:srgbClr val="5E6B78"/>
                </a:solidFill>
                <a:latin typeface="Aptos"/>
                <a:ea typeface="Aptos"/>
                <a:cs typeface="Aptos"/>
              </a:rPr>
              <a:t>Prevents silent scalar coercion</a:t>
            </a:r>
          </a:p>
        </p:txBody>
      </p:sp>
      <p:sp>
        <p:nvSpPr>
          <p:cNvPr id="8" name="">
            <a:extLst xmlns:a="http://schemas.openxmlformats.org/drawingml/2006/main">
              <a:ext uri="{FF2B5EF4-FFF2-40B4-BE49-F238E27FC236}">
                <a16:creationId xmlns:a16="http://schemas.microsoft.com/office/drawing/2014/main" id="{0B255C78-AAF0-4209-85FA-CCDAC98A5A08}"/>
              </a:ext>
            </a:extLst>
          </p:cNvPr>
          <p:cNvSpPr>
            <a:spLocks xmlns:a="http://schemas.openxmlformats.org/drawingml/2006/main" noGrp="1"/>
          </p:cNvSpPr>
          <p:nvPr/>
        </p:nvSpPr>
        <p:spPr>
          <a:xfrm xmlns:a="http://schemas.openxmlformats.org/drawingml/2006/main">
            <a:off x="6191250" y="1257300"/>
            <a:ext cx="5105400" cy="838200"/>
          </a:xfrm>
          <a:prstGeom xmlns:a="http://schemas.openxmlformats.org/drawingml/2006/main" prst="roundRect">
            <a:avLst>
              <a:gd name="adj" fmla="val 9091"/>
            </a:avLst>
          </a:prstGeom>
          <a:solidFill xmlns:a="http://schemas.openxmlformats.org/drawingml/2006/main">
            <a:srgbClr val="F7FAFC"/>
          </a:solidFill>
          <a:ln xmlns:a="http://schemas.openxmlformats.org/drawingml/2006/main" w="9525">
            <a:solidFill>
              <a:srgbClr val="D4E1E8"/>
            </a:solidFill>
          </a:ln>
        </p:spPr>
      </p:sp>
      <p:sp>
        <p:nvSpPr>
          <p:cNvPr id="9" name="">
            <a:extLst xmlns:a="http://schemas.openxmlformats.org/drawingml/2006/main">
              <a:ext uri="{FF2B5EF4-FFF2-40B4-BE49-F238E27FC236}">
                <a16:creationId xmlns:a16="http://schemas.microsoft.com/office/drawing/2014/main" id="{737D4B90-2038-4360-AB83-8BF6AC4E00F4}"/>
              </a:ext>
            </a:extLst>
          </p:cNvPr>
          <p:cNvSpPr>
            <a:spLocks xmlns:a="http://schemas.openxmlformats.org/drawingml/2006/main" noGrp="1"/>
          </p:cNvSpPr>
          <p:nvPr/>
        </p:nvSpPr>
        <p:spPr>
          <a:xfrm xmlns:a="http://schemas.openxmlformats.org/drawingml/2006/main">
            <a:off x="6191250" y="1257300"/>
            <a:ext cx="76200" cy="838200"/>
          </a:xfrm>
          <a:prstGeom xmlns:a="http://schemas.openxmlformats.org/drawingml/2006/main" prst="rect">
            <a:avLst/>
          </a:prstGeom>
          <a:solidFill xmlns:a="http://schemas.openxmlformats.org/drawingml/2006/main">
            <a:srgbClr val="155E8A"/>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4CAF53F6-FEB2-4DFA-ACA9-C82D0C701583}"/>
              </a:ext>
            </a:extLst>
          </p:cNvPr>
          <p:cNvSpPr>
            <a:spLocks xmlns:a="http://schemas.openxmlformats.org/drawingml/2006/main" noGrp="1"/>
          </p:cNvSpPr>
          <p:nvPr/>
        </p:nvSpPr>
        <p:spPr>
          <a:xfrm xmlns:a="http://schemas.openxmlformats.org/drawingml/2006/main">
            <a:off x="6457950" y="1371600"/>
            <a:ext cx="180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000"/>
          </a:bodyPr>
          <a:lstStyle xmlns:a="http://schemas.openxmlformats.org/drawingml/2006/main"/>
          <a:p xmlns:a="http://schemas.openxmlformats.org/drawingml/2006/main">
            <a:pPr algn="l">
              <a:defRPr sz="1500" b="1" i="0">
                <a:solidFill>
                  <a:srgbClr val="0B1F33"/>
                </a:solidFill>
                <a:latin typeface="Aptos"/>
                <a:ea typeface="Aptos"/>
                <a:cs typeface="Aptos"/>
              </a:defRPr>
            </a:pPr>
            <a:r>
              <a:rPr sz="1500" b="1" i="0">
                <a:solidFill>
                  <a:srgbClr val="0B1F33"/>
                </a:solidFill>
                <a:latin typeface="Aptos"/>
                <a:ea typeface="Aptos"/>
                <a:cs typeface="Aptos"/>
              </a:rPr>
              <a:t>Typed API</a:t>
            </a:r>
          </a:p>
        </p:txBody>
      </p:sp>
      <p:sp>
        <p:nvSpPr>
          <p:cNvPr id="11" name="">
            <a:extLst xmlns:a="http://schemas.openxmlformats.org/drawingml/2006/main">
              <a:ext uri="{FF2B5EF4-FFF2-40B4-BE49-F238E27FC236}">
                <a16:creationId xmlns:a16="http://schemas.microsoft.com/office/drawing/2014/main" id="{0FAE8190-E687-48C6-937C-D962A37A6E48}"/>
              </a:ext>
            </a:extLst>
          </p:cNvPr>
          <p:cNvSpPr>
            <a:spLocks xmlns:a="http://schemas.openxmlformats.org/drawingml/2006/main" noGrp="1"/>
          </p:cNvSpPr>
          <p:nvPr/>
        </p:nvSpPr>
        <p:spPr>
          <a:xfrm xmlns:a="http://schemas.openxmlformats.org/drawingml/2006/main">
            <a:off x="6457950" y="1676400"/>
            <a:ext cx="4476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417"/>
          </a:bodyPr>
          <a:lstStyle xmlns:a="http://schemas.openxmlformats.org/drawingml/2006/main"/>
          <a:p xmlns:a="http://schemas.openxmlformats.org/drawingml/2006/main">
            <a:pPr algn="l">
              <a:defRPr sz="1200" b="0" i="0">
                <a:solidFill>
                  <a:srgbClr val="5E6B78"/>
                </a:solidFill>
                <a:latin typeface="Aptos"/>
                <a:ea typeface="Aptos"/>
                <a:cs typeface="Aptos"/>
              </a:defRPr>
            </a:pPr>
            <a:r>
              <a:rPr sz="1200" b="0" i="0">
                <a:solidFill>
                  <a:srgbClr val="5E6B78"/>
                </a:solidFill>
                <a:latin typeface="Aptos"/>
                <a:ea typeface="Aptos"/>
                <a:cs typeface="Aptos"/>
              </a:rPr>
              <a:t>Parameters, properties, and returns</a:t>
            </a:r>
          </a:p>
        </p:txBody>
      </p:sp>
      <p:sp>
        <p:nvSpPr>
          <p:cNvPr id="12" name="">
            <a:extLst xmlns:a="http://schemas.openxmlformats.org/drawingml/2006/main">
              <a:ext uri="{FF2B5EF4-FFF2-40B4-BE49-F238E27FC236}">
                <a16:creationId xmlns:a16="http://schemas.microsoft.com/office/drawing/2014/main" id="{70C52B85-25B9-4CEE-9643-796B3874DE3C}"/>
              </a:ext>
            </a:extLst>
          </p:cNvPr>
          <p:cNvSpPr>
            <a:spLocks xmlns:a="http://schemas.openxmlformats.org/drawingml/2006/main" noGrp="1"/>
          </p:cNvSpPr>
          <p:nvPr/>
        </p:nvSpPr>
        <p:spPr>
          <a:xfrm xmlns:a="http://schemas.openxmlformats.org/drawingml/2006/main">
            <a:off x="723900" y="2362200"/>
            <a:ext cx="5105400" cy="838200"/>
          </a:xfrm>
          <a:prstGeom xmlns:a="http://schemas.openxmlformats.org/drawingml/2006/main" prst="roundRect">
            <a:avLst>
              <a:gd name="adj" fmla="val 9091"/>
            </a:avLst>
          </a:prstGeom>
          <a:solidFill xmlns:a="http://schemas.openxmlformats.org/drawingml/2006/main">
            <a:srgbClr val="EEF5F8"/>
          </a:solidFill>
          <a:ln xmlns:a="http://schemas.openxmlformats.org/drawingml/2006/main" w="9525">
            <a:solidFill>
              <a:srgbClr val="D4E1E8"/>
            </a:solidFill>
          </a:ln>
        </p:spPr>
      </p:sp>
      <p:sp>
        <p:nvSpPr>
          <p:cNvPr id="13" name="">
            <a:extLst xmlns:a="http://schemas.openxmlformats.org/drawingml/2006/main">
              <a:ext uri="{FF2B5EF4-FFF2-40B4-BE49-F238E27FC236}">
                <a16:creationId xmlns:a16="http://schemas.microsoft.com/office/drawing/2014/main" id="{1FC01947-6A40-46E0-9FFC-BEB70568E1D4}"/>
              </a:ext>
            </a:extLst>
          </p:cNvPr>
          <p:cNvSpPr>
            <a:spLocks xmlns:a="http://schemas.openxmlformats.org/drawingml/2006/main" noGrp="1"/>
          </p:cNvSpPr>
          <p:nvPr/>
        </p:nvSpPr>
        <p:spPr>
          <a:xfrm xmlns:a="http://schemas.openxmlformats.org/drawingml/2006/main">
            <a:off x="723900" y="2362200"/>
            <a:ext cx="76200" cy="838200"/>
          </a:xfrm>
          <a:prstGeom xmlns:a="http://schemas.openxmlformats.org/drawingml/2006/main" prst="rect">
            <a:avLst/>
          </a:prstGeom>
          <a:solidFill xmlns:a="http://schemas.openxmlformats.org/drawingml/2006/main">
            <a:srgbClr val="155E8A"/>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8FC29470-20B2-44A3-833B-1A2D2BB3F114}"/>
              </a:ext>
            </a:extLst>
          </p:cNvPr>
          <p:cNvSpPr>
            <a:spLocks xmlns:a="http://schemas.openxmlformats.org/drawingml/2006/main" noGrp="1"/>
          </p:cNvSpPr>
          <p:nvPr/>
        </p:nvSpPr>
        <p:spPr>
          <a:xfrm xmlns:a="http://schemas.openxmlformats.org/drawingml/2006/main">
            <a:off x="990600" y="2476500"/>
            <a:ext cx="180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000"/>
          </a:bodyPr>
          <a:lstStyle xmlns:a="http://schemas.openxmlformats.org/drawingml/2006/main"/>
          <a:p xmlns:a="http://schemas.openxmlformats.org/drawingml/2006/main">
            <a:pPr algn="l">
              <a:defRPr sz="1500" b="1" i="0">
                <a:solidFill>
                  <a:srgbClr val="0B1F33"/>
                </a:solidFill>
                <a:latin typeface="Aptos"/>
                <a:ea typeface="Aptos"/>
                <a:cs typeface="Aptos"/>
              </a:defRPr>
            </a:pPr>
            <a:r>
              <a:rPr sz="1500" b="1" i="0">
                <a:solidFill>
                  <a:srgbClr val="0B1F33"/>
                </a:solidFill>
                <a:latin typeface="Aptos"/>
                <a:ea typeface="Aptos"/>
                <a:cs typeface="Aptos"/>
              </a:rPr>
              <a:t>readonly</a:t>
            </a:r>
          </a:p>
        </p:txBody>
      </p:sp>
      <p:sp>
        <p:nvSpPr>
          <p:cNvPr id="15" name="">
            <a:extLst xmlns:a="http://schemas.openxmlformats.org/drawingml/2006/main">
              <a:ext uri="{FF2B5EF4-FFF2-40B4-BE49-F238E27FC236}">
                <a16:creationId xmlns:a16="http://schemas.microsoft.com/office/drawing/2014/main" id="{194B302A-D875-45ED-A276-583E170DAC7B}"/>
              </a:ext>
            </a:extLst>
          </p:cNvPr>
          <p:cNvSpPr>
            <a:spLocks xmlns:a="http://schemas.openxmlformats.org/drawingml/2006/main" noGrp="1"/>
          </p:cNvSpPr>
          <p:nvPr/>
        </p:nvSpPr>
        <p:spPr>
          <a:xfrm xmlns:a="http://schemas.openxmlformats.org/drawingml/2006/main">
            <a:off x="990600" y="2781300"/>
            <a:ext cx="4476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417"/>
          </a:bodyPr>
          <a:lstStyle xmlns:a="http://schemas.openxmlformats.org/drawingml/2006/main"/>
          <a:p xmlns:a="http://schemas.openxmlformats.org/drawingml/2006/main">
            <a:pPr algn="l">
              <a:defRPr sz="1200" b="0" i="0">
                <a:solidFill>
                  <a:srgbClr val="5E6B78"/>
                </a:solidFill>
                <a:latin typeface="Aptos"/>
                <a:ea typeface="Aptos"/>
                <a:cs typeface="Aptos"/>
              </a:defRPr>
            </a:pPr>
            <a:r>
              <a:rPr sz="1200" b="0" i="0">
                <a:solidFill>
                  <a:srgbClr val="5E6B78"/>
                </a:solidFill>
                <a:latin typeface="Aptos"/>
                <a:ea typeface="Aptos"/>
                <a:cs typeface="Aptos"/>
              </a:rPr>
              <a:t>Protects immutable value objects</a:t>
            </a:r>
          </a:p>
        </p:txBody>
      </p:sp>
      <p:sp>
        <p:nvSpPr>
          <p:cNvPr id="16" name="">
            <a:extLst xmlns:a="http://schemas.openxmlformats.org/drawingml/2006/main">
              <a:ext uri="{FF2B5EF4-FFF2-40B4-BE49-F238E27FC236}">
                <a16:creationId xmlns:a16="http://schemas.microsoft.com/office/drawing/2014/main" id="{14B408DD-0C18-4C1D-A57D-2312AD15332D}"/>
              </a:ext>
            </a:extLst>
          </p:cNvPr>
          <p:cNvSpPr>
            <a:spLocks xmlns:a="http://schemas.openxmlformats.org/drawingml/2006/main" noGrp="1"/>
          </p:cNvSpPr>
          <p:nvPr/>
        </p:nvSpPr>
        <p:spPr>
          <a:xfrm xmlns:a="http://schemas.openxmlformats.org/drawingml/2006/main">
            <a:off x="6191250" y="2362200"/>
            <a:ext cx="5105400" cy="838200"/>
          </a:xfrm>
          <a:prstGeom xmlns:a="http://schemas.openxmlformats.org/drawingml/2006/main" prst="roundRect">
            <a:avLst>
              <a:gd name="adj" fmla="val 9091"/>
            </a:avLst>
          </a:prstGeom>
          <a:solidFill xmlns:a="http://schemas.openxmlformats.org/drawingml/2006/main">
            <a:srgbClr val="EEF5F8"/>
          </a:solidFill>
          <a:ln xmlns:a="http://schemas.openxmlformats.org/drawingml/2006/main" w="9525">
            <a:solidFill>
              <a:srgbClr val="D4E1E8"/>
            </a:solidFill>
          </a:ln>
        </p:spPr>
      </p:sp>
      <p:sp>
        <p:nvSpPr>
          <p:cNvPr id="17" name="">
            <a:extLst xmlns:a="http://schemas.openxmlformats.org/drawingml/2006/main">
              <a:ext uri="{FF2B5EF4-FFF2-40B4-BE49-F238E27FC236}">
                <a16:creationId xmlns:a16="http://schemas.microsoft.com/office/drawing/2014/main" id="{A03CB227-62CD-4F97-872D-3C524C18914B}"/>
              </a:ext>
            </a:extLst>
          </p:cNvPr>
          <p:cNvSpPr>
            <a:spLocks xmlns:a="http://schemas.openxmlformats.org/drawingml/2006/main" noGrp="1"/>
          </p:cNvSpPr>
          <p:nvPr/>
        </p:nvSpPr>
        <p:spPr>
          <a:xfrm xmlns:a="http://schemas.openxmlformats.org/drawingml/2006/main">
            <a:off x="6191250" y="2362200"/>
            <a:ext cx="76200" cy="838200"/>
          </a:xfrm>
          <a:prstGeom xmlns:a="http://schemas.openxmlformats.org/drawingml/2006/main" prst="rect">
            <a:avLst/>
          </a:prstGeom>
          <a:solidFill xmlns:a="http://schemas.openxmlformats.org/drawingml/2006/main">
            <a:srgbClr val="22B8A7"/>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B3E546E1-75DF-49B6-B2F4-C611431EA3B3}"/>
              </a:ext>
            </a:extLst>
          </p:cNvPr>
          <p:cNvSpPr>
            <a:spLocks xmlns:a="http://schemas.openxmlformats.org/drawingml/2006/main" noGrp="1"/>
          </p:cNvSpPr>
          <p:nvPr/>
        </p:nvSpPr>
        <p:spPr>
          <a:xfrm xmlns:a="http://schemas.openxmlformats.org/drawingml/2006/main">
            <a:off x="6457950" y="2476500"/>
            <a:ext cx="180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000"/>
          </a:bodyPr>
          <a:lstStyle xmlns:a="http://schemas.openxmlformats.org/drawingml/2006/main"/>
          <a:p xmlns:a="http://schemas.openxmlformats.org/drawingml/2006/main">
            <a:pPr algn="l">
              <a:defRPr sz="1500" b="1" i="0">
                <a:solidFill>
                  <a:srgbClr val="0B1F33"/>
                </a:solidFill>
                <a:latin typeface="Aptos"/>
                <a:ea typeface="Aptos"/>
                <a:cs typeface="Aptos"/>
              </a:defRPr>
            </a:pPr>
            <a:r>
              <a:rPr sz="1500" b="1" i="0">
                <a:solidFill>
                  <a:srgbClr val="0B1F33"/>
                </a:solidFill>
                <a:latin typeface="Aptos"/>
                <a:ea typeface="Aptos"/>
                <a:cs typeface="Aptos"/>
              </a:rPr>
              <a:t>Enums</a:t>
            </a:r>
          </a:p>
        </p:txBody>
      </p:sp>
      <p:sp>
        <p:nvSpPr>
          <p:cNvPr id="19" name="">
            <a:extLst xmlns:a="http://schemas.openxmlformats.org/drawingml/2006/main">
              <a:ext uri="{FF2B5EF4-FFF2-40B4-BE49-F238E27FC236}">
                <a16:creationId xmlns:a16="http://schemas.microsoft.com/office/drawing/2014/main" id="{0C6EE29B-E9D1-4515-A720-0939403735C3}"/>
              </a:ext>
            </a:extLst>
          </p:cNvPr>
          <p:cNvSpPr>
            <a:spLocks xmlns:a="http://schemas.openxmlformats.org/drawingml/2006/main" noGrp="1"/>
          </p:cNvSpPr>
          <p:nvPr/>
        </p:nvSpPr>
        <p:spPr>
          <a:xfrm xmlns:a="http://schemas.openxmlformats.org/drawingml/2006/main">
            <a:off x="6457950" y="2781300"/>
            <a:ext cx="4476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417"/>
          </a:bodyPr>
          <a:lstStyle xmlns:a="http://schemas.openxmlformats.org/drawingml/2006/main"/>
          <a:p xmlns:a="http://schemas.openxmlformats.org/drawingml/2006/main">
            <a:pPr algn="l">
              <a:defRPr sz="1200" b="0" i="0">
                <a:solidFill>
                  <a:srgbClr val="5E6B78"/>
                </a:solidFill>
                <a:latin typeface="Aptos"/>
                <a:ea typeface="Aptos"/>
                <a:cs typeface="Aptos"/>
              </a:defRPr>
            </a:pPr>
            <a:r>
              <a:rPr sz="1200" b="0" i="0">
                <a:solidFill>
                  <a:srgbClr val="5E6B78"/>
                </a:solidFill>
                <a:latin typeface="Aptos"/>
                <a:ea typeface="Aptos"/>
                <a:cs typeface="Aptos"/>
              </a:rPr>
              <a:t>Restricts status to valid cases</a:t>
            </a:r>
          </a:p>
        </p:txBody>
      </p:sp>
      <p:sp>
        <p:nvSpPr>
          <p:cNvPr id="20" name="">
            <a:extLst xmlns:a="http://schemas.openxmlformats.org/drawingml/2006/main">
              <a:ext uri="{FF2B5EF4-FFF2-40B4-BE49-F238E27FC236}">
                <a16:creationId xmlns:a16="http://schemas.microsoft.com/office/drawing/2014/main" id="{F8611872-9A37-42D2-B1ED-06B971B70FF4}"/>
              </a:ext>
            </a:extLst>
          </p:cNvPr>
          <p:cNvSpPr>
            <a:spLocks xmlns:a="http://schemas.openxmlformats.org/drawingml/2006/main" noGrp="1"/>
          </p:cNvSpPr>
          <p:nvPr/>
        </p:nvSpPr>
        <p:spPr>
          <a:xfrm xmlns:a="http://schemas.openxmlformats.org/drawingml/2006/main">
            <a:off x="723900" y="3467100"/>
            <a:ext cx="5105400" cy="838200"/>
          </a:xfrm>
          <a:prstGeom xmlns:a="http://schemas.openxmlformats.org/drawingml/2006/main" prst="roundRect">
            <a:avLst>
              <a:gd name="adj" fmla="val 9091"/>
            </a:avLst>
          </a:prstGeom>
          <a:solidFill xmlns:a="http://schemas.openxmlformats.org/drawingml/2006/main">
            <a:srgbClr val="F7FAFC"/>
          </a:solidFill>
          <a:ln xmlns:a="http://schemas.openxmlformats.org/drawingml/2006/main" w="9525">
            <a:solidFill>
              <a:srgbClr val="D4E1E8"/>
            </a:solidFill>
          </a:ln>
        </p:spPr>
      </p:sp>
      <p:sp>
        <p:nvSpPr>
          <p:cNvPr id="21" name="">
            <a:extLst xmlns:a="http://schemas.openxmlformats.org/drawingml/2006/main">
              <a:ext uri="{FF2B5EF4-FFF2-40B4-BE49-F238E27FC236}">
                <a16:creationId xmlns:a16="http://schemas.microsoft.com/office/drawing/2014/main" id="{784FB66B-7444-44D1-BC57-6BCD104502C8}"/>
              </a:ext>
            </a:extLst>
          </p:cNvPr>
          <p:cNvSpPr>
            <a:spLocks xmlns:a="http://schemas.openxmlformats.org/drawingml/2006/main" noGrp="1"/>
          </p:cNvSpPr>
          <p:nvPr/>
        </p:nvSpPr>
        <p:spPr>
          <a:xfrm xmlns:a="http://schemas.openxmlformats.org/drawingml/2006/main">
            <a:off x="723900" y="3467100"/>
            <a:ext cx="76200" cy="838200"/>
          </a:xfrm>
          <a:prstGeom xmlns:a="http://schemas.openxmlformats.org/drawingml/2006/main" prst="rect">
            <a:avLst/>
          </a:prstGeom>
          <a:solidFill xmlns:a="http://schemas.openxmlformats.org/drawingml/2006/main">
            <a:srgbClr val="155E8A"/>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E36CFE3B-9389-4BD1-9240-951B67745FE7}"/>
              </a:ext>
            </a:extLst>
          </p:cNvPr>
          <p:cNvSpPr>
            <a:spLocks xmlns:a="http://schemas.openxmlformats.org/drawingml/2006/main" noGrp="1"/>
          </p:cNvSpPr>
          <p:nvPr/>
        </p:nvSpPr>
        <p:spPr>
          <a:xfrm xmlns:a="http://schemas.openxmlformats.org/drawingml/2006/main">
            <a:off x="990600" y="3581400"/>
            <a:ext cx="180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000"/>
          </a:bodyPr>
          <a:lstStyle xmlns:a="http://schemas.openxmlformats.org/drawingml/2006/main"/>
          <a:p xmlns:a="http://schemas.openxmlformats.org/drawingml/2006/main">
            <a:pPr algn="l">
              <a:defRPr sz="1500" b="1" i="0">
                <a:solidFill>
                  <a:srgbClr val="0B1F33"/>
                </a:solidFill>
                <a:latin typeface="Aptos"/>
                <a:ea typeface="Aptos"/>
                <a:cs typeface="Aptos"/>
              </a:defRPr>
            </a:pPr>
            <a:r>
              <a:rPr sz="1500" b="1" i="0">
                <a:solidFill>
                  <a:srgbClr val="0B1F33"/>
                </a:solidFill>
                <a:latin typeface="Aptos"/>
                <a:ea typeface="Aptos"/>
                <a:cs typeface="Aptos"/>
              </a:rPr>
              <a:t>match</a:t>
            </a:r>
          </a:p>
        </p:txBody>
      </p:sp>
      <p:sp>
        <p:nvSpPr>
          <p:cNvPr id="23" name="">
            <a:extLst xmlns:a="http://schemas.openxmlformats.org/drawingml/2006/main">
              <a:ext uri="{FF2B5EF4-FFF2-40B4-BE49-F238E27FC236}">
                <a16:creationId xmlns:a16="http://schemas.microsoft.com/office/drawing/2014/main" id="{CB7F1A63-207D-4C1A-ACF5-9589235C5137}"/>
              </a:ext>
            </a:extLst>
          </p:cNvPr>
          <p:cNvSpPr>
            <a:spLocks xmlns:a="http://schemas.openxmlformats.org/drawingml/2006/main" noGrp="1"/>
          </p:cNvSpPr>
          <p:nvPr/>
        </p:nvSpPr>
        <p:spPr>
          <a:xfrm xmlns:a="http://schemas.openxmlformats.org/drawingml/2006/main">
            <a:off x="990600" y="3886200"/>
            <a:ext cx="4476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417"/>
          </a:bodyPr>
          <a:lstStyle xmlns:a="http://schemas.openxmlformats.org/drawingml/2006/main"/>
          <a:p xmlns:a="http://schemas.openxmlformats.org/drawingml/2006/main">
            <a:pPr algn="l">
              <a:defRPr sz="1200" b="0" i="0">
                <a:solidFill>
                  <a:srgbClr val="5E6B78"/>
                </a:solidFill>
                <a:latin typeface="Aptos"/>
                <a:ea typeface="Aptos"/>
                <a:cs typeface="Aptos"/>
              </a:defRPr>
            </a:pPr>
            <a:r>
              <a:rPr sz="1200" b="0" i="0">
                <a:solidFill>
                  <a:srgbClr val="5E6B78"/>
                </a:solidFill>
                <a:latin typeface="Aptos"/>
                <a:ea typeface="Aptos"/>
                <a:cs typeface="Aptos"/>
              </a:rPr>
              <a:t>Expresses transition rules clearly</a:t>
            </a:r>
          </a:p>
        </p:txBody>
      </p:sp>
      <p:sp>
        <p:nvSpPr>
          <p:cNvPr id="24" name="">
            <a:extLst xmlns:a="http://schemas.openxmlformats.org/drawingml/2006/main">
              <a:ext uri="{FF2B5EF4-FFF2-40B4-BE49-F238E27FC236}">
                <a16:creationId xmlns:a16="http://schemas.microsoft.com/office/drawing/2014/main" id="{B0899689-5DC5-4DC7-97D6-0DB2D36416FD}"/>
              </a:ext>
            </a:extLst>
          </p:cNvPr>
          <p:cNvSpPr>
            <a:spLocks xmlns:a="http://schemas.openxmlformats.org/drawingml/2006/main" noGrp="1"/>
          </p:cNvSpPr>
          <p:nvPr/>
        </p:nvSpPr>
        <p:spPr>
          <a:xfrm xmlns:a="http://schemas.openxmlformats.org/drawingml/2006/main">
            <a:off x="6191250" y="3467100"/>
            <a:ext cx="5105400" cy="838200"/>
          </a:xfrm>
          <a:prstGeom xmlns:a="http://schemas.openxmlformats.org/drawingml/2006/main" prst="roundRect">
            <a:avLst>
              <a:gd name="adj" fmla="val 9091"/>
            </a:avLst>
          </a:prstGeom>
          <a:solidFill xmlns:a="http://schemas.openxmlformats.org/drawingml/2006/main">
            <a:srgbClr val="F7FAFC"/>
          </a:solidFill>
          <a:ln xmlns:a="http://schemas.openxmlformats.org/drawingml/2006/main" w="9525">
            <a:solidFill>
              <a:srgbClr val="D4E1E8"/>
            </a:solidFill>
          </a:ln>
        </p:spPr>
      </p:sp>
      <p:sp>
        <p:nvSpPr>
          <p:cNvPr id="25" name="">
            <a:extLst xmlns:a="http://schemas.openxmlformats.org/drawingml/2006/main">
              <a:ext uri="{FF2B5EF4-FFF2-40B4-BE49-F238E27FC236}">
                <a16:creationId xmlns:a16="http://schemas.microsoft.com/office/drawing/2014/main" id="{1EC14C9C-0CDE-4666-904D-35631FEB7066}"/>
              </a:ext>
            </a:extLst>
          </p:cNvPr>
          <p:cNvSpPr>
            <a:spLocks xmlns:a="http://schemas.openxmlformats.org/drawingml/2006/main" noGrp="1"/>
          </p:cNvSpPr>
          <p:nvPr/>
        </p:nvSpPr>
        <p:spPr>
          <a:xfrm xmlns:a="http://schemas.openxmlformats.org/drawingml/2006/main">
            <a:off x="6191250" y="3467100"/>
            <a:ext cx="76200" cy="838200"/>
          </a:xfrm>
          <a:prstGeom xmlns:a="http://schemas.openxmlformats.org/drawingml/2006/main" prst="rect">
            <a:avLst/>
          </a:prstGeom>
          <a:solidFill xmlns:a="http://schemas.openxmlformats.org/drawingml/2006/main">
            <a:srgbClr val="155E8A"/>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C4A39985-ED1D-407A-A502-84C6B137ED20}"/>
              </a:ext>
            </a:extLst>
          </p:cNvPr>
          <p:cNvSpPr>
            <a:spLocks xmlns:a="http://schemas.openxmlformats.org/drawingml/2006/main" noGrp="1"/>
          </p:cNvSpPr>
          <p:nvPr/>
        </p:nvSpPr>
        <p:spPr>
          <a:xfrm xmlns:a="http://schemas.openxmlformats.org/drawingml/2006/main">
            <a:off x="6457950" y="3581400"/>
            <a:ext cx="180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000"/>
          </a:bodyPr>
          <a:lstStyle xmlns:a="http://schemas.openxmlformats.org/drawingml/2006/main"/>
          <a:p xmlns:a="http://schemas.openxmlformats.org/drawingml/2006/main">
            <a:pPr algn="l">
              <a:defRPr sz="1500" b="1" i="0">
                <a:solidFill>
                  <a:srgbClr val="0B1F33"/>
                </a:solidFill>
                <a:latin typeface="Aptos"/>
                <a:ea typeface="Aptos"/>
                <a:cs typeface="Aptos"/>
              </a:defRPr>
            </a:pPr>
            <a:r>
              <a:rPr sz="1500" b="1" i="0">
                <a:solidFill>
                  <a:srgbClr val="0B1F33"/>
                </a:solidFill>
                <a:latin typeface="Aptos"/>
                <a:ea typeface="Aptos"/>
                <a:cs typeface="Aptos"/>
              </a:rPr>
              <a:t>Attributes</a:t>
            </a:r>
          </a:p>
        </p:txBody>
      </p:sp>
      <p:sp>
        <p:nvSpPr>
          <p:cNvPr id="27" name="">
            <a:extLst xmlns:a="http://schemas.openxmlformats.org/drawingml/2006/main">
              <a:ext uri="{FF2B5EF4-FFF2-40B4-BE49-F238E27FC236}">
                <a16:creationId xmlns:a16="http://schemas.microsoft.com/office/drawing/2014/main" id="{869C19CD-46EF-4B9E-B3F1-EF4635D5097D}"/>
              </a:ext>
            </a:extLst>
          </p:cNvPr>
          <p:cNvSpPr>
            <a:spLocks xmlns:a="http://schemas.openxmlformats.org/drawingml/2006/main" noGrp="1"/>
          </p:cNvSpPr>
          <p:nvPr/>
        </p:nvSpPr>
        <p:spPr>
          <a:xfrm xmlns:a="http://schemas.openxmlformats.org/drawingml/2006/main">
            <a:off x="6457950" y="3886200"/>
            <a:ext cx="4476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417"/>
          </a:bodyPr>
          <a:lstStyle xmlns:a="http://schemas.openxmlformats.org/drawingml/2006/main"/>
          <a:p xmlns:a="http://schemas.openxmlformats.org/drawingml/2006/main">
            <a:pPr algn="l">
              <a:defRPr sz="1200" b="0" i="0">
                <a:solidFill>
                  <a:srgbClr val="5E6B78"/>
                </a:solidFill>
                <a:latin typeface="Aptos"/>
                <a:ea typeface="Aptos"/>
                <a:cs typeface="Aptos"/>
              </a:defRPr>
            </a:pPr>
            <a:r>
              <a:rPr sz="1200" b="0" i="0">
                <a:solidFill>
                  <a:srgbClr val="5E6B78"/>
                </a:solidFill>
                <a:latin typeface="Aptos"/>
                <a:ea typeface="Aptos"/>
                <a:cs typeface="Aptos"/>
              </a:rPr>
              <a:t>Adds structured metadata</a:t>
            </a:r>
          </a:p>
        </p:txBody>
      </p:sp>
      <p:sp>
        <p:nvSpPr>
          <p:cNvPr id="28" name="">
            <a:extLst xmlns:a="http://schemas.openxmlformats.org/drawingml/2006/main">
              <a:ext uri="{FF2B5EF4-FFF2-40B4-BE49-F238E27FC236}">
                <a16:creationId xmlns:a16="http://schemas.microsoft.com/office/drawing/2014/main" id="{54F31340-6D10-4DD0-A0C4-3233414C0E5D}"/>
              </a:ext>
            </a:extLst>
          </p:cNvPr>
          <p:cNvSpPr>
            <a:spLocks xmlns:a="http://schemas.openxmlformats.org/drawingml/2006/main" noGrp="1"/>
          </p:cNvSpPr>
          <p:nvPr/>
        </p:nvSpPr>
        <p:spPr>
          <a:xfrm xmlns:a="http://schemas.openxmlformats.org/drawingml/2006/main">
            <a:off x="723900" y="4572000"/>
            <a:ext cx="5105400" cy="838200"/>
          </a:xfrm>
          <a:prstGeom xmlns:a="http://schemas.openxmlformats.org/drawingml/2006/main" prst="roundRect">
            <a:avLst>
              <a:gd name="adj" fmla="val 9091"/>
            </a:avLst>
          </a:prstGeom>
          <a:solidFill xmlns:a="http://schemas.openxmlformats.org/drawingml/2006/main">
            <a:srgbClr val="EEF5F8"/>
          </a:solidFill>
          <a:ln xmlns:a="http://schemas.openxmlformats.org/drawingml/2006/main" w="9525">
            <a:solidFill>
              <a:srgbClr val="D4E1E8"/>
            </a:solidFill>
          </a:ln>
        </p:spPr>
      </p:sp>
      <p:sp>
        <p:nvSpPr>
          <p:cNvPr id="29" name="">
            <a:extLst xmlns:a="http://schemas.openxmlformats.org/drawingml/2006/main">
              <a:ext uri="{FF2B5EF4-FFF2-40B4-BE49-F238E27FC236}">
                <a16:creationId xmlns:a16="http://schemas.microsoft.com/office/drawing/2014/main" id="{4AE71225-BFE4-4BDE-9280-40159398017F}"/>
              </a:ext>
            </a:extLst>
          </p:cNvPr>
          <p:cNvSpPr>
            <a:spLocks xmlns:a="http://schemas.openxmlformats.org/drawingml/2006/main" noGrp="1"/>
          </p:cNvSpPr>
          <p:nvPr/>
        </p:nvSpPr>
        <p:spPr>
          <a:xfrm xmlns:a="http://schemas.openxmlformats.org/drawingml/2006/main">
            <a:off x="723900" y="4572000"/>
            <a:ext cx="76200" cy="838200"/>
          </a:xfrm>
          <a:prstGeom xmlns:a="http://schemas.openxmlformats.org/drawingml/2006/main" prst="rect">
            <a:avLst/>
          </a:prstGeom>
          <a:solidFill xmlns:a="http://schemas.openxmlformats.org/drawingml/2006/main">
            <a:srgbClr val="22B8A7"/>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F04500D0-CE26-4FC0-A1A8-BAE064021195}"/>
              </a:ext>
            </a:extLst>
          </p:cNvPr>
          <p:cNvSpPr>
            <a:spLocks xmlns:a="http://schemas.openxmlformats.org/drawingml/2006/main" noGrp="1"/>
          </p:cNvSpPr>
          <p:nvPr/>
        </p:nvSpPr>
        <p:spPr>
          <a:xfrm xmlns:a="http://schemas.openxmlformats.org/drawingml/2006/main">
            <a:off x="990600" y="4686300"/>
            <a:ext cx="180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000"/>
          </a:bodyPr>
          <a:lstStyle xmlns:a="http://schemas.openxmlformats.org/drawingml/2006/main"/>
          <a:p xmlns:a="http://schemas.openxmlformats.org/drawingml/2006/main">
            <a:pPr algn="l">
              <a:defRPr sz="1500" b="1" i="0">
                <a:solidFill>
                  <a:srgbClr val="0B1F33"/>
                </a:solidFill>
                <a:latin typeface="Aptos"/>
                <a:ea typeface="Aptos"/>
                <a:cs typeface="Aptos"/>
              </a:defRPr>
            </a:pPr>
            <a:r>
              <a:rPr sz="1500" b="1" i="0">
                <a:solidFill>
                  <a:srgbClr val="0B1F33"/>
                </a:solidFill>
                <a:latin typeface="Aptos"/>
                <a:ea typeface="Aptos"/>
                <a:cs typeface="Aptos"/>
              </a:rPr>
              <a:t>Reflection</a:t>
            </a:r>
          </a:p>
        </p:txBody>
      </p:sp>
      <p:sp>
        <p:nvSpPr>
          <p:cNvPr id="31" name="">
            <a:extLst xmlns:a="http://schemas.openxmlformats.org/drawingml/2006/main">
              <a:ext uri="{FF2B5EF4-FFF2-40B4-BE49-F238E27FC236}">
                <a16:creationId xmlns:a16="http://schemas.microsoft.com/office/drawing/2014/main" id="{3C786508-74F2-48BD-BF74-764D2683B16C}"/>
              </a:ext>
            </a:extLst>
          </p:cNvPr>
          <p:cNvSpPr>
            <a:spLocks xmlns:a="http://schemas.openxmlformats.org/drawingml/2006/main" noGrp="1"/>
          </p:cNvSpPr>
          <p:nvPr/>
        </p:nvSpPr>
        <p:spPr>
          <a:xfrm xmlns:a="http://schemas.openxmlformats.org/drawingml/2006/main">
            <a:off x="990600" y="4991100"/>
            <a:ext cx="4476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417"/>
          </a:bodyPr>
          <a:lstStyle xmlns:a="http://schemas.openxmlformats.org/drawingml/2006/main"/>
          <a:p xmlns:a="http://schemas.openxmlformats.org/drawingml/2006/main">
            <a:pPr algn="l">
              <a:defRPr sz="1200" b="0" i="0">
                <a:solidFill>
                  <a:srgbClr val="5E6B78"/>
                </a:solidFill>
                <a:latin typeface="Aptos"/>
                <a:ea typeface="Aptos"/>
                <a:cs typeface="Aptos"/>
              </a:defRPr>
            </a:pPr>
            <a:r>
              <a:rPr sz="1200" b="0" i="0">
                <a:solidFill>
                  <a:srgbClr val="5E6B78"/>
                </a:solidFill>
                <a:latin typeface="Aptos"/>
                <a:ea typeface="Aptos"/>
                <a:cs typeface="Aptos"/>
              </a:rPr>
              <a:t>Reads metadata at runtime</a:t>
            </a:r>
          </a:p>
        </p:txBody>
      </p:sp>
      <p:sp>
        <p:nvSpPr>
          <p:cNvPr id="32" name="">
            <a:extLst xmlns:a="http://schemas.openxmlformats.org/drawingml/2006/main">
              <a:ext uri="{FF2B5EF4-FFF2-40B4-BE49-F238E27FC236}">
                <a16:creationId xmlns:a16="http://schemas.microsoft.com/office/drawing/2014/main" id="{2FAE920C-92CB-4E43-91ED-B3FC8DD2629B}"/>
              </a:ext>
            </a:extLst>
          </p:cNvPr>
          <p:cNvSpPr>
            <a:spLocks xmlns:a="http://schemas.openxmlformats.org/drawingml/2006/main" noGrp="1"/>
          </p:cNvSpPr>
          <p:nvPr/>
        </p:nvSpPr>
        <p:spPr>
          <a:xfrm xmlns:a="http://schemas.openxmlformats.org/drawingml/2006/main">
            <a:off x="6191250" y="4572000"/>
            <a:ext cx="5105400" cy="838200"/>
          </a:xfrm>
          <a:prstGeom xmlns:a="http://schemas.openxmlformats.org/drawingml/2006/main" prst="roundRect">
            <a:avLst>
              <a:gd name="adj" fmla="val 9091"/>
            </a:avLst>
          </a:prstGeom>
          <a:solidFill xmlns:a="http://schemas.openxmlformats.org/drawingml/2006/main">
            <a:srgbClr val="EEF5F8"/>
          </a:solidFill>
          <a:ln xmlns:a="http://schemas.openxmlformats.org/drawingml/2006/main" w="9525">
            <a:solidFill>
              <a:srgbClr val="D4E1E8"/>
            </a:solidFill>
          </a:ln>
        </p:spPr>
      </p:sp>
      <p:sp>
        <p:nvSpPr>
          <p:cNvPr id="33" name="">
            <a:extLst xmlns:a="http://schemas.openxmlformats.org/drawingml/2006/main">
              <a:ext uri="{FF2B5EF4-FFF2-40B4-BE49-F238E27FC236}">
                <a16:creationId xmlns:a16="http://schemas.microsoft.com/office/drawing/2014/main" id="{A65E3C8D-2028-4467-A327-CFD81FD6F5B1}"/>
              </a:ext>
            </a:extLst>
          </p:cNvPr>
          <p:cNvSpPr>
            <a:spLocks xmlns:a="http://schemas.openxmlformats.org/drawingml/2006/main" noGrp="1"/>
          </p:cNvSpPr>
          <p:nvPr/>
        </p:nvSpPr>
        <p:spPr>
          <a:xfrm xmlns:a="http://schemas.openxmlformats.org/drawingml/2006/main">
            <a:off x="6191250" y="4572000"/>
            <a:ext cx="76200" cy="838200"/>
          </a:xfrm>
          <a:prstGeom xmlns:a="http://schemas.openxmlformats.org/drawingml/2006/main" prst="rect">
            <a:avLst/>
          </a:prstGeom>
          <a:solidFill xmlns:a="http://schemas.openxmlformats.org/drawingml/2006/main">
            <a:srgbClr val="155E8A"/>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FE42551F-D92A-4DA8-834F-BAACE541A86D}"/>
              </a:ext>
            </a:extLst>
          </p:cNvPr>
          <p:cNvSpPr>
            <a:spLocks xmlns:a="http://schemas.openxmlformats.org/drawingml/2006/main" noGrp="1"/>
          </p:cNvSpPr>
          <p:nvPr/>
        </p:nvSpPr>
        <p:spPr>
          <a:xfrm xmlns:a="http://schemas.openxmlformats.org/drawingml/2006/main">
            <a:off x="6457950" y="4686300"/>
            <a:ext cx="180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000"/>
          </a:bodyPr>
          <a:lstStyle xmlns:a="http://schemas.openxmlformats.org/drawingml/2006/main"/>
          <a:p xmlns:a="http://schemas.openxmlformats.org/drawingml/2006/main">
            <a:pPr algn="l">
              <a:defRPr sz="1500" b="1" i="0">
                <a:solidFill>
                  <a:srgbClr val="0B1F33"/>
                </a:solidFill>
                <a:latin typeface="Aptos"/>
                <a:ea typeface="Aptos"/>
                <a:cs typeface="Aptos"/>
              </a:defRPr>
            </a:pPr>
            <a:r>
              <a:rPr sz="1500" b="1" i="0">
                <a:solidFill>
                  <a:srgbClr val="0B1F33"/>
                </a:solidFill>
                <a:latin typeface="Aptos"/>
                <a:ea typeface="Aptos"/>
                <a:cs typeface="Aptos"/>
              </a:rPr>
              <a:t>Exceptions</a:t>
            </a:r>
          </a:p>
        </p:txBody>
      </p:sp>
      <p:sp>
        <p:nvSpPr>
          <p:cNvPr id="35" name="">
            <a:extLst xmlns:a="http://schemas.openxmlformats.org/drawingml/2006/main">
              <a:ext uri="{FF2B5EF4-FFF2-40B4-BE49-F238E27FC236}">
                <a16:creationId xmlns:a16="http://schemas.microsoft.com/office/drawing/2014/main" id="{42CD3C38-6934-4E68-A442-405ECC09265A}"/>
              </a:ext>
            </a:extLst>
          </p:cNvPr>
          <p:cNvSpPr>
            <a:spLocks xmlns:a="http://schemas.openxmlformats.org/drawingml/2006/main" noGrp="1"/>
          </p:cNvSpPr>
          <p:nvPr/>
        </p:nvSpPr>
        <p:spPr>
          <a:xfrm xmlns:a="http://schemas.openxmlformats.org/drawingml/2006/main">
            <a:off x="6457950" y="4991100"/>
            <a:ext cx="4476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417"/>
          </a:bodyPr>
          <a:lstStyle xmlns:a="http://schemas.openxmlformats.org/drawingml/2006/main"/>
          <a:p xmlns:a="http://schemas.openxmlformats.org/drawingml/2006/main">
            <a:pPr algn="l">
              <a:defRPr sz="1200" b="0" i="0">
                <a:solidFill>
                  <a:srgbClr val="5E6B78"/>
                </a:solidFill>
                <a:latin typeface="Aptos"/>
                <a:ea typeface="Aptos"/>
                <a:cs typeface="Aptos"/>
              </a:defRPr>
            </a:pPr>
            <a:r>
              <a:rPr sz="1200" b="0" i="0">
                <a:solidFill>
                  <a:srgbClr val="5E6B78"/>
                </a:solidFill>
                <a:latin typeface="Aptos"/>
                <a:ea typeface="Aptos"/>
                <a:cs typeface="Aptos"/>
              </a:rPr>
              <a:t>Reports invalid business actions</a:t>
            </a:r>
          </a:p>
        </p:txBody>
      </p:sp>
      <p:sp>
        <p:nvSpPr>
          <p:cNvPr id="36" name="">
            <a:extLst xmlns:a="http://schemas.openxmlformats.org/drawingml/2006/main">
              <a:ext uri="{FF2B5EF4-FFF2-40B4-BE49-F238E27FC236}">
                <a16:creationId xmlns:a16="http://schemas.microsoft.com/office/drawing/2014/main" id="{3B0BE081-FCBE-4A77-818E-AC05C949EE04}"/>
              </a:ext>
            </a:extLst>
          </p:cNvPr>
          <p:cNvSpPr>
            <a:spLocks xmlns:a="http://schemas.openxmlformats.org/drawingml/2006/main" noGrp="1"/>
          </p:cNvSpPr>
          <p:nvPr/>
        </p:nvSpPr>
        <p:spPr>
          <a:xfrm xmlns:a="http://schemas.openxmlformats.org/drawingml/2006/main">
            <a:off x="723900" y="5810250"/>
            <a:ext cx="10572750" cy="342900"/>
          </a:xfrm>
          <a:prstGeom xmlns:a="http://schemas.openxmlformats.org/drawingml/2006/main" prst="roundRect">
            <a:avLst>
              <a:gd name="adj" fmla="val 22222"/>
            </a:avLst>
          </a:prstGeom>
          <a:solidFill xmlns:a="http://schemas.openxmlformats.org/drawingml/2006/main">
            <a:srgbClr val="0B1F33"/>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99E665BE-63F4-42FE-8A2A-3C4FA9A7B375}"/>
              </a:ext>
            </a:extLst>
          </p:cNvPr>
          <p:cNvSpPr>
            <a:spLocks xmlns:a="http://schemas.openxmlformats.org/drawingml/2006/main" noGrp="1"/>
          </p:cNvSpPr>
          <p:nvPr/>
        </p:nvSpPr>
        <p:spPr>
          <a:xfrm xmlns:a="http://schemas.openxmlformats.org/drawingml/2006/main">
            <a:off x="933450" y="5838825"/>
            <a:ext cx="10153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ctr">
              <a:defRPr sz="1350" b="1" i="0">
                <a:solidFill>
                  <a:srgbClr val="FFFFFF"/>
                </a:solidFill>
                <a:latin typeface="Aptos"/>
                <a:ea typeface="Aptos"/>
                <a:cs typeface="Aptos"/>
              </a:defRPr>
            </a:pPr>
            <a:r>
              <a:rPr sz="1350" b="1" i="0">
                <a:solidFill>
                  <a:srgbClr val="FFFFFF"/>
                </a:solidFill>
                <a:latin typeface="Aptos"/>
                <a:ea typeface="Aptos"/>
                <a:cs typeface="Aptos"/>
              </a:rPr>
              <a:t>These features make invalid states harder to represent and behaviour easier to understand.</a:t>
            </a:r>
          </a:p>
        </p:txBody>
      </p:sp>
      <p:sp>
        <p:nvSpPr>
          <p:cNvPr id="38" name="">
            <a:extLst xmlns:a="http://schemas.openxmlformats.org/drawingml/2006/main">
              <a:ext uri="{FF2B5EF4-FFF2-40B4-BE49-F238E27FC236}">
                <a16:creationId xmlns:a16="http://schemas.microsoft.com/office/drawing/2014/main" id="{3262A61E-7963-4772-A134-7EAC387ADE64}"/>
              </a:ext>
            </a:extLst>
          </p:cNvPr>
          <p:cNvSpPr>
            <a:spLocks xmlns:a="http://schemas.openxmlformats.org/drawingml/2006/main" noGrp="1"/>
          </p:cNvSpPr>
          <p:nvPr/>
        </p:nvSpPr>
        <p:spPr>
          <a:xfrm xmlns:a="http://schemas.openxmlformats.org/drawingml/2006/main">
            <a:off x="552450" y="6486525"/>
            <a:ext cx="3048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l">
              <a:defRPr sz="825" b="0" i="0">
                <a:solidFill>
                  <a:srgbClr val="5E6B78"/>
                </a:solidFill>
                <a:latin typeface="Aptos"/>
                <a:ea typeface="Aptos"/>
                <a:cs typeface="Aptos"/>
              </a:defRPr>
            </a:pPr>
            <a:r>
              <a:rPr sz="825" b="0" i="0">
                <a:solidFill>
                  <a:srgbClr val="5E6B78"/>
                </a:solidFill>
                <a:latin typeface="Aptos"/>
                <a:ea typeface="Aptos"/>
                <a:cs typeface="Aptos"/>
              </a:rPr>
              <a:t>Modern PHP Order System</a:t>
            </a:r>
          </a:p>
        </p:txBody>
      </p:sp>
      <p:sp>
        <p:nvSpPr>
          <p:cNvPr id="39" name="">
            <a:extLst xmlns:a="http://schemas.openxmlformats.org/drawingml/2006/main">
              <a:ext uri="{FF2B5EF4-FFF2-40B4-BE49-F238E27FC236}">
                <a16:creationId xmlns:a16="http://schemas.microsoft.com/office/drawing/2014/main" id="{464754A6-D2CF-47F3-B697-2B55D048F072}"/>
              </a:ext>
            </a:extLst>
          </p:cNvPr>
          <p:cNvSpPr>
            <a:spLocks xmlns:a="http://schemas.openxmlformats.org/drawingml/2006/main" noGrp="1"/>
          </p:cNvSpPr>
          <p:nvPr/>
        </p:nvSpPr>
        <p:spPr>
          <a:xfrm xmlns:a="http://schemas.openxmlformats.org/drawingml/2006/main">
            <a:off x="11049000" y="6486525"/>
            <a:ext cx="571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r">
              <a:defRPr sz="825" b="1" i="0">
                <a:solidFill>
                  <a:srgbClr val="5E6B78"/>
                </a:solidFill>
                <a:latin typeface="Aptos"/>
                <a:ea typeface="Aptos"/>
                <a:cs typeface="Aptos"/>
              </a:defRPr>
            </a:pPr>
            <a:r>
              <a:rPr sz="825" b="1" i="0">
                <a:solidFill>
                  <a:srgbClr val="5E6B78"/>
                </a:solidFill>
                <a:latin typeface="Aptos"/>
                <a:ea typeface="Aptos"/>
                <a:cs typeface="Aptos"/>
              </a:rPr>
              <a:t>04</a:t>
            </a:r>
          </a:p>
        </p:txBody>
      </p:sp>
    </p:spTree>
    <p:extLst>
      <p:ext uri="{BB962C8B-B14F-4D97-AF65-F5344CB8AC3E}">
        <p14:creationId xmlns:p14="http://schemas.microsoft.com/office/powerpoint/2010/main" val="459091348"/>
      </p:ext>
    </p:extLst>
  </p:cSld>
</p:sld>
</file>

<file path=ppt/slides/slide5.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EFF1E450-3DE4-4C62-B188-2503165C7F45}"/>
              </a:ext>
            </a:extLst>
          </p:cNvPr>
          <p:cNvSpPr>
            <a:spLocks xmlns:a="http://schemas.openxmlformats.org/drawingml/2006/main" noGrp="1"/>
          </p:cNvSpPr>
          <p:nvPr/>
        </p:nvSpPr>
        <p:spPr>
          <a:xfrm xmlns:a="http://schemas.openxmlformats.org/drawingml/2006/main">
            <a:off x="552450" y="342900"/>
            <a:ext cx="5143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1" i="0">
                <a:solidFill>
                  <a:srgbClr val="22B8A7"/>
                </a:solidFill>
                <a:latin typeface="Aptos"/>
                <a:ea typeface="Aptos"/>
                <a:cs typeface="Aptos"/>
              </a:defRPr>
            </a:pPr>
            <a:r>
              <a:rPr sz="1200" b="1" i="0">
                <a:solidFill>
                  <a:srgbClr val="22B8A7"/>
                </a:solidFill>
                <a:latin typeface="Aptos"/>
                <a:ea typeface="Aptos"/>
                <a:cs typeface="Aptos"/>
              </a:rPr>
              <a:t>05</a:t>
            </a:r>
          </a:p>
        </p:txBody>
      </p:sp>
      <p:sp>
        <p:nvSpPr>
          <p:cNvPr id="2" name="">
            <a:extLst xmlns:a="http://schemas.openxmlformats.org/drawingml/2006/main">
              <a:ext uri="{FF2B5EF4-FFF2-40B4-BE49-F238E27FC236}">
                <a16:creationId xmlns:a16="http://schemas.microsoft.com/office/drawing/2014/main" id="{3459A02D-DE16-48A1-BFAC-CB013A9B538E}"/>
              </a:ext>
            </a:extLst>
          </p:cNvPr>
          <p:cNvSpPr>
            <a:spLocks xmlns:a="http://schemas.openxmlformats.org/drawingml/2006/main" noGrp="1"/>
          </p:cNvSpPr>
          <p:nvPr/>
        </p:nvSpPr>
        <p:spPr>
          <a:xfrm xmlns:a="http://schemas.openxmlformats.org/drawingml/2006/main">
            <a:off x="1123950" y="266700"/>
            <a:ext cx="9906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i="0">
                <a:solidFill>
                  <a:srgbClr val="0B1F33"/>
                </a:solidFill>
                <a:latin typeface="Aptos"/>
                <a:ea typeface="Aptos"/>
                <a:cs typeface="Aptos"/>
              </a:defRPr>
            </a:pPr>
            <a:r>
              <a:rPr sz="2550" b="1" i="0">
                <a:solidFill>
                  <a:srgbClr val="0B1F33"/>
                </a:solidFill>
                <a:latin typeface="Aptos"/>
                <a:ea typeface="Aptos"/>
                <a:cs typeface="Aptos"/>
              </a:rPr>
              <a:t>Money value object</a:t>
            </a:r>
          </a:p>
        </p:txBody>
      </p:sp>
      <p:sp>
        <p:nvSpPr>
          <p:cNvPr id="3" name="">
            <a:extLst xmlns:a="http://schemas.openxmlformats.org/drawingml/2006/main">
              <a:ext uri="{FF2B5EF4-FFF2-40B4-BE49-F238E27FC236}">
                <a16:creationId xmlns:a16="http://schemas.microsoft.com/office/drawing/2014/main" id="{A4245CE4-BBCA-44C6-971E-524A03DEEBBC}"/>
              </a:ext>
            </a:extLst>
          </p:cNvPr>
          <p:cNvSpPr>
            <a:spLocks xmlns:a="http://schemas.openxmlformats.org/drawingml/2006/main" noGrp="1"/>
          </p:cNvSpPr>
          <p:nvPr/>
        </p:nvSpPr>
        <p:spPr>
          <a:xfrm xmlns:a="http://schemas.openxmlformats.org/drawingml/2006/main">
            <a:off x="552450" y="895350"/>
            <a:ext cx="11087100" cy="28575"/>
          </a:xfrm>
          <a:prstGeom xmlns:a="http://schemas.openxmlformats.org/drawingml/2006/main" prst="rect">
            <a:avLst/>
          </a:prstGeom>
          <a:solidFill xmlns:a="http://schemas.openxmlformats.org/drawingml/2006/main">
            <a:srgbClr val="22B8A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996B2EE-52FB-4FA7-AF9C-8E9D80CBC06B}"/>
              </a:ext>
            </a:extLst>
          </p:cNvPr>
          <p:cNvSpPr>
            <a:spLocks xmlns:a="http://schemas.openxmlformats.org/drawingml/2006/main" noGrp="1"/>
          </p:cNvSpPr>
          <p:nvPr/>
        </p:nvSpPr>
        <p:spPr>
          <a:xfrm xmlns:a="http://schemas.openxmlformats.org/drawingml/2006/main">
            <a:off x="685800" y="1257300"/>
            <a:ext cx="4953000" cy="4171950"/>
          </a:xfrm>
          <a:prstGeom xmlns:a="http://schemas.openxmlformats.org/drawingml/2006/main" prst="roundRect">
            <a:avLst>
              <a:gd name="adj" fmla="val 1826"/>
            </a:avLst>
          </a:prstGeom>
          <a:solidFill xmlns:a="http://schemas.openxmlformats.org/drawingml/2006/main">
            <a:srgbClr val="0B1F3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F686812-495F-4744-933F-A9BC7CFDB041}"/>
              </a:ext>
            </a:extLst>
          </p:cNvPr>
          <p:cNvSpPr>
            <a:spLocks xmlns:a="http://schemas.openxmlformats.org/drawingml/2006/main" noGrp="1"/>
          </p:cNvSpPr>
          <p:nvPr/>
        </p:nvSpPr>
        <p:spPr>
          <a:xfrm xmlns:a="http://schemas.openxmlformats.org/drawingml/2006/main">
            <a:off x="990600" y="1562100"/>
            <a:ext cx="4286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1" i="0">
                <a:solidFill>
                  <a:srgbClr val="7DE2D1"/>
                </a:solidFill>
                <a:latin typeface="Consolas"/>
                <a:ea typeface="Consolas"/>
                <a:cs typeface="Consolas"/>
              </a:defRPr>
            </a:pPr>
            <a:r>
              <a:rPr sz="1800" b="1" i="0">
                <a:solidFill>
                  <a:srgbClr val="7DE2D1"/>
                </a:solidFill>
                <a:latin typeface="Consolas"/>
                <a:ea typeface="Consolas"/>
                <a:cs typeface="Consolas"/>
              </a:rPr>
              <a:t>final readonly class Money</a:t>
            </a:r>
          </a:p>
        </p:txBody>
      </p:sp>
      <p:sp>
        <p:nvSpPr>
          <p:cNvPr id="6" name="">
            <a:extLst xmlns:a="http://schemas.openxmlformats.org/drawingml/2006/main">
              <a:ext uri="{FF2B5EF4-FFF2-40B4-BE49-F238E27FC236}">
                <a16:creationId xmlns:a16="http://schemas.microsoft.com/office/drawing/2014/main" id="{B7B71CCD-4182-4076-BC30-73260EDB819A}"/>
              </a:ext>
            </a:extLst>
          </p:cNvPr>
          <p:cNvSpPr>
            <a:spLocks xmlns:a="http://schemas.openxmlformats.org/drawingml/2006/main" noGrp="1"/>
          </p:cNvSpPr>
          <p:nvPr/>
        </p:nvSpPr>
        <p:spPr>
          <a:xfrm xmlns:a="http://schemas.openxmlformats.org/drawingml/2006/main">
            <a:off x="990600" y="2266950"/>
            <a:ext cx="40957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0" i="0">
                <a:solidFill>
                  <a:srgbClr val="FFFFFF"/>
                </a:solidFill>
                <a:latin typeface="Consolas"/>
                <a:ea typeface="Consolas"/>
                <a:cs typeface="Consolas"/>
              </a:defRPr>
            </a:pPr>
            <a:r>
              <a:rPr sz="1800" b="0" i="0">
                <a:solidFill>
                  <a:srgbClr val="FFFFFF"/>
                </a:solidFill>
                <a:latin typeface="Consolas"/>
                <a:ea typeface="Consolas"/>
                <a:cs typeface="Consolas"/>
              </a:rPr>
              <a:t>amountInMinorUnits: 150000</a:t>
            </a:r>
          </a:p>
          <a:p xmlns:a="http://schemas.openxmlformats.org/drawingml/2006/main">
            <a:pPr algn="l">
              <a:defRPr sz="1800" b="0" i="0">
                <a:solidFill>
                  <a:srgbClr val="FFFFFF"/>
                </a:solidFill>
                <a:latin typeface="Consolas"/>
                <a:ea typeface="Consolas"/>
                <a:cs typeface="Consolas"/>
              </a:defRPr>
            </a:pPr>
            <a:r>
              <a:rPr sz="1800" b="0" i="0">
                <a:solidFill>
                  <a:srgbClr val="FFFFFF"/>
                </a:solidFill>
                <a:latin typeface="Consolas"/>
                <a:ea typeface="Consolas"/>
                <a:cs typeface="Consolas"/>
              </a:rPr>
              <a:t>currency: INR</a:t>
            </a:r>
          </a:p>
          <a:p xmlns:a="http://schemas.openxmlformats.org/drawingml/2006/main">
            <a:r>
              <a:t/>
            </a:r>
          </a:p>
          <a:p xmlns:a="http://schemas.openxmlformats.org/drawingml/2006/main">
            <a:pPr algn="l">
              <a:defRPr sz="1800" b="0" i="0">
                <a:solidFill>
                  <a:srgbClr val="FFFFFF"/>
                </a:solidFill>
                <a:latin typeface="Consolas"/>
                <a:ea typeface="Consolas"/>
                <a:cs typeface="Consolas"/>
              </a:defRPr>
            </a:pPr>
            <a:r>
              <a:rPr sz="1800" b="0" i="0">
                <a:solidFill>
                  <a:srgbClr val="FFFFFF"/>
                </a:solidFill>
                <a:latin typeface="Consolas"/>
                <a:ea typeface="Consolas"/>
                <a:cs typeface="Consolas"/>
              </a:rPr>
              <a:t>formatted(): INR 1500.00</a:t>
            </a:r>
          </a:p>
        </p:txBody>
      </p:sp>
      <p:sp>
        <p:nvSpPr>
          <p:cNvPr id="7" name="">
            <a:extLst xmlns:a="http://schemas.openxmlformats.org/drawingml/2006/main">
              <a:ext uri="{FF2B5EF4-FFF2-40B4-BE49-F238E27FC236}">
                <a16:creationId xmlns:a16="http://schemas.microsoft.com/office/drawing/2014/main" id="{11229336-8C17-4463-9477-BB1EAAF6AFE3}"/>
              </a:ext>
            </a:extLst>
          </p:cNvPr>
          <p:cNvSpPr>
            <a:spLocks xmlns:a="http://schemas.openxmlformats.org/drawingml/2006/main" noGrp="1"/>
          </p:cNvSpPr>
          <p:nvPr/>
        </p:nvSpPr>
        <p:spPr>
          <a:xfrm xmlns:a="http://schemas.openxmlformats.org/drawingml/2006/main">
            <a:off x="990600" y="4343400"/>
            <a:ext cx="3905250" cy="685800"/>
          </a:xfrm>
          <a:prstGeom xmlns:a="http://schemas.openxmlformats.org/drawingml/2006/main" prst="roundRect">
            <a:avLst>
              <a:gd name="adj" fmla="val 11111"/>
            </a:avLst>
          </a:prstGeom>
          <a:solidFill xmlns:a="http://schemas.openxmlformats.org/drawingml/2006/main">
            <a:srgbClr val="113B59"/>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5B4FD004-E496-4E88-B3FD-A14A6108E4A0}"/>
              </a:ext>
            </a:extLst>
          </p:cNvPr>
          <p:cNvSpPr>
            <a:spLocks xmlns:a="http://schemas.openxmlformats.org/drawingml/2006/main" noGrp="1"/>
          </p:cNvSpPr>
          <p:nvPr/>
        </p:nvSpPr>
        <p:spPr>
          <a:xfrm xmlns:a="http://schemas.openxmlformats.org/drawingml/2006/main">
            <a:off x="1200150" y="4476750"/>
            <a:ext cx="3486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i="0">
                <a:solidFill>
                  <a:srgbClr val="7DE2D1"/>
                </a:solidFill>
                <a:latin typeface="Aptos"/>
                <a:ea typeface="Aptos"/>
                <a:cs typeface="Aptos"/>
              </a:defRPr>
            </a:pPr>
            <a:r>
              <a:rPr sz="1350" b="1" i="0">
                <a:solidFill>
                  <a:srgbClr val="7DE2D1"/>
                </a:solidFill>
                <a:latin typeface="Aptos"/>
                <a:ea typeface="Aptos"/>
                <a:cs typeface="Aptos"/>
              </a:rPr>
              <a:t>No floating-point calculation</a:t>
            </a:r>
          </a:p>
        </p:txBody>
      </p:sp>
      <p:sp>
        <p:nvSpPr>
          <p:cNvPr id="9" name="">
            <a:extLst xmlns:a="http://schemas.openxmlformats.org/drawingml/2006/main">
              <a:ext uri="{FF2B5EF4-FFF2-40B4-BE49-F238E27FC236}">
                <a16:creationId xmlns:a16="http://schemas.microsoft.com/office/drawing/2014/main" id="{6C560740-260A-43F9-A814-A0E1ECC629CB}"/>
              </a:ext>
            </a:extLst>
          </p:cNvPr>
          <p:cNvSpPr>
            <a:spLocks xmlns:a="http://schemas.openxmlformats.org/drawingml/2006/main" noGrp="1"/>
          </p:cNvSpPr>
          <p:nvPr/>
        </p:nvSpPr>
        <p:spPr>
          <a:xfrm xmlns:a="http://schemas.openxmlformats.org/drawingml/2006/main">
            <a:off x="6229350" y="1333500"/>
            <a:ext cx="419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1" i="0">
                <a:solidFill>
                  <a:srgbClr val="22B8A7"/>
                </a:solidFill>
                <a:latin typeface="Aptos"/>
                <a:ea typeface="Aptos"/>
                <a:cs typeface="Aptos"/>
              </a:defRPr>
            </a:pPr>
            <a:r>
              <a:rPr sz="1200" b="1" i="0">
                <a:solidFill>
                  <a:srgbClr val="22B8A7"/>
                </a:solidFill>
                <a:latin typeface="Aptos"/>
                <a:ea typeface="Aptos"/>
                <a:cs typeface="Aptos"/>
              </a:rPr>
              <a:t>01</a:t>
            </a:r>
          </a:p>
        </p:txBody>
      </p:sp>
      <p:sp>
        <p:nvSpPr>
          <p:cNvPr id="10" name="">
            <a:extLst xmlns:a="http://schemas.openxmlformats.org/drawingml/2006/main">
              <a:ext uri="{FF2B5EF4-FFF2-40B4-BE49-F238E27FC236}">
                <a16:creationId xmlns:a16="http://schemas.microsoft.com/office/drawing/2014/main" id="{56E2E1E7-90C1-4559-B93A-557CBE79C065}"/>
              </a:ext>
            </a:extLst>
          </p:cNvPr>
          <p:cNvSpPr>
            <a:spLocks xmlns:a="http://schemas.openxmlformats.org/drawingml/2006/main" noGrp="1"/>
          </p:cNvSpPr>
          <p:nvPr/>
        </p:nvSpPr>
        <p:spPr>
          <a:xfrm xmlns:a="http://schemas.openxmlformats.org/drawingml/2006/main">
            <a:off x="6762750" y="1295400"/>
            <a:ext cx="3714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i="0">
                <a:solidFill>
                  <a:srgbClr val="0B1F33"/>
                </a:solidFill>
                <a:latin typeface="Aptos"/>
                <a:ea typeface="Aptos"/>
                <a:cs typeface="Aptos"/>
              </a:defRPr>
            </a:pPr>
            <a:r>
              <a:rPr sz="1650" b="1" i="0">
                <a:solidFill>
                  <a:srgbClr val="0B1F33"/>
                </a:solidFill>
                <a:latin typeface="Aptos"/>
                <a:ea typeface="Aptos"/>
                <a:cs typeface="Aptos"/>
              </a:rPr>
              <a:t>Minor units</a:t>
            </a:r>
          </a:p>
        </p:txBody>
      </p:sp>
      <p:sp>
        <p:nvSpPr>
          <p:cNvPr id="11" name="">
            <a:extLst xmlns:a="http://schemas.openxmlformats.org/drawingml/2006/main">
              <a:ext uri="{FF2B5EF4-FFF2-40B4-BE49-F238E27FC236}">
                <a16:creationId xmlns:a16="http://schemas.microsoft.com/office/drawing/2014/main" id="{EEA48B82-B247-41C8-A034-CC7B4F55CE5D}"/>
              </a:ext>
            </a:extLst>
          </p:cNvPr>
          <p:cNvSpPr>
            <a:spLocks xmlns:a="http://schemas.openxmlformats.org/drawingml/2006/main" noGrp="1"/>
          </p:cNvSpPr>
          <p:nvPr/>
        </p:nvSpPr>
        <p:spPr>
          <a:xfrm xmlns:a="http://schemas.openxmlformats.org/drawingml/2006/main">
            <a:off x="6762750" y="1676400"/>
            <a:ext cx="4000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i="0">
                <a:solidFill>
                  <a:srgbClr val="5E6B78"/>
                </a:solidFill>
                <a:latin typeface="Aptos"/>
                <a:ea typeface="Aptos"/>
                <a:cs typeface="Aptos"/>
              </a:defRPr>
            </a:pPr>
            <a:r>
              <a:rPr sz="1275" b="0" i="0">
                <a:solidFill>
                  <a:srgbClr val="5E6B78"/>
                </a:solidFill>
                <a:latin typeface="Aptos"/>
                <a:ea typeface="Aptos"/>
                <a:cs typeface="Aptos"/>
              </a:rPr>
              <a:t>Stores paise or cents as integers</a:t>
            </a:r>
          </a:p>
        </p:txBody>
      </p:sp>
      <p:sp>
        <p:nvSpPr>
          <p:cNvPr id="12" name="">
            <a:extLst xmlns:a="http://schemas.openxmlformats.org/drawingml/2006/main">
              <a:ext uri="{FF2B5EF4-FFF2-40B4-BE49-F238E27FC236}">
                <a16:creationId xmlns:a16="http://schemas.microsoft.com/office/drawing/2014/main" id="{A3A5A6D2-783A-43AD-BA89-6258EC129525}"/>
              </a:ext>
            </a:extLst>
          </p:cNvPr>
          <p:cNvSpPr>
            <a:spLocks xmlns:a="http://schemas.openxmlformats.org/drawingml/2006/main" noGrp="1"/>
          </p:cNvSpPr>
          <p:nvPr/>
        </p:nvSpPr>
        <p:spPr>
          <a:xfrm xmlns:a="http://schemas.openxmlformats.org/drawingml/2006/main">
            <a:off x="6229350" y="2362200"/>
            <a:ext cx="419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1" i="0">
                <a:solidFill>
                  <a:srgbClr val="22B8A7"/>
                </a:solidFill>
                <a:latin typeface="Aptos"/>
                <a:ea typeface="Aptos"/>
                <a:cs typeface="Aptos"/>
              </a:defRPr>
            </a:pPr>
            <a:r>
              <a:rPr sz="1200" b="1" i="0">
                <a:solidFill>
                  <a:srgbClr val="22B8A7"/>
                </a:solidFill>
                <a:latin typeface="Aptos"/>
                <a:ea typeface="Aptos"/>
                <a:cs typeface="Aptos"/>
              </a:rPr>
              <a:t>02</a:t>
            </a:r>
          </a:p>
        </p:txBody>
      </p:sp>
      <p:sp>
        <p:nvSpPr>
          <p:cNvPr id="13" name="">
            <a:extLst xmlns:a="http://schemas.openxmlformats.org/drawingml/2006/main">
              <a:ext uri="{FF2B5EF4-FFF2-40B4-BE49-F238E27FC236}">
                <a16:creationId xmlns:a16="http://schemas.microsoft.com/office/drawing/2014/main" id="{51DD5E81-62B8-427F-8423-75504030076F}"/>
              </a:ext>
            </a:extLst>
          </p:cNvPr>
          <p:cNvSpPr>
            <a:spLocks xmlns:a="http://schemas.openxmlformats.org/drawingml/2006/main" noGrp="1"/>
          </p:cNvSpPr>
          <p:nvPr/>
        </p:nvSpPr>
        <p:spPr>
          <a:xfrm xmlns:a="http://schemas.openxmlformats.org/drawingml/2006/main">
            <a:off x="6762750" y="2324100"/>
            <a:ext cx="3714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i="0">
                <a:solidFill>
                  <a:srgbClr val="0B1F33"/>
                </a:solidFill>
                <a:latin typeface="Aptos"/>
                <a:ea typeface="Aptos"/>
                <a:cs typeface="Aptos"/>
              </a:defRPr>
            </a:pPr>
            <a:r>
              <a:rPr sz="1650" b="1" i="0">
                <a:solidFill>
                  <a:srgbClr val="0B1F33"/>
                </a:solidFill>
                <a:latin typeface="Aptos"/>
                <a:ea typeface="Aptos"/>
                <a:cs typeface="Aptos"/>
              </a:rPr>
              <a:t>Validation</a:t>
            </a:r>
          </a:p>
        </p:txBody>
      </p:sp>
      <p:sp>
        <p:nvSpPr>
          <p:cNvPr id="14" name="">
            <a:extLst xmlns:a="http://schemas.openxmlformats.org/drawingml/2006/main">
              <a:ext uri="{FF2B5EF4-FFF2-40B4-BE49-F238E27FC236}">
                <a16:creationId xmlns:a16="http://schemas.microsoft.com/office/drawing/2014/main" id="{15BE3F9F-2770-4406-B181-93B97B999402}"/>
              </a:ext>
            </a:extLst>
          </p:cNvPr>
          <p:cNvSpPr>
            <a:spLocks xmlns:a="http://schemas.openxmlformats.org/drawingml/2006/main" noGrp="1"/>
          </p:cNvSpPr>
          <p:nvPr/>
        </p:nvSpPr>
        <p:spPr>
          <a:xfrm xmlns:a="http://schemas.openxmlformats.org/drawingml/2006/main">
            <a:off x="6762750" y="2705100"/>
            <a:ext cx="4000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132"/>
          </a:bodyPr>
          <a:lstStyle xmlns:a="http://schemas.openxmlformats.org/drawingml/2006/main"/>
          <a:p xmlns:a="http://schemas.openxmlformats.org/drawingml/2006/main">
            <a:pPr algn="l">
              <a:defRPr sz="1275" b="0" i="0">
                <a:solidFill>
                  <a:srgbClr val="5E6B78"/>
                </a:solidFill>
                <a:latin typeface="Aptos"/>
                <a:ea typeface="Aptos"/>
                <a:cs typeface="Aptos"/>
              </a:defRPr>
            </a:pPr>
            <a:r>
              <a:rPr sz="1275" b="0" i="0">
                <a:solidFill>
                  <a:srgbClr val="5E6B78"/>
                </a:solidFill>
                <a:latin typeface="Aptos"/>
                <a:ea typeface="Aptos"/>
                <a:cs typeface="Aptos"/>
              </a:rPr>
              <a:t>Requires a non-negative amount and a 3-letter currency</a:t>
            </a:r>
          </a:p>
        </p:txBody>
      </p:sp>
      <p:sp>
        <p:nvSpPr>
          <p:cNvPr id="15" name="">
            <a:extLst xmlns:a="http://schemas.openxmlformats.org/drawingml/2006/main">
              <a:ext uri="{FF2B5EF4-FFF2-40B4-BE49-F238E27FC236}">
                <a16:creationId xmlns:a16="http://schemas.microsoft.com/office/drawing/2014/main" id="{F2AB09F4-77AF-4DFB-B752-CB9C07AE39E4}"/>
              </a:ext>
            </a:extLst>
          </p:cNvPr>
          <p:cNvSpPr>
            <a:spLocks xmlns:a="http://schemas.openxmlformats.org/drawingml/2006/main" noGrp="1"/>
          </p:cNvSpPr>
          <p:nvPr/>
        </p:nvSpPr>
        <p:spPr>
          <a:xfrm xmlns:a="http://schemas.openxmlformats.org/drawingml/2006/main">
            <a:off x="6229350" y="3390900"/>
            <a:ext cx="419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1" i="0">
                <a:solidFill>
                  <a:srgbClr val="22B8A7"/>
                </a:solidFill>
                <a:latin typeface="Aptos"/>
                <a:ea typeface="Aptos"/>
                <a:cs typeface="Aptos"/>
              </a:defRPr>
            </a:pPr>
            <a:r>
              <a:rPr sz="1200" b="1" i="0">
                <a:solidFill>
                  <a:srgbClr val="22B8A7"/>
                </a:solidFill>
                <a:latin typeface="Aptos"/>
                <a:ea typeface="Aptos"/>
                <a:cs typeface="Aptos"/>
              </a:rPr>
              <a:t>03</a:t>
            </a:r>
          </a:p>
        </p:txBody>
      </p:sp>
      <p:sp>
        <p:nvSpPr>
          <p:cNvPr id="16" name="">
            <a:extLst xmlns:a="http://schemas.openxmlformats.org/drawingml/2006/main">
              <a:ext uri="{FF2B5EF4-FFF2-40B4-BE49-F238E27FC236}">
                <a16:creationId xmlns:a16="http://schemas.microsoft.com/office/drawing/2014/main" id="{5CF8CF28-49AC-4CE1-8E68-0AC7683A7C04}"/>
              </a:ext>
            </a:extLst>
          </p:cNvPr>
          <p:cNvSpPr>
            <a:spLocks xmlns:a="http://schemas.openxmlformats.org/drawingml/2006/main" noGrp="1"/>
          </p:cNvSpPr>
          <p:nvPr/>
        </p:nvSpPr>
        <p:spPr>
          <a:xfrm xmlns:a="http://schemas.openxmlformats.org/drawingml/2006/main">
            <a:off x="6762750" y="3352800"/>
            <a:ext cx="3714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i="0">
                <a:solidFill>
                  <a:srgbClr val="0B1F33"/>
                </a:solidFill>
                <a:latin typeface="Aptos"/>
                <a:ea typeface="Aptos"/>
                <a:cs typeface="Aptos"/>
              </a:defRPr>
            </a:pPr>
            <a:r>
              <a:rPr sz="1650" b="1" i="0">
                <a:solidFill>
                  <a:srgbClr val="0B1F33"/>
                </a:solidFill>
                <a:latin typeface="Aptos"/>
                <a:ea typeface="Aptos"/>
                <a:cs typeface="Aptos"/>
              </a:rPr>
              <a:t>Immutability</a:t>
            </a:r>
          </a:p>
        </p:txBody>
      </p:sp>
      <p:sp>
        <p:nvSpPr>
          <p:cNvPr id="17" name="">
            <a:extLst xmlns:a="http://schemas.openxmlformats.org/drawingml/2006/main">
              <a:ext uri="{FF2B5EF4-FFF2-40B4-BE49-F238E27FC236}">
                <a16:creationId xmlns:a16="http://schemas.microsoft.com/office/drawing/2014/main" id="{68055D67-AAF9-4005-9441-F62DD3D2A7CB}"/>
              </a:ext>
            </a:extLst>
          </p:cNvPr>
          <p:cNvSpPr>
            <a:spLocks xmlns:a="http://schemas.openxmlformats.org/drawingml/2006/main" noGrp="1"/>
          </p:cNvSpPr>
          <p:nvPr/>
        </p:nvSpPr>
        <p:spPr>
          <a:xfrm xmlns:a="http://schemas.openxmlformats.org/drawingml/2006/main">
            <a:off x="6762750" y="3733800"/>
            <a:ext cx="4000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i="0">
                <a:solidFill>
                  <a:srgbClr val="5E6B78"/>
                </a:solidFill>
                <a:latin typeface="Aptos"/>
                <a:ea typeface="Aptos"/>
                <a:cs typeface="Aptos"/>
              </a:defRPr>
            </a:pPr>
            <a:r>
              <a:rPr sz="1275" b="0" i="0">
                <a:solidFill>
                  <a:srgbClr val="5E6B78"/>
                </a:solidFill>
                <a:latin typeface="Aptos"/>
                <a:ea typeface="Aptos"/>
                <a:cs typeface="Aptos"/>
              </a:rPr>
              <a:t>Calculations return a new Money object</a:t>
            </a:r>
          </a:p>
        </p:txBody>
      </p:sp>
      <p:sp>
        <p:nvSpPr>
          <p:cNvPr id="18" name="">
            <a:extLst xmlns:a="http://schemas.openxmlformats.org/drawingml/2006/main">
              <a:ext uri="{FF2B5EF4-FFF2-40B4-BE49-F238E27FC236}">
                <a16:creationId xmlns:a16="http://schemas.microsoft.com/office/drawing/2014/main" id="{0E76178E-3AE7-4220-A632-F5A6090E79B8}"/>
              </a:ext>
            </a:extLst>
          </p:cNvPr>
          <p:cNvSpPr>
            <a:spLocks xmlns:a="http://schemas.openxmlformats.org/drawingml/2006/main" noGrp="1"/>
          </p:cNvSpPr>
          <p:nvPr/>
        </p:nvSpPr>
        <p:spPr>
          <a:xfrm xmlns:a="http://schemas.openxmlformats.org/drawingml/2006/main">
            <a:off x="6229350" y="4419600"/>
            <a:ext cx="419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1" i="0">
                <a:solidFill>
                  <a:srgbClr val="22B8A7"/>
                </a:solidFill>
                <a:latin typeface="Aptos"/>
                <a:ea typeface="Aptos"/>
                <a:cs typeface="Aptos"/>
              </a:defRPr>
            </a:pPr>
            <a:r>
              <a:rPr sz="1200" b="1" i="0">
                <a:solidFill>
                  <a:srgbClr val="22B8A7"/>
                </a:solidFill>
                <a:latin typeface="Aptos"/>
                <a:ea typeface="Aptos"/>
                <a:cs typeface="Aptos"/>
              </a:rPr>
              <a:t>04</a:t>
            </a:r>
          </a:p>
        </p:txBody>
      </p:sp>
      <p:sp>
        <p:nvSpPr>
          <p:cNvPr id="19" name="">
            <a:extLst xmlns:a="http://schemas.openxmlformats.org/drawingml/2006/main">
              <a:ext uri="{FF2B5EF4-FFF2-40B4-BE49-F238E27FC236}">
                <a16:creationId xmlns:a16="http://schemas.microsoft.com/office/drawing/2014/main" id="{616ED939-13D2-4E54-8CF8-5220B57C06A8}"/>
              </a:ext>
            </a:extLst>
          </p:cNvPr>
          <p:cNvSpPr>
            <a:spLocks xmlns:a="http://schemas.openxmlformats.org/drawingml/2006/main" noGrp="1"/>
          </p:cNvSpPr>
          <p:nvPr/>
        </p:nvSpPr>
        <p:spPr>
          <a:xfrm xmlns:a="http://schemas.openxmlformats.org/drawingml/2006/main">
            <a:off x="6762750" y="4381500"/>
            <a:ext cx="3714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i="0">
                <a:solidFill>
                  <a:srgbClr val="0B1F33"/>
                </a:solidFill>
                <a:latin typeface="Aptos"/>
                <a:ea typeface="Aptos"/>
                <a:cs typeface="Aptos"/>
              </a:defRPr>
            </a:pPr>
            <a:r>
              <a:rPr sz="1650" b="1" i="0">
                <a:solidFill>
                  <a:srgbClr val="0B1F33"/>
                </a:solidFill>
                <a:latin typeface="Aptos"/>
                <a:ea typeface="Aptos"/>
                <a:cs typeface="Aptos"/>
              </a:rPr>
              <a:t>Safe addition</a:t>
            </a:r>
          </a:p>
        </p:txBody>
      </p:sp>
      <p:sp>
        <p:nvSpPr>
          <p:cNvPr id="20" name="">
            <a:extLst xmlns:a="http://schemas.openxmlformats.org/drawingml/2006/main">
              <a:ext uri="{FF2B5EF4-FFF2-40B4-BE49-F238E27FC236}">
                <a16:creationId xmlns:a16="http://schemas.microsoft.com/office/drawing/2014/main" id="{DF7C76AB-B1A2-4F75-BF07-16D742CF5E3D}"/>
              </a:ext>
            </a:extLst>
          </p:cNvPr>
          <p:cNvSpPr>
            <a:spLocks xmlns:a="http://schemas.openxmlformats.org/drawingml/2006/main" noGrp="1"/>
          </p:cNvSpPr>
          <p:nvPr/>
        </p:nvSpPr>
        <p:spPr>
          <a:xfrm xmlns:a="http://schemas.openxmlformats.org/drawingml/2006/main">
            <a:off x="6762750" y="4762500"/>
            <a:ext cx="4000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i="0">
                <a:solidFill>
                  <a:srgbClr val="5E6B78"/>
                </a:solidFill>
                <a:latin typeface="Aptos"/>
                <a:ea typeface="Aptos"/>
                <a:cs typeface="Aptos"/>
              </a:defRPr>
            </a:pPr>
            <a:r>
              <a:rPr sz="1275" b="0" i="0">
                <a:solidFill>
                  <a:srgbClr val="5E6B78"/>
                </a:solidFill>
                <a:latin typeface="Aptos"/>
                <a:ea typeface="Aptos"/>
                <a:cs typeface="Aptos"/>
              </a:rPr>
              <a:t>Rejects different currencies before adding</a:t>
            </a:r>
          </a:p>
        </p:txBody>
      </p:sp>
      <p:sp>
        <p:nvSpPr>
          <p:cNvPr id="21" name="">
            <a:extLst xmlns:a="http://schemas.openxmlformats.org/drawingml/2006/main">
              <a:ext uri="{FF2B5EF4-FFF2-40B4-BE49-F238E27FC236}">
                <a16:creationId xmlns:a16="http://schemas.microsoft.com/office/drawing/2014/main" id="{3310BDA6-E446-4097-9651-D745F2402712}"/>
              </a:ext>
            </a:extLst>
          </p:cNvPr>
          <p:cNvSpPr>
            <a:spLocks xmlns:a="http://schemas.openxmlformats.org/drawingml/2006/main" noGrp="1"/>
          </p:cNvSpPr>
          <p:nvPr/>
        </p:nvSpPr>
        <p:spPr>
          <a:xfrm xmlns:a="http://schemas.openxmlformats.org/drawingml/2006/main">
            <a:off x="552450" y="6486525"/>
            <a:ext cx="3048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l">
              <a:defRPr sz="825" b="0" i="0">
                <a:solidFill>
                  <a:srgbClr val="5E6B78"/>
                </a:solidFill>
                <a:latin typeface="Aptos"/>
                <a:ea typeface="Aptos"/>
                <a:cs typeface="Aptos"/>
              </a:defRPr>
            </a:pPr>
            <a:r>
              <a:rPr sz="825" b="0" i="0">
                <a:solidFill>
                  <a:srgbClr val="5E6B78"/>
                </a:solidFill>
                <a:latin typeface="Aptos"/>
                <a:ea typeface="Aptos"/>
                <a:cs typeface="Aptos"/>
              </a:rPr>
              <a:t>Modern PHP Order System</a:t>
            </a:r>
          </a:p>
        </p:txBody>
      </p:sp>
      <p:sp>
        <p:nvSpPr>
          <p:cNvPr id="22" name="">
            <a:extLst xmlns:a="http://schemas.openxmlformats.org/drawingml/2006/main">
              <a:ext uri="{FF2B5EF4-FFF2-40B4-BE49-F238E27FC236}">
                <a16:creationId xmlns:a16="http://schemas.microsoft.com/office/drawing/2014/main" id="{518D7D1D-F27D-4E30-BAE5-F0C9AA282AB5}"/>
              </a:ext>
            </a:extLst>
          </p:cNvPr>
          <p:cNvSpPr>
            <a:spLocks xmlns:a="http://schemas.openxmlformats.org/drawingml/2006/main" noGrp="1"/>
          </p:cNvSpPr>
          <p:nvPr/>
        </p:nvSpPr>
        <p:spPr>
          <a:xfrm xmlns:a="http://schemas.openxmlformats.org/drawingml/2006/main">
            <a:off x="11049000" y="6486525"/>
            <a:ext cx="571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r">
              <a:defRPr sz="825" b="1" i="0">
                <a:solidFill>
                  <a:srgbClr val="5E6B78"/>
                </a:solidFill>
                <a:latin typeface="Aptos"/>
                <a:ea typeface="Aptos"/>
                <a:cs typeface="Aptos"/>
              </a:defRPr>
            </a:pPr>
            <a:r>
              <a:rPr sz="825" b="1" i="0">
                <a:solidFill>
                  <a:srgbClr val="5E6B78"/>
                </a:solidFill>
                <a:latin typeface="Aptos"/>
                <a:ea typeface="Aptos"/>
                <a:cs typeface="Aptos"/>
              </a:rPr>
              <a:t>05</a:t>
            </a:r>
          </a:p>
        </p:txBody>
      </p:sp>
    </p:spTree>
    <p:extLst>
      <p:ext uri="{BB962C8B-B14F-4D97-AF65-F5344CB8AC3E}">
        <p14:creationId xmlns:p14="http://schemas.microsoft.com/office/powerpoint/2010/main" val="30187992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CBB5ED2D-6675-4560-A240-8C2C99BF25F6}"/>
              </a:ext>
            </a:extLst>
          </p:cNvPr>
          <p:cNvSpPr>
            <a:spLocks xmlns:a="http://schemas.openxmlformats.org/drawingml/2006/main" noGrp="1"/>
          </p:cNvSpPr>
          <p:nvPr/>
        </p:nvSpPr>
        <p:spPr>
          <a:xfrm xmlns:a="http://schemas.openxmlformats.org/drawingml/2006/main">
            <a:off x="552450" y="342900"/>
            <a:ext cx="5143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1" i="0">
                <a:solidFill>
                  <a:srgbClr val="22B8A7"/>
                </a:solidFill>
                <a:latin typeface="Aptos"/>
                <a:ea typeface="Aptos"/>
                <a:cs typeface="Aptos"/>
              </a:defRPr>
            </a:pPr>
            <a:r>
              <a:rPr sz="1200" b="1" i="0">
                <a:solidFill>
                  <a:srgbClr val="22B8A7"/>
                </a:solidFill>
                <a:latin typeface="Aptos"/>
                <a:ea typeface="Aptos"/>
                <a:cs typeface="Aptos"/>
              </a:rPr>
              <a:t>06</a:t>
            </a:r>
          </a:p>
        </p:txBody>
      </p:sp>
      <p:sp>
        <p:nvSpPr>
          <p:cNvPr id="2" name="">
            <a:extLst xmlns:a="http://schemas.openxmlformats.org/drawingml/2006/main">
              <a:ext uri="{FF2B5EF4-FFF2-40B4-BE49-F238E27FC236}">
                <a16:creationId xmlns:a16="http://schemas.microsoft.com/office/drawing/2014/main" id="{7DA3DCE0-0388-48CC-BC6F-9B005473C756}"/>
              </a:ext>
            </a:extLst>
          </p:cNvPr>
          <p:cNvSpPr>
            <a:spLocks xmlns:a="http://schemas.openxmlformats.org/drawingml/2006/main" noGrp="1"/>
          </p:cNvSpPr>
          <p:nvPr/>
        </p:nvSpPr>
        <p:spPr>
          <a:xfrm xmlns:a="http://schemas.openxmlformats.org/drawingml/2006/main">
            <a:off x="1123950" y="266700"/>
            <a:ext cx="9906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i="0">
                <a:solidFill>
                  <a:srgbClr val="0B1F33"/>
                </a:solidFill>
                <a:latin typeface="Aptos"/>
                <a:ea typeface="Aptos"/>
                <a:cs typeface="Aptos"/>
              </a:defRPr>
            </a:pPr>
            <a:r>
              <a:rPr sz="2550" b="1" i="0">
                <a:solidFill>
                  <a:srgbClr val="0B1F33"/>
                </a:solidFill>
                <a:latin typeface="Aptos"/>
                <a:ea typeface="Aptos"/>
                <a:cs typeface="Aptos"/>
              </a:rPr>
              <a:t>Order lifecycle and protected transitions</a:t>
            </a:r>
          </a:p>
        </p:txBody>
      </p:sp>
      <p:sp>
        <p:nvSpPr>
          <p:cNvPr id="3" name="">
            <a:extLst xmlns:a="http://schemas.openxmlformats.org/drawingml/2006/main">
              <a:ext uri="{FF2B5EF4-FFF2-40B4-BE49-F238E27FC236}">
                <a16:creationId xmlns:a16="http://schemas.microsoft.com/office/drawing/2014/main" id="{F912E6D8-692F-495D-926A-B29654E50A6D}"/>
              </a:ext>
            </a:extLst>
          </p:cNvPr>
          <p:cNvSpPr>
            <a:spLocks xmlns:a="http://schemas.openxmlformats.org/drawingml/2006/main" noGrp="1"/>
          </p:cNvSpPr>
          <p:nvPr/>
        </p:nvSpPr>
        <p:spPr>
          <a:xfrm xmlns:a="http://schemas.openxmlformats.org/drawingml/2006/main">
            <a:off x="552450" y="895350"/>
            <a:ext cx="11087100" cy="28575"/>
          </a:xfrm>
          <a:prstGeom xmlns:a="http://schemas.openxmlformats.org/drawingml/2006/main" prst="rect">
            <a:avLst/>
          </a:prstGeom>
          <a:solidFill xmlns:a="http://schemas.openxmlformats.org/drawingml/2006/main">
            <a:srgbClr val="22B8A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28D0029-3BB3-4670-B9E6-F0A5120F2680}"/>
              </a:ext>
            </a:extLst>
          </p:cNvPr>
          <p:cNvSpPr>
            <a:spLocks xmlns:a="http://schemas.openxmlformats.org/drawingml/2006/main" noGrp="1"/>
          </p:cNvSpPr>
          <p:nvPr/>
        </p:nvSpPr>
        <p:spPr>
          <a:xfrm xmlns:a="http://schemas.openxmlformats.org/drawingml/2006/main">
            <a:off x="838200" y="1924050"/>
            <a:ext cx="2381250" cy="857250"/>
          </a:xfrm>
          <a:prstGeom xmlns:a="http://schemas.openxmlformats.org/drawingml/2006/main" prst="roundRect">
            <a:avLst>
              <a:gd name="adj" fmla="val 8889"/>
            </a:avLst>
          </a:prstGeom>
          <a:solidFill xmlns:a="http://schemas.openxmlformats.org/drawingml/2006/main">
            <a:srgbClr val="155E8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808AE68-CCA1-4ECC-9C38-2D40FDDE7489}"/>
              </a:ext>
            </a:extLst>
          </p:cNvPr>
          <p:cNvSpPr>
            <a:spLocks xmlns:a="http://schemas.openxmlformats.org/drawingml/2006/main" noGrp="1"/>
          </p:cNvSpPr>
          <p:nvPr/>
        </p:nvSpPr>
        <p:spPr>
          <a:xfrm xmlns:a="http://schemas.openxmlformats.org/drawingml/2006/main">
            <a:off x="1009650" y="2114550"/>
            <a:ext cx="20383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00" b="1" i="0">
                <a:solidFill>
                  <a:srgbClr val="FFFFFF"/>
                </a:solidFill>
                <a:latin typeface="Aptos"/>
                <a:ea typeface="Aptos"/>
                <a:cs typeface="Aptos"/>
              </a:defRPr>
            </a:pPr>
            <a:r>
              <a:rPr sz="1800" b="1" i="0">
                <a:solidFill>
                  <a:srgbClr val="FFFFFF"/>
                </a:solidFill>
                <a:latin typeface="Aptos"/>
                <a:ea typeface="Aptos"/>
                <a:cs typeface="Aptos"/>
              </a:rPr>
              <a:t>PENDING</a:t>
            </a:r>
          </a:p>
        </p:txBody>
      </p:sp>
      <p:sp>
        <p:nvSpPr>
          <p:cNvPr id="6" name="">
            <a:extLst xmlns:a="http://schemas.openxmlformats.org/drawingml/2006/main">
              <a:ext uri="{FF2B5EF4-FFF2-40B4-BE49-F238E27FC236}">
                <a16:creationId xmlns:a16="http://schemas.microsoft.com/office/drawing/2014/main" id="{EE7345A7-14E0-448B-8C3E-6B150A6375CF}"/>
              </a:ext>
            </a:extLst>
          </p:cNvPr>
          <p:cNvSpPr>
            <a:spLocks xmlns:a="http://schemas.openxmlformats.org/drawingml/2006/main" noGrp="1"/>
          </p:cNvSpPr>
          <p:nvPr/>
        </p:nvSpPr>
        <p:spPr>
          <a:xfrm xmlns:a="http://schemas.openxmlformats.org/drawingml/2006/main">
            <a:off x="4114800" y="1924050"/>
            <a:ext cx="2381250" cy="857250"/>
          </a:xfrm>
          <a:prstGeom xmlns:a="http://schemas.openxmlformats.org/drawingml/2006/main" prst="roundRect">
            <a:avLst>
              <a:gd name="adj" fmla="val 8889"/>
            </a:avLst>
          </a:prstGeom>
          <a:solidFill xmlns:a="http://schemas.openxmlformats.org/drawingml/2006/main">
            <a:srgbClr val="22B8A7"/>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B9B01A3-7D5E-4263-8669-CF4FB83747EB}"/>
              </a:ext>
            </a:extLst>
          </p:cNvPr>
          <p:cNvSpPr>
            <a:spLocks xmlns:a="http://schemas.openxmlformats.org/drawingml/2006/main" noGrp="1"/>
          </p:cNvSpPr>
          <p:nvPr/>
        </p:nvSpPr>
        <p:spPr>
          <a:xfrm xmlns:a="http://schemas.openxmlformats.org/drawingml/2006/main">
            <a:off x="4286250" y="2114550"/>
            <a:ext cx="20383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00" b="1" i="0">
                <a:solidFill>
                  <a:srgbClr val="FFFFFF"/>
                </a:solidFill>
                <a:latin typeface="Aptos"/>
                <a:ea typeface="Aptos"/>
                <a:cs typeface="Aptos"/>
              </a:defRPr>
            </a:pPr>
            <a:r>
              <a:rPr sz="1800" b="1" i="0">
                <a:solidFill>
                  <a:srgbClr val="FFFFFF"/>
                </a:solidFill>
                <a:latin typeface="Aptos"/>
                <a:ea typeface="Aptos"/>
                <a:cs typeface="Aptos"/>
              </a:rPr>
              <a:t>PROCESSING</a:t>
            </a:r>
          </a:p>
        </p:txBody>
      </p:sp>
      <p:sp>
        <p:nvSpPr>
          <p:cNvPr id="8" name="">
            <a:extLst xmlns:a="http://schemas.openxmlformats.org/drawingml/2006/main">
              <a:ext uri="{FF2B5EF4-FFF2-40B4-BE49-F238E27FC236}">
                <a16:creationId xmlns:a16="http://schemas.microsoft.com/office/drawing/2014/main" id="{EDED38BE-AB91-4954-AF6C-EA90C40423A7}"/>
              </a:ext>
            </a:extLst>
          </p:cNvPr>
          <p:cNvSpPr>
            <a:spLocks xmlns:a="http://schemas.openxmlformats.org/drawingml/2006/main" noGrp="1"/>
          </p:cNvSpPr>
          <p:nvPr/>
        </p:nvSpPr>
        <p:spPr>
          <a:xfrm xmlns:a="http://schemas.openxmlformats.org/drawingml/2006/main">
            <a:off x="7943850" y="1314450"/>
            <a:ext cx="2381250" cy="857250"/>
          </a:xfrm>
          <a:prstGeom xmlns:a="http://schemas.openxmlformats.org/drawingml/2006/main" prst="roundRect">
            <a:avLst>
              <a:gd name="adj" fmla="val 8889"/>
            </a:avLst>
          </a:prstGeom>
          <a:solidFill xmlns:a="http://schemas.openxmlformats.org/drawingml/2006/main">
            <a:srgbClr val="318B6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04F2B72-73E4-44C2-B5CE-AC07DE1F6A74}"/>
              </a:ext>
            </a:extLst>
          </p:cNvPr>
          <p:cNvSpPr>
            <a:spLocks xmlns:a="http://schemas.openxmlformats.org/drawingml/2006/main" noGrp="1"/>
          </p:cNvSpPr>
          <p:nvPr/>
        </p:nvSpPr>
        <p:spPr>
          <a:xfrm xmlns:a="http://schemas.openxmlformats.org/drawingml/2006/main">
            <a:off x="8115300" y="1504950"/>
            <a:ext cx="20383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00" b="1" i="0">
                <a:solidFill>
                  <a:srgbClr val="FFFFFF"/>
                </a:solidFill>
                <a:latin typeface="Aptos"/>
                <a:ea typeface="Aptos"/>
                <a:cs typeface="Aptos"/>
              </a:defRPr>
            </a:pPr>
            <a:r>
              <a:rPr sz="1800" b="1" i="0">
                <a:solidFill>
                  <a:srgbClr val="FFFFFF"/>
                </a:solidFill>
                <a:latin typeface="Aptos"/>
                <a:ea typeface="Aptos"/>
                <a:cs typeface="Aptos"/>
              </a:rPr>
              <a:t>COMPLETED</a:t>
            </a:r>
          </a:p>
        </p:txBody>
      </p:sp>
      <p:sp>
        <p:nvSpPr>
          <p:cNvPr id="10" name="">
            <a:extLst xmlns:a="http://schemas.openxmlformats.org/drawingml/2006/main">
              <a:ext uri="{FF2B5EF4-FFF2-40B4-BE49-F238E27FC236}">
                <a16:creationId xmlns:a16="http://schemas.microsoft.com/office/drawing/2014/main" id="{1C83E615-6791-4ED6-A5C4-CEDFE2A1AB24}"/>
              </a:ext>
            </a:extLst>
          </p:cNvPr>
          <p:cNvSpPr>
            <a:spLocks xmlns:a="http://schemas.openxmlformats.org/drawingml/2006/main" noGrp="1"/>
          </p:cNvSpPr>
          <p:nvPr/>
        </p:nvSpPr>
        <p:spPr>
          <a:xfrm xmlns:a="http://schemas.openxmlformats.org/drawingml/2006/main">
            <a:off x="7943850" y="3143250"/>
            <a:ext cx="2381250" cy="857250"/>
          </a:xfrm>
          <a:prstGeom xmlns:a="http://schemas.openxmlformats.org/drawingml/2006/main" prst="roundRect">
            <a:avLst>
              <a:gd name="adj" fmla="val 8889"/>
            </a:avLst>
          </a:prstGeom>
          <a:solidFill xmlns:a="http://schemas.openxmlformats.org/drawingml/2006/main">
            <a:srgbClr val="D95D5D"/>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FF2AA648-9953-489A-B91E-57EB9A23A6B0}"/>
              </a:ext>
            </a:extLst>
          </p:cNvPr>
          <p:cNvSpPr>
            <a:spLocks xmlns:a="http://schemas.openxmlformats.org/drawingml/2006/main" noGrp="1"/>
          </p:cNvSpPr>
          <p:nvPr/>
        </p:nvSpPr>
        <p:spPr>
          <a:xfrm xmlns:a="http://schemas.openxmlformats.org/drawingml/2006/main">
            <a:off x="8115300" y="3333750"/>
            <a:ext cx="20383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00" b="1" i="0">
                <a:solidFill>
                  <a:srgbClr val="FFFFFF"/>
                </a:solidFill>
                <a:latin typeface="Aptos"/>
                <a:ea typeface="Aptos"/>
                <a:cs typeface="Aptos"/>
              </a:defRPr>
            </a:pPr>
            <a:r>
              <a:rPr sz="1800" b="1" i="0">
                <a:solidFill>
                  <a:srgbClr val="FFFFFF"/>
                </a:solidFill>
                <a:latin typeface="Aptos"/>
                <a:ea typeface="Aptos"/>
                <a:cs typeface="Aptos"/>
              </a:rPr>
              <a:t>CANCELLED</a:t>
            </a:r>
          </a:p>
        </p:txBody>
      </p:sp>
      <p:sp>
        <p:nvSpPr>
          <p:cNvPr id="12" name="">
            <a:extLst xmlns:a="http://schemas.openxmlformats.org/drawingml/2006/main">
              <a:ext uri="{FF2B5EF4-FFF2-40B4-BE49-F238E27FC236}">
                <a16:creationId xmlns:a16="http://schemas.microsoft.com/office/drawing/2014/main" id="{5F5FA835-B703-41CC-B04E-DF2FB789FE3B}"/>
              </a:ext>
            </a:extLst>
          </p:cNvPr>
          <p:cNvSpPr>
            <a:spLocks xmlns:a="http://schemas.openxmlformats.org/drawingml/2006/main" noGrp="1"/>
          </p:cNvSpPr>
          <p:nvPr/>
        </p:nvSpPr>
        <p:spPr>
          <a:xfrm xmlns:a="http://schemas.openxmlformats.org/drawingml/2006/main">
            <a:off x="3143250" y="1828800"/>
            <a:ext cx="904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082"/>
          </a:bodyPr>
          <a:lstStyle xmlns:a="http://schemas.openxmlformats.org/drawingml/2006/main"/>
          <a:p xmlns:a="http://schemas.openxmlformats.org/drawingml/2006/main">
            <a:pPr algn="ctr">
              <a:defRPr sz="1050" b="1" i="0">
                <a:solidFill>
                  <a:srgbClr val="5E6B78"/>
                </a:solidFill>
                <a:latin typeface="Aptos"/>
                <a:ea typeface="Aptos"/>
                <a:cs typeface="Aptos"/>
              </a:defRPr>
            </a:pPr>
            <a:r>
              <a:rPr sz="1050" b="1" i="0">
                <a:solidFill>
                  <a:srgbClr val="5E6B78"/>
                </a:solidFill>
                <a:latin typeface="Aptos"/>
                <a:ea typeface="Aptos"/>
                <a:cs typeface="Aptos"/>
              </a:rPr>
              <a:t>can process</a:t>
            </a:r>
          </a:p>
        </p:txBody>
      </p:sp>
      <p:sp>
        <p:nvSpPr>
          <p:cNvPr id="13" name="">
            <a:extLst xmlns:a="http://schemas.openxmlformats.org/drawingml/2006/main">
              <a:ext uri="{FF2B5EF4-FFF2-40B4-BE49-F238E27FC236}">
                <a16:creationId xmlns:a16="http://schemas.microsoft.com/office/drawing/2014/main" id="{B6792DB9-0480-46B8-8BAA-ED517F31F07B}"/>
              </a:ext>
            </a:extLst>
          </p:cNvPr>
          <p:cNvSpPr>
            <a:spLocks xmlns:a="http://schemas.openxmlformats.org/drawingml/2006/main" noGrp="1"/>
          </p:cNvSpPr>
          <p:nvPr/>
        </p:nvSpPr>
        <p:spPr>
          <a:xfrm xmlns:a="http://schemas.openxmlformats.org/drawingml/2006/main">
            <a:off x="3219450" y="2152650"/>
            <a:ext cx="762000" cy="38100"/>
          </a:xfrm>
          <a:prstGeom xmlns:a="http://schemas.openxmlformats.org/drawingml/2006/main" prst="rect">
            <a:avLst/>
          </a:prstGeom>
          <a:solidFill xmlns:a="http://schemas.openxmlformats.org/drawingml/2006/main">
            <a:srgbClr val="22B8A7"/>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80CF3980-DFF7-4610-9462-6BEB98FFBBCE}"/>
              </a:ext>
            </a:extLst>
          </p:cNvPr>
          <p:cNvSpPr>
            <a:spLocks xmlns:a="http://schemas.openxmlformats.org/drawingml/2006/main" noGrp="1"/>
          </p:cNvSpPr>
          <p:nvPr/>
        </p:nvSpPr>
        <p:spPr>
          <a:xfrm xmlns:a="http://schemas.openxmlformats.org/drawingml/2006/main">
            <a:off x="6610350" y="1409700"/>
            <a:ext cx="1200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i="0">
                <a:solidFill>
                  <a:srgbClr val="5E6B78"/>
                </a:solidFill>
                <a:latin typeface="Aptos"/>
                <a:ea typeface="Aptos"/>
                <a:cs typeface="Aptos"/>
              </a:defRPr>
            </a:pPr>
            <a:r>
              <a:rPr sz="1050" b="1" i="0">
                <a:solidFill>
                  <a:srgbClr val="5E6B78"/>
                </a:solidFill>
                <a:latin typeface="Aptos"/>
                <a:ea typeface="Aptos"/>
                <a:cs typeface="Aptos"/>
              </a:rPr>
              <a:t>can complete</a:t>
            </a:r>
          </a:p>
        </p:txBody>
      </p:sp>
      <p:sp>
        <p:nvSpPr>
          <p:cNvPr id="15" name="">
            <a:extLst xmlns:a="http://schemas.openxmlformats.org/drawingml/2006/main">
              <a:ext uri="{FF2B5EF4-FFF2-40B4-BE49-F238E27FC236}">
                <a16:creationId xmlns:a16="http://schemas.microsoft.com/office/drawing/2014/main" id="{83340DE3-6DED-40E7-9566-E77324EB3FDF}"/>
              </a:ext>
            </a:extLst>
          </p:cNvPr>
          <p:cNvSpPr>
            <a:spLocks xmlns:a="http://schemas.openxmlformats.org/drawingml/2006/main" noGrp="1"/>
          </p:cNvSpPr>
          <p:nvPr/>
        </p:nvSpPr>
        <p:spPr>
          <a:xfrm xmlns:a="http://schemas.openxmlformats.org/drawingml/2006/main">
            <a:off x="6534150" y="1847850"/>
            <a:ext cx="1333500" cy="38100"/>
          </a:xfrm>
          <a:prstGeom xmlns:a="http://schemas.openxmlformats.org/drawingml/2006/main" prst="rect">
            <a:avLst/>
          </a:prstGeom>
          <a:solidFill xmlns:a="http://schemas.openxmlformats.org/drawingml/2006/main">
            <a:srgbClr val="22B8A7"/>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160C81AE-0545-4577-AA84-D517789F1D94}"/>
              </a:ext>
            </a:extLst>
          </p:cNvPr>
          <p:cNvSpPr>
            <a:spLocks xmlns:a="http://schemas.openxmlformats.org/drawingml/2006/main" noGrp="1"/>
          </p:cNvSpPr>
          <p:nvPr/>
        </p:nvSpPr>
        <p:spPr>
          <a:xfrm xmlns:a="http://schemas.openxmlformats.org/drawingml/2006/main">
            <a:off x="6381750" y="3200400"/>
            <a:ext cx="1238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i="0">
                <a:solidFill>
                  <a:srgbClr val="5E6B78"/>
                </a:solidFill>
                <a:latin typeface="Aptos"/>
                <a:ea typeface="Aptos"/>
                <a:cs typeface="Aptos"/>
              </a:defRPr>
            </a:pPr>
            <a:r>
              <a:rPr sz="1050" b="1" i="0">
                <a:solidFill>
                  <a:srgbClr val="5E6B78"/>
                </a:solidFill>
                <a:latin typeface="Aptos"/>
                <a:ea typeface="Aptos"/>
                <a:cs typeface="Aptos"/>
              </a:rPr>
              <a:t>can cancel</a:t>
            </a:r>
          </a:p>
        </p:txBody>
      </p:sp>
      <p:sp>
        <p:nvSpPr>
          <p:cNvPr id="17" name="">
            <a:extLst xmlns:a="http://schemas.openxmlformats.org/drawingml/2006/main">
              <a:ext uri="{FF2B5EF4-FFF2-40B4-BE49-F238E27FC236}">
                <a16:creationId xmlns:a16="http://schemas.microsoft.com/office/drawing/2014/main" id="{C4F1B0AC-B24A-468C-9AE5-EA0D26EECB0C}"/>
              </a:ext>
            </a:extLst>
          </p:cNvPr>
          <p:cNvSpPr>
            <a:spLocks xmlns:a="http://schemas.openxmlformats.org/drawingml/2006/main" noGrp="1"/>
          </p:cNvSpPr>
          <p:nvPr/>
        </p:nvSpPr>
        <p:spPr>
          <a:xfrm xmlns:a="http://schemas.openxmlformats.org/drawingml/2006/main">
            <a:off x="6496050" y="3581400"/>
            <a:ext cx="1371600" cy="38100"/>
          </a:xfrm>
          <a:prstGeom xmlns:a="http://schemas.openxmlformats.org/drawingml/2006/main" prst="rect">
            <a:avLst/>
          </a:prstGeom>
          <a:solidFill xmlns:a="http://schemas.openxmlformats.org/drawingml/2006/main">
            <a:srgbClr val="D95D5D"/>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C11A619A-316E-4AF6-917E-7C9B2F8A043B}"/>
              </a:ext>
            </a:extLst>
          </p:cNvPr>
          <p:cNvSpPr>
            <a:spLocks xmlns:a="http://schemas.openxmlformats.org/drawingml/2006/main" noGrp="1"/>
          </p:cNvSpPr>
          <p:nvPr/>
        </p:nvSpPr>
        <p:spPr>
          <a:xfrm xmlns:a="http://schemas.openxmlformats.org/drawingml/2006/main">
            <a:off x="3219450" y="4267200"/>
            <a:ext cx="4648200" cy="38100"/>
          </a:xfrm>
          <a:prstGeom xmlns:a="http://schemas.openxmlformats.org/drawingml/2006/main" prst="rect">
            <a:avLst/>
          </a:prstGeom>
          <a:solidFill xmlns:a="http://schemas.openxmlformats.org/drawingml/2006/main">
            <a:srgbClr val="D95D5D"/>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AFCB1A15-11EA-49B8-B92B-BF03DF898BA3}"/>
              </a:ext>
            </a:extLst>
          </p:cNvPr>
          <p:cNvSpPr>
            <a:spLocks xmlns:a="http://schemas.openxmlformats.org/drawingml/2006/main" noGrp="1"/>
          </p:cNvSpPr>
          <p:nvPr/>
        </p:nvSpPr>
        <p:spPr>
          <a:xfrm xmlns:a="http://schemas.openxmlformats.org/drawingml/2006/main">
            <a:off x="4000500" y="3943350"/>
            <a:ext cx="314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539"/>
          </a:bodyPr>
          <a:lstStyle xmlns:a="http://schemas.openxmlformats.org/drawingml/2006/main"/>
          <a:p xmlns:a="http://schemas.openxmlformats.org/drawingml/2006/main">
            <a:pPr algn="ctr">
              <a:defRPr sz="1050" b="1" i="0">
                <a:solidFill>
                  <a:srgbClr val="D95D5D"/>
                </a:solidFill>
                <a:latin typeface="Aptos"/>
                <a:ea typeface="Aptos"/>
                <a:cs typeface="Aptos"/>
              </a:defRPr>
            </a:pPr>
            <a:r>
              <a:rPr sz="1050" b="1" i="0">
                <a:solidFill>
                  <a:srgbClr val="D95D5D"/>
                </a:solidFill>
                <a:latin typeface="Aptos"/>
                <a:ea typeface="Aptos"/>
                <a:cs typeface="Aptos"/>
              </a:rPr>
              <a:t>PENDING can also move directly to CANCELLED</a:t>
            </a:r>
          </a:p>
        </p:txBody>
      </p:sp>
      <p:sp>
        <p:nvSpPr>
          <p:cNvPr id="20" name="">
            <a:extLst xmlns:a="http://schemas.openxmlformats.org/drawingml/2006/main">
              <a:ext uri="{FF2B5EF4-FFF2-40B4-BE49-F238E27FC236}">
                <a16:creationId xmlns:a16="http://schemas.microsoft.com/office/drawing/2014/main" id="{58D211E4-67C9-47A5-BD4E-3FB12C04F11B}"/>
              </a:ext>
            </a:extLst>
          </p:cNvPr>
          <p:cNvSpPr>
            <a:spLocks xmlns:a="http://schemas.openxmlformats.org/drawingml/2006/main" noGrp="1"/>
          </p:cNvSpPr>
          <p:nvPr/>
        </p:nvSpPr>
        <p:spPr>
          <a:xfrm xmlns:a="http://schemas.openxmlformats.org/drawingml/2006/main">
            <a:off x="838200" y="4762500"/>
            <a:ext cx="9486900" cy="1047750"/>
          </a:xfrm>
          <a:prstGeom xmlns:a="http://schemas.openxmlformats.org/drawingml/2006/main" prst="roundRect">
            <a:avLst>
              <a:gd name="adj" fmla="val 7273"/>
            </a:avLst>
          </a:prstGeom>
          <a:solidFill xmlns:a="http://schemas.openxmlformats.org/drawingml/2006/main">
            <a:srgbClr val="EEF5F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BAA24429-E3DD-4748-AB57-5CA29585EF08}"/>
              </a:ext>
            </a:extLst>
          </p:cNvPr>
          <p:cNvSpPr>
            <a:spLocks xmlns:a="http://schemas.openxmlformats.org/drawingml/2006/main" noGrp="1"/>
          </p:cNvSpPr>
          <p:nvPr/>
        </p:nvSpPr>
        <p:spPr>
          <a:xfrm xmlns:a="http://schemas.openxmlformats.org/drawingml/2006/main">
            <a:off x="1123950" y="4933950"/>
            <a:ext cx="200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825"/>
          </a:bodyPr>
          <a:lstStyle xmlns:a="http://schemas.openxmlformats.org/drawingml/2006/main"/>
          <a:p xmlns:a="http://schemas.openxmlformats.org/drawingml/2006/main">
            <a:pPr algn="l">
              <a:defRPr sz="1575" b="1" i="0">
                <a:solidFill>
                  <a:srgbClr val="0B1F33"/>
                </a:solidFill>
                <a:latin typeface="Aptos"/>
                <a:ea typeface="Aptos"/>
                <a:cs typeface="Aptos"/>
              </a:defRPr>
            </a:pPr>
            <a:r>
              <a:rPr sz="1575" b="1" i="0">
                <a:solidFill>
                  <a:srgbClr val="0B1F33"/>
                </a:solidFill>
                <a:latin typeface="Aptos"/>
                <a:ea typeface="Aptos"/>
                <a:cs typeface="Aptos"/>
              </a:rPr>
              <a:t>Terminal states</a:t>
            </a:r>
          </a:p>
        </p:txBody>
      </p:sp>
      <p:sp>
        <p:nvSpPr>
          <p:cNvPr id="22" name="">
            <a:extLst xmlns:a="http://schemas.openxmlformats.org/drawingml/2006/main">
              <a:ext uri="{FF2B5EF4-FFF2-40B4-BE49-F238E27FC236}">
                <a16:creationId xmlns:a16="http://schemas.microsoft.com/office/drawing/2014/main" id="{99801B30-07FE-47B9-B068-45B1CA9CDD0B}"/>
              </a:ext>
            </a:extLst>
          </p:cNvPr>
          <p:cNvSpPr>
            <a:spLocks xmlns:a="http://schemas.openxmlformats.org/drawingml/2006/main" noGrp="1"/>
          </p:cNvSpPr>
          <p:nvPr/>
        </p:nvSpPr>
        <p:spPr>
          <a:xfrm xmlns:a="http://schemas.openxmlformats.org/drawingml/2006/main">
            <a:off x="1123950" y="5314950"/>
            <a:ext cx="8724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225"/>
          </a:bodyPr>
          <a:lstStyle xmlns:a="http://schemas.openxmlformats.org/drawingml/2006/main"/>
          <a:p xmlns:a="http://schemas.openxmlformats.org/drawingml/2006/main">
            <a:pPr algn="l">
              <a:defRPr sz="1350" b="0" i="0">
                <a:solidFill>
                  <a:srgbClr val="152433"/>
                </a:solidFill>
                <a:latin typeface="Aptos"/>
                <a:ea typeface="Aptos"/>
                <a:cs typeface="Aptos"/>
              </a:defRPr>
            </a:pPr>
            <a:r>
              <a:rPr sz="1350" b="0" i="0">
                <a:solidFill>
                  <a:srgbClr val="152433"/>
                </a:solidFill>
                <a:latin typeface="Aptos"/>
                <a:ea typeface="Aptos"/>
                <a:cs typeface="Aptos"/>
              </a:rPr>
              <a:t>COMPLETED and CANCELLED cannot move to another state. Invalid transitions throw InvalidOrderStateException.</a:t>
            </a:r>
          </a:p>
        </p:txBody>
      </p:sp>
      <p:sp>
        <p:nvSpPr>
          <p:cNvPr id="23" name="">
            <a:extLst xmlns:a="http://schemas.openxmlformats.org/drawingml/2006/main">
              <a:ext uri="{FF2B5EF4-FFF2-40B4-BE49-F238E27FC236}">
                <a16:creationId xmlns:a16="http://schemas.microsoft.com/office/drawing/2014/main" id="{55AFBB41-C50B-4059-9F91-8E8FD730653F}"/>
              </a:ext>
            </a:extLst>
          </p:cNvPr>
          <p:cNvSpPr>
            <a:spLocks xmlns:a="http://schemas.openxmlformats.org/drawingml/2006/main" noGrp="1"/>
          </p:cNvSpPr>
          <p:nvPr/>
        </p:nvSpPr>
        <p:spPr>
          <a:xfrm xmlns:a="http://schemas.openxmlformats.org/drawingml/2006/main">
            <a:off x="552450" y="6486525"/>
            <a:ext cx="3048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l">
              <a:defRPr sz="825" b="0" i="0">
                <a:solidFill>
                  <a:srgbClr val="5E6B78"/>
                </a:solidFill>
                <a:latin typeface="Aptos"/>
                <a:ea typeface="Aptos"/>
                <a:cs typeface="Aptos"/>
              </a:defRPr>
            </a:pPr>
            <a:r>
              <a:rPr sz="825" b="0" i="0">
                <a:solidFill>
                  <a:srgbClr val="5E6B78"/>
                </a:solidFill>
                <a:latin typeface="Aptos"/>
                <a:ea typeface="Aptos"/>
                <a:cs typeface="Aptos"/>
              </a:rPr>
              <a:t>Modern PHP Order System</a:t>
            </a:r>
          </a:p>
        </p:txBody>
      </p:sp>
      <p:sp>
        <p:nvSpPr>
          <p:cNvPr id="24" name="">
            <a:extLst xmlns:a="http://schemas.openxmlformats.org/drawingml/2006/main">
              <a:ext uri="{FF2B5EF4-FFF2-40B4-BE49-F238E27FC236}">
                <a16:creationId xmlns:a16="http://schemas.microsoft.com/office/drawing/2014/main" id="{E5A718A6-0C4D-4C5B-81BE-9B736AB7E50C}"/>
              </a:ext>
            </a:extLst>
          </p:cNvPr>
          <p:cNvSpPr>
            <a:spLocks xmlns:a="http://schemas.openxmlformats.org/drawingml/2006/main" noGrp="1"/>
          </p:cNvSpPr>
          <p:nvPr/>
        </p:nvSpPr>
        <p:spPr>
          <a:xfrm xmlns:a="http://schemas.openxmlformats.org/drawingml/2006/main">
            <a:off x="11049000" y="6486525"/>
            <a:ext cx="571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r">
              <a:defRPr sz="825" b="1" i="0">
                <a:solidFill>
                  <a:srgbClr val="5E6B78"/>
                </a:solidFill>
                <a:latin typeface="Aptos"/>
                <a:ea typeface="Aptos"/>
                <a:cs typeface="Aptos"/>
              </a:defRPr>
            </a:pPr>
            <a:r>
              <a:rPr sz="825" b="1" i="0">
                <a:solidFill>
                  <a:srgbClr val="5E6B78"/>
                </a:solidFill>
                <a:latin typeface="Aptos"/>
                <a:ea typeface="Aptos"/>
                <a:cs typeface="Aptos"/>
              </a:rPr>
              <a:t>06</a:t>
            </a:r>
          </a:p>
        </p:txBody>
      </p:sp>
    </p:spTree>
    <p:extLst>
      <p:ext uri="{BB962C8B-B14F-4D97-AF65-F5344CB8AC3E}">
        <p14:creationId xmlns:p14="http://schemas.microsoft.com/office/powerpoint/2010/main" val="1852549576"/>
      </p:ext>
    </p:extLst>
  </p:cSld>
</p:sld>
</file>

<file path=ppt/slides/slide7.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B257E3DA-FD0E-4A5F-BA95-4C1BE81E2443}"/>
              </a:ext>
            </a:extLst>
          </p:cNvPr>
          <p:cNvSpPr>
            <a:spLocks xmlns:a="http://schemas.openxmlformats.org/drawingml/2006/main" noGrp="1"/>
          </p:cNvSpPr>
          <p:nvPr/>
        </p:nvSpPr>
        <p:spPr>
          <a:xfrm xmlns:a="http://schemas.openxmlformats.org/drawingml/2006/main">
            <a:off x="552450" y="342900"/>
            <a:ext cx="5143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1" i="0">
                <a:solidFill>
                  <a:srgbClr val="22B8A7"/>
                </a:solidFill>
                <a:latin typeface="Aptos"/>
                <a:ea typeface="Aptos"/>
                <a:cs typeface="Aptos"/>
              </a:defRPr>
            </a:pPr>
            <a:r>
              <a:rPr sz="1200" b="1" i="0">
                <a:solidFill>
                  <a:srgbClr val="22B8A7"/>
                </a:solidFill>
                <a:latin typeface="Aptos"/>
                <a:ea typeface="Aptos"/>
                <a:cs typeface="Aptos"/>
              </a:rPr>
              <a:t>07</a:t>
            </a:r>
          </a:p>
        </p:txBody>
      </p:sp>
      <p:sp>
        <p:nvSpPr>
          <p:cNvPr id="2" name="">
            <a:extLst xmlns:a="http://schemas.openxmlformats.org/drawingml/2006/main">
              <a:ext uri="{FF2B5EF4-FFF2-40B4-BE49-F238E27FC236}">
                <a16:creationId xmlns:a16="http://schemas.microsoft.com/office/drawing/2014/main" id="{47D611DF-ECD4-45D6-A15F-D44CD4816BCD}"/>
              </a:ext>
            </a:extLst>
          </p:cNvPr>
          <p:cNvSpPr>
            <a:spLocks xmlns:a="http://schemas.openxmlformats.org/drawingml/2006/main" noGrp="1"/>
          </p:cNvSpPr>
          <p:nvPr/>
        </p:nvSpPr>
        <p:spPr>
          <a:xfrm xmlns:a="http://schemas.openxmlformats.org/drawingml/2006/main">
            <a:off x="1123950" y="266700"/>
            <a:ext cx="9906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i="0">
                <a:solidFill>
                  <a:srgbClr val="0B1F33"/>
                </a:solidFill>
                <a:latin typeface="Aptos"/>
                <a:ea typeface="Aptos"/>
                <a:cs typeface="Aptos"/>
              </a:defRPr>
            </a:pPr>
            <a:r>
              <a:rPr sz="2550" b="1" i="0">
                <a:solidFill>
                  <a:srgbClr val="0B1F33"/>
                </a:solidFill>
                <a:latin typeface="Aptos"/>
                <a:ea typeface="Aptos"/>
                <a:cs typeface="Aptos"/>
              </a:rPr>
              <a:t>Service and repository responsibilities</a:t>
            </a:r>
          </a:p>
        </p:txBody>
      </p:sp>
      <p:sp>
        <p:nvSpPr>
          <p:cNvPr id="3" name="">
            <a:extLst xmlns:a="http://schemas.openxmlformats.org/drawingml/2006/main">
              <a:ext uri="{FF2B5EF4-FFF2-40B4-BE49-F238E27FC236}">
                <a16:creationId xmlns:a16="http://schemas.microsoft.com/office/drawing/2014/main" id="{0237DB0D-9212-483C-9F2A-E700609810E4}"/>
              </a:ext>
            </a:extLst>
          </p:cNvPr>
          <p:cNvSpPr>
            <a:spLocks xmlns:a="http://schemas.openxmlformats.org/drawingml/2006/main" noGrp="1"/>
          </p:cNvSpPr>
          <p:nvPr/>
        </p:nvSpPr>
        <p:spPr>
          <a:xfrm xmlns:a="http://schemas.openxmlformats.org/drawingml/2006/main">
            <a:off x="552450" y="895350"/>
            <a:ext cx="11087100" cy="28575"/>
          </a:xfrm>
          <a:prstGeom xmlns:a="http://schemas.openxmlformats.org/drawingml/2006/main" prst="rect">
            <a:avLst/>
          </a:prstGeom>
          <a:solidFill xmlns:a="http://schemas.openxmlformats.org/drawingml/2006/main">
            <a:srgbClr val="22B8A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E593A90-7514-41F8-A371-150945070474}"/>
              </a:ext>
            </a:extLst>
          </p:cNvPr>
          <p:cNvSpPr>
            <a:spLocks xmlns:a="http://schemas.openxmlformats.org/drawingml/2006/main" noGrp="1"/>
          </p:cNvSpPr>
          <p:nvPr/>
        </p:nvSpPr>
        <p:spPr>
          <a:xfrm xmlns:a="http://schemas.openxmlformats.org/drawingml/2006/main">
            <a:off x="685800" y="1352550"/>
            <a:ext cx="4857750" cy="3810000"/>
          </a:xfrm>
          <a:prstGeom xmlns:a="http://schemas.openxmlformats.org/drawingml/2006/main" prst="roundRect">
            <a:avLst>
              <a:gd name="adj" fmla="val 2000"/>
            </a:avLst>
          </a:prstGeom>
          <a:solidFill xmlns:a="http://schemas.openxmlformats.org/drawingml/2006/main">
            <a:srgbClr val="FFFFFF"/>
          </a:solidFill>
          <a:ln xmlns:a="http://schemas.openxmlformats.org/drawingml/2006/main" w="9525">
            <a:solidFill>
              <a:srgbClr val="D4E1E8"/>
            </a:solidFill>
          </a:ln>
        </p:spPr>
      </p:sp>
      <p:sp>
        <p:nvSpPr>
          <p:cNvPr id="5" name="">
            <a:extLst xmlns:a="http://schemas.openxmlformats.org/drawingml/2006/main">
              <a:ext uri="{FF2B5EF4-FFF2-40B4-BE49-F238E27FC236}">
                <a16:creationId xmlns:a16="http://schemas.microsoft.com/office/drawing/2014/main" id="{0008DEEA-C845-4875-8099-514BD1BDE70A}"/>
              </a:ext>
            </a:extLst>
          </p:cNvPr>
          <p:cNvSpPr>
            <a:spLocks xmlns:a="http://schemas.openxmlformats.org/drawingml/2006/main" noGrp="1"/>
          </p:cNvSpPr>
          <p:nvPr/>
        </p:nvSpPr>
        <p:spPr>
          <a:xfrm xmlns:a="http://schemas.openxmlformats.org/drawingml/2006/main">
            <a:off x="990600" y="1619250"/>
            <a:ext cx="419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428"/>
          </a:bodyPr>
          <a:lstStyle xmlns:a="http://schemas.openxmlformats.org/drawingml/2006/main"/>
          <a:p xmlns:a="http://schemas.openxmlformats.org/drawingml/2006/main">
            <a:pPr algn="l">
              <a:defRPr sz="2100" b="1" i="0">
                <a:solidFill>
                  <a:srgbClr val="0B1F33"/>
                </a:solidFill>
                <a:latin typeface="Aptos"/>
                <a:ea typeface="Aptos"/>
                <a:cs typeface="Aptos"/>
              </a:defRPr>
            </a:pPr>
            <a:r>
              <a:rPr sz="2100" b="1" i="0">
                <a:solidFill>
                  <a:srgbClr val="0B1F33"/>
                </a:solidFill>
                <a:latin typeface="Aptos"/>
                <a:ea typeface="Aptos"/>
                <a:cs typeface="Aptos"/>
              </a:rPr>
              <a:t>Order service</a:t>
            </a:r>
          </a:p>
        </p:txBody>
      </p:sp>
      <p:sp>
        <p:nvSpPr>
          <p:cNvPr id="6" name="">
            <a:extLst xmlns:a="http://schemas.openxmlformats.org/drawingml/2006/main">
              <a:ext uri="{FF2B5EF4-FFF2-40B4-BE49-F238E27FC236}">
                <a16:creationId xmlns:a16="http://schemas.microsoft.com/office/drawing/2014/main" id="{885B91BE-4F33-4671-8978-C0FE60F268EE}"/>
              </a:ext>
            </a:extLst>
          </p:cNvPr>
          <p:cNvSpPr>
            <a:spLocks xmlns:a="http://schemas.openxmlformats.org/drawingml/2006/main" noGrp="1"/>
          </p:cNvSpPr>
          <p:nvPr/>
        </p:nvSpPr>
        <p:spPr>
          <a:xfrm xmlns:a="http://schemas.openxmlformats.org/drawingml/2006/main">
            <a:off x="990600" y="209550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i="0">
                <a:solidFill>
                  <a:srgbClr val="22B8A7"/>
                </a:solidFill>
                <a:latin typeface="Aptos"/>
                <a:ea typeface="Aptos"/>
                <a:cs typeface="Aptos"/>
              </a:defRPr>
            </a:pPr>
            <a:r>
              <a:rPr sz="1275" b="1" i="0">
                <a:solidFill>
                  <a:srgbClr val="22B8A7"/>
                </a:solidFill>
                <a:latin typeface="Aptos"/>
                <a:ea typeface="Aptos"/>
                <a:cs typeface="Aptos"/>
              </a:rPr>
              <a:t>Coordinates the use case</a:t>
            </a:r>
          </a:p>
        </p:txBody>
      </p:sp>
      <p:sp>
        <p:nvSpPr>
          <p:cNvPr id="7" name="">
            <a:extLst xmlns:a="http://schemas.openxmlformats.org/drawingml/2006/main">
              <a:ext uri="{FF2B5EF4-FFF2-40B4-BE49-F238E27FC236}">
                <a16:creationId xmlns:a16="http://schemas.microsoft.com/office/drawing/2014/main" id="{8851736C-0A4C-466A-941E-D65A1400E7AF}"/>
              </a:ext>
            </a:extLst>
          </p:cNvPr>
          <p:cNvSpPr>
            <a:spLocks xmlns:a="http://schemas.openxmlformats.org/drawingml/2006/main" noGrp="1"/>
          </p:cNvSpPr>
          <p:nvPr/>
        </p:nvSpPr>
        <p:spPr>
          <a:xfrm xmlns:a="http://schemas.openxmlformats.org/drawingml/2006/main">
            <a:off x="1066800" y="2667000"/>
            <a:ext cx="3905250"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i="0">
                <a:solidFill>
                  <a:srgbClr val="152433"/>
                </a:solidFill>
                <a:latin typeface="Aptos"/>
                <a:ea typeface="Aptos"/>
                <a:cs typeface="Aptos"/>
              </a:defRPr>
            </a:pPr>
            <a:r>
              <a:rPr sz="1575" b="0" i="0">
                <a:solidFill>
                  <a:srgbClr val="152433"/>
                </a:solidFill>
                <a:latin typeface="Aptos"/>
                <a:ea typeface="Aptos"/>
                <a:cs typeface="Aptos"/>
              </a:rPr>
              <a:t>• Finds an order</a:t>
            </a:r>
          </a:p>
          <a:p xmlns:a="http://schemas.openxmlformats.org/drawingml/2006/main">
            <a:pPr algn="l">
              <a:defRPr sz="1575" b="0" i="0">
                <a:solidFill>
                  <a:srgbClr val="152433"/>
                </a:solidFill>
                <a:latin typeface="Aptos"/>
                <a:ea typeface="Aptos"/>
                <a:cs typeface="Aptos"/>
              </a:defRPr>
            </a:pPr>
            <a:r>
              <a:rPr sz="1575" b="0" i="0">
                <a:solidFill>
                  <a:srgbClr val="152433"/>
                </a:solidFill>
                <a:latin typeface="Aptos"/>
                <a:ea typeface="Aptos"/>
                <a:cs typeface="Aptos"/>
              </a:rPr>
              <a:t>• Calls the domain method</a:t>
            </a:r>
          </a:p>
          <a:p xmlns:a="http://schemas.openxmlformats.org/drawingml/2006/main">
            <a:pPr algn="l">
              <a:defRPr sz="1575" b="0" i="0">
                <a:solidFill>
                  <a:srgbClr val="152433"/>
                </a:solidFill>
                <a:latin typeface="Aptos"/>
                <a:ea typeface="Aptos"/>
                <a:cs typeface="Aptos"/>
              </a:defRPr>
            </a:pPr>
            <a:r>
              <a:rPr sz="1575" b="0" i="0">
                <a:solidFill>
                  <a:srgbClr val="152433"/>
                </a:solidFill>
                <a:latin typeface="Aptos"/>
                <a:ea typeface="Aptos"/>
                <a:cs typeface="Aptos"/>
              </a:rPr>
              <a:t>• Saves the updated order</a:t>
            </a:r>
          </a:p>
          <a:p xmlns:a="http://schemas.openxmlformats.org/drawingml/2006/main">
            <a:pPr algn="l">
              <a:defRPr sz="1575" b="0" i="0">
                <a:solidFill>
                  <a:srgbClr val="152433"/>
                </a:solidFill>
                <a:latin typeface="Aptos"/>
                <a:ea typeface="Aptos"/>
                <a:cs typeface="Aptos"/>
              </a:defRPr>
            </a:pPr>
            <a:r>
              <a:rPr sz="1575" b="0" i="0">
                <a:solidFill>
                  <a:srgbClr val="152433"/>
                </a:solidFill>
                <a:latin typeface="Aptos"/>
                <a:ea typeface="Aptos"/>
                <a:cs typeface="Aptos"/>
              </a:rPr>
              <a:t>• Produces the audit context</a:t>
            </a:r>
          </a:p>
        </p:txBody>
      </p:sp>
      <p:sp>
        <p:nvSpPr>
          <p:cNvPr id="8" name="">
            <a:extLst xmlns:a="http://schemas.openxmlformats.org/drawingml/2006/main">
              <a:ext uri="{FF2B5EF4-FFF2-40B4-BE49-F238E27FC236}">
                <a16:creationId xmlns:a16="http://schemas.microsoft.com/office/drawing/2014/main" id="{627F4321-D8F7-48B8-8DAB-960B6E8DC606}"/>
              </a:ext>
            </a:extLst>
          </p:cNvPr>
          <p:cNvSpPr>
            <a:spLocks xmlns:a="http://schemas.openxmlformats.org/drawingml/2006/main" noGrp="1"/>
          </p:cNvSpPr>
          <p:nvPr/>
        </p:nvSpPr>
        <p:spPr>
          <a:xfrm xmlns:a="http://schemas.openxmlformats.org/drawingml/2006/main">
            <a:off x="6076950" y="1352550"/>
            <a:ext cx="4857750" cy="3810000"/>
          </a:xfrm>
          <a:prstGeom xmlns:a="http://schemas.openxmlformats.org/drawingml/2006/main" prst="roundRect">
            <a:avLst>
              <a:gd name="adj" fmla="val 2000"/>
            </a:avLst>
          </a:prstGeom>
          <a:solidFill xmlns:a="http://schemas.openxmlformats.org/drawingml/2006/main">
            <a:srgbClr val="0B1F33"/>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1B8AD4B8-9532-4C0C-BC7B-6628F4104C32}"/>
              </a:ext>
            </a:extLst>
          </p:cNvPr>
          <p:cNvSpPr>
            <a:spLocks xmlns:a="http://schemas.openxmlformats.org/drawingml/2006/main" noGrp="1"/>
          </p:cNvSpPr>
          <p:nvPr/>
        </p:nvSpPr>
        <p:spPr>
          <a:xfrm xmlns:a="http://schemas.openxmlformats.org/drawingml/2006/main">
            <a:off x="6381750" y="1619250"/>
            <a:ext cx="419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428"/>
          </a:bodyPr>
          <a:lstStyle xmlns:a="http://schemas.openxmlformats.org/drawingml/2006/main"/>
          <a:p xmlns:a="http://schemas.openxmlformats.org/drawingml/2006/main">
            <a:pPr algn="l">
              <a:defRPr sz="2100" b="1" i="0">
                <a:solidFill>
                  <a:srgbClr val="FFFFFF"/>
                </a:solidFill>
                <a:latin typeface="Aptos"/>
                <a:ea typeface="Aptos"/>
                <a:cs typeface="Aptos"/>
              </a:defRPr>
            </a:pPr>
            <a:r>
              <a:rPr sz="2100" b="1" i="0">
                <a:solidFill>
                  <a:srgbClr val="FFFFFF"/>
                </a:solidFill>
                <a:latin typeface="Aptos"/>
                <a:ea typeface="Aptos"/>
                <a:cs typeface="Aptos"/>
              </a:rPr>
              <a:t>Order repository</a:t>
            </a:r>
          </a:p>
        </p:txBody>
      </p:sp>
      <p:sp>
        <p:nvSpPr>
          <p:cNvPr id="10" name="">
            <a:extLst xmlns:a="http://schemas.openxmlformats.org/drawingml/2006/main">
              <a:ext uri="{FF2B5EF4-FFF2-40B4-BE49-F238E27FC236}">
                <a16:creationId xmlns:a16="http://schemas.microsoft.com/office/drawing/2014/main" id="{9FDA05DE-4D65-4BFB-B236-1BB1F70B6E94}"/>
              </a:ext>
            </a:extLst>
          </p:cNvPr>
          <p:cNvSpPr>
            <a:spLocks xmlns:a="http://schemas.openxmlformats.org/drawingml/2006/main" noGrp="1"/>
          </p:cNvSpPr>
          <p:nvPr/>
        </p:nvSpPr>
        <p:spPr>
          <a:xfrm xmlns:a="http://schemas.openxmlformats.org/drawingml/2006/main">
            <a:off x="6381750" y="209550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i="0">
                <a:solidFill>
                  <a:srgbClr val="7DE2D1"/>
                </a:solidFill>
                <a:latin typeface="Aptos"/>
                <a:ea typeface="Aptos"/>
                <a:cs typeface="Aptos"/>
              </a:defRPr>
            </a:pPr>
            <a:r>
              <a:rPr sz="1275" b="1" i="0">
                <a:solidFill>
                  <a:srgbClr val="7DE2D1"/>
                </a:solidFill>
                <a:latin typeface="Aptos"/>
                <a:ea typeface="Aptos"/>
                <a:cs typeface="Aptos"/>
              </a:rPr>
              <a:t>Hides persistence details</a:t>
            </a:r>
          </a:p>
        </p:txBody>
      </p:sp>
      <p:sp>
        <p:nvSpPr>
          <p:cNvPr id="11" name="">
            <a:extLst xmlns:a="http://schemas.openxmlformats.org/drawingml/2006/main">
              <a:ext uri="{FF2B5EF4-FFF2-40B4-BE49-F238E27FC236}">
                <a16:creationId xmlns:a16="http://schemas.microsoft.com/office/drawing/2014/main" id="{AA0AA35E-D0E1-45CB-BAEF-45889B15CBAC}"/>
              </a:ext>
            </a:extLst>
          </p:cNvPr>
          <p:cNvSpPr>
            <a:spLocks xmlns:a="http://schemas.openxmlformats.org/drawingml/2006/main" noGrp="1"/>
          </p:cNvSpPr>
          <p:nvPr/>
        </p:nvSpPr>
        <p:spPr>
          <a:xfrm xmlns:a="http://schemas.openxmlformats.org/drawingml/2006/main">
            <a:off x="6457950" y="2667000"/>
            <a:ext cx="3905250" cy="1962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0" i="0">
                <a:solidFill>
                  <a:srgbClr val="E3EDF3"/>
                </a:solidFill>
                <a:latin typeface="Aptos"/>
                <a:ea typeface="Aptos"/>
                <a:cs typeface="Aptos"/>
              </a:defRPr>
            </a:pPr>
            <a:r>
              <a:rPr sz="1500" b="0" i="0">
                <a:solidFill>
                  <a:srgbClr val="E3EDF3"/>
                </a:solidFill>
                <a:latin typeface="Aptos"/>
                <a:ea typeface="Aptos"/>
                <a:cs typeface="Aptos"/>
              </a:rPr>
              <a:t>• save(Order $order)</a:t>
            </a:r>
          </a:p>
          <a:p xmlns:a="http://schemas.openxmlformats.org/drawingml/2006/main">
            <a:pPr algn="l">
              <a:defRPr sz="1500" b="0" i="0">
                <a:solidFill>
                  <a:srgbClr val="E3EDF3"/>
                </a:solidFill>
                <a:latin typeface="Aptos"/>
                <a:ea typeface="Aptos"/>
                <a:cs typeface="Aptos"/>
              </a:defRPr>
            </a:pPr>
            <a:r>
              <a:rPr sz="1500" b="0" i="0">
                <a:solidFill>
                  <a:srgbClr val="E3EDF3"/>
                </a:solidFill>
                <a:latin typeface="Aptos"/>
                <a:ea typeface="Aptos"/>
                <a:cs typeface="Aptos"/>
              </a:rPr>
              <a:t>• find(int $id): ?Order</a:t>
            </a:r>
          </a:p>
          <a:p xmlns:a="http://schemas.openxmlformats.org/drawingml/2006/main">
            <a:r>
              <a:t/>
            </a:r>
          </a:p>
          <a:p xmlns:a="http://schemas.openxmlformats.org/drawingml/2006/main">
            <a:pPr algn="l">
              <a:defRPr sz="1500" b="0" i="0">
                <a:solidFill>
                  <a:srgbClr val="E3EDF3"/>
                </a:solidFill>
                <a:latin typeface="Aptos"/>
                <a:ea typeface="Aptos"/>
                <a:cs typeface="Aptos"/>
              </a:defRPr>
            </a:pPr>
            <a:r>
              <a:rPr sz="1500" b="0" i="0">
                <a:solidFill>
                  <a:srgbClr val="E3EDF3"/>
                </a:solidFill>
                <a:latin typeface="Aptos"/>
                <a:ea typeface="Aptos"/>
                <a:cs typeface="Aptos"/>
              </a:rPr>
              <a:t>Current implementation stores objects in memory. A database implementation can replace it without changing the service.</a:t>
            </a:r>
          </a:p>
        </p:txBody>
      </p:sp>
      <p:sp>
        <p:nvSpPr>
          <p:cNvPr id="12" name="">
            <a:extLst xmlns:a="http://schemas.openxmlformats.org/drawingml/2006/main">
              <a:ext uri="{FF2B5EF4-FFF2-40B4-BE49-F238E27FC236}">
                <a16:creationId xmlns:a16="http://schemas.microsoft.com/office/drawing/2014/main" id="{88B1876F-664E-40E3-B250-A94FCBC29C3C}"/>
              </a:ext>
            </a:extLst>
          </p:cNvPr>
          <p:cNvSpPr>
            <a:spLocks xmlns:a="http://schemas.openxmlformats.org/drawingml/2006/main" noGrp="1"/>
          </p:cNvSpPr>
          <p:nvPr/>
        </p:nvSpPr>
        <p:spPr>
          <a:xfrm xmlns:a="http://schemas.openxmlformats.org/drawingml/2006/main">
            <a:off x="4476750" y="5448300"/>
            <a:ext cx="2667000" cy="514350"/>
          </a:xfrm>
          <a:prstGeom xmlns:a="http://schemas.openxmlformats.org/drawingml/2006/main" prst="roundRect">
            <a:avLst>
              <a:gd name="adj" fmla="val 14815"/>
            </a:avLst>
          </a:prstGeom>
          <a:solidFill xmlns:a="http://schemas.openxmlformats.org/drawingml/2006/main">
            <a:srgbClr val="22B8A7"/>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2DCC680A-4CA1-4EC3-BA84-7F588819038C}"/>
              </a:ext>
            </a:extLst>
          </p:cNvPr>
          <p:cNvSpPr>
            <a:spLocks xmlns:a="http://schemas.openxmlformats.org/drawingml/2006/main" noGrp="1"/>
          </p:cNvSpPr>
          <p:nvPr/>
        </p:nvSpPr>
        <p:spPr>
          <a:xfrm xmlns:a="http://schemas.openxmlformats.org/drawingml/2006/main">
            <a:off x="4686300" y="5543550"/>
            <a:ext cx="22479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246"/>
          </a:bodyPr>
          <a:lstStyle xmlns:a="http://schemas.openxmlformats.org/drawingml/2006/main"/>
          <a:p xmlns:a="http://schemas.openxmlformats.org/drawingml/2006/main">
            <a:pPr algn="ctr">
              <a:defRPr sz="1425" b="1" i="0">
                <a:solidFill>
                  <a:srgbClr val="0B1F33"/>
                </a:solidFill>
                <a:latin typeface="Aptos"/>
                <a:ea typeface="Aptos"/>
                <a:cs typeface="Aptos"/>
              </a:defRPr>
            </a:pPr>
            <a:r>
              <a:rPr sz="1425" b="1" i="0">
                <a:solidFill>
                  <a:srgbClr val="0B1F33"/>
                </a:solidFill>
                <a:latin typeface="Aptos"/>
                <a:ea typeface="Aptos"/>
                <a:cs typeface="Aptos"/>
              </a:rPr>
              <a:t>Dependency inversion</a:t>
            </a:r>
          </a:p>
        </p:txBody>
      </p:sp>
      <p:sp>
        <p:nvSpPr>
          <p:cNvPr id="14" name="">
            <a:extLst xmlns:a="http://schemas.openxmlformats.org/drawingml/2006/main">
              <a:ext uri="{FF2B5EF4-FFF2-40B4-BE49-F238E27FC236}">
                <a16:creationId xmlns:a16="http://schemas.microsoft.com/office/drawing/2014/main" id="{97BC8EA9-EE12-4FFF-83A3-28AE9B02F5E3}"/>
              </a:ext>
            </a:extLst>
          </p:cNvPr>
          <p:cNvSpPr>
            <a:spLocks xmlns:a="http://schemas.openxmlformats.org/drawingml/2006/main" noGrp="1"/>
          </p:cNvSpPr>
          <p:nvPr/>
        </p:nvSpPr>
        <p:spPr>
          <a:xfrm xmlns:a="http://schemas.openxmlformats.org/drawingml/2006/main">
            <a:off x="552450" y="6486525"/>
            <a:ext cx="3048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l">
              <a:defRPr sz="825" b="0" i="0">
                <a:solidFill>
                  <a:srgbClr val="5E6B78"/>
                </a:solidFill>
                <a:latin typeface="Aptos"/>
                <a:ea typeface="Aptos"/>
                <a:cs typeface="Aptos"/>
              </a:defRPr>
            </a:pPr>
            <a:r>
              <a:rPr sz="825" b="0" i="0">
                <a:solidFill>
                  <a:srgbClr val="5E6B78"/>
                </a:solidFill>
                <a:latin typeface="Aptos"/>
                <a:ea typeface="Aptos"/>
                <a:cs typeface="Aptos"/>
              </a:rPr>
              <a:t>Modern PHP Order System</a:t>
            </a:r>
          </a:p>
        </p:txBody>
      </p:sp>
      <p:sp>
        <p:nvSpPr>
          <p:cNvPr id="15" name="">
            <a:extLst xmlns:a="http://schemas.openxmlformats.org/drawingml/2006/main">
              <a:ext uri="{FF2B5EF4-FFF2-40B4-BE49-F238E27FC236}">
                <a16:creationId xmlns:a16="http://schemas.microsoft.com/office/drawing/2014/main" id="{9A02CCD4-1C39-42E7-8BE1-CD64108A1E85}"/>
              </a:ext>
            </a:extLst>
          </p:cNvPr>
          <p:cNvSpPr>
            <a:spLocks xmlns:a="http://schemas.openxmlformats.org/drawingml/2006/main" noGrp="1"/>
          </p:cNvSpPr>
          <p:nvPr/>
        </p:nvSpPr>
        <p:spPr>
          <a:xfrm xmlns:a="http://schemas.openxmlformats.org/drawingml/2006/main">
            <a:off x="11049000" y="6486525"/>
            <a:ext cx="571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r">
              <a:defRPr sz="825" b="1" i="0">
                <a:solidFill>
                  <a:srgbClr val="5E6B78"/>
                </a:solidFill>
                <a:latin typeface="Aptos"/>
                <a:ea typeface="Aptos"/>
                <a:cs typeface="Aptos"/>
              </a:defRPr>
            </a:pPr>
            <a:r>
              <a:rPr sz="825" b="1" i="0">
                <a:solidFill>
                  <a:srgbClr val="5E6B78"/>
                </a:solidFill>
                <a:latin typeface="Aptos"/>
                <a:ea typeface="Aptos"/>
                <a:cs typeface="Aptos"/>
              </a:rPr>
              <a:t>07</a:t>
            </a:r>
          </a:p>
        </p:txBody>
      </p:sp>
    </p:spTree>
    <p:extLst>
      <p:ext uri="{BB962C8B-B14F-4D97-AF65-F5344CB8AC3E}">
        <p14:creationId xmlns:p14="http://schemas.microsoft.com/office/powerpoint/2010/main" val="192599656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4C422C47-78E9-4AD3-B30E-2A428D753FE8}"/>
              </a:ext>
            </a:extLst>
          </p:cNvPr>
          <p:cNvSpPr>
            <a:spLocks xmlns:a="http://schemas.openxmlformats.org/drawingml/2006/main" noGrp="1"/>
          </p:cNvSpPr>
          <p:nvPr/>
        </p:nvSpPr>
        <p:spPr>
          <a:xfrm xmlns:a="http://schemas.openxmlformats.org/drawingml/2006/main">
            <a:off x="552450" y="342900"/>
            <a:ext cx="5143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1" i="0">
                <a:solidFill>
                  <a:srgbClr val="22B8A7"/>
                </a:solidFill>
                <a:latin typeface="Aptos"/>
                <a:ea typeface="Aptos"/>
                <a:cs typeface="Aptos"/>
              </a:defRPr>
            </a:pPr>
            <a:r>
              <a:rPr sz="1200" b="1" i="0">
                <a:solidFill>
                  <a:srgbClr val="22B8A7"/>
                </a:solidFill>
                <a:latin typeface="Aptos"/>
                <a:ea typeface="Aptos"/>
                <a:cs typeface="Aptos"/>
              </a:rPr>
              <a:t>08</a:t>
            </a:r>
          </a:p>
        </p:txBody>
      </p:sp>
      <p:sp>
        <p:nvSpPr>
          <p:cNvPr id="2" name="">
            <a:extLst xmlns:a="http://schemas.openxmlformats.org/drawingml/2006/main">
              <a:ext uri="{FF2B5EF4-FFF2-40B4-BE49-F238E27FC236}">
                <a16:creationId xmlns:a16="http://schemas.microsoft.com/office/drawing/2014/main" id="{EDF87030-EDA4-405B-BBE5-11D9886388C9}"/>
              </a:ext>
            </a:extLst>
          </p:cNvPr>
          <p:cNvSpPr>
            <a:spLocks xmlns:a="http://schemas.openxmlformats.org/drawingml/2006/main" noGrp="1"/>
          </p:cNvSpPr>
          <p:nvPr/>
        </p:nvSpPr>
        <p:spPr>
          <a:xfrm xmlns:a="http://schemas.openxmlformats.org/drawingml/2006/main">
            <a:off x="1123950" y="266700"/>
            <a:ext cx="9906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i="0">
                <a:solidFill>
                  <a:srgbClr val="0B1F33"/>
                </a:solidFill>
                <a:latin typeface="Aptos"/>
                <a:ea typeface="Aptos"/>
                <a:cs typeface="Aptos"/>
              </a:defRPr>
            </a:pPr>
            <a:r>
              <a:rPr sz="2550" b="1" i="0">
                <a:solidFill>
                  <a:srgbClr val="0B1F33"/>
                </a:solidFill>
                <a:latin typeface="Aptos"/>
                <a:ea typeface="Aptos"/>
                <a:cs typeface="Aptos"/>
              </a:rPr>
              <a:t>Attributes, reflection, and audit metadata</a:t>
            </a:r>
          </a:p>
        </p:txBody>
      </p:sp>
      <p:sp>
        <p:nvSpPr>
          <p:cNvPr id="3" name="">
            <a:extLst xmlns:a="http://schemas.openxmlformats.org/drawingml/2006/main">
              <a:ext uri="{FF2B5EF4-FFF2-40B4-BE49-F238E27FC236}">
                <a16:creationId xmlns:a16="http://schemas.microsoft.com/office/drawing/2014/main" id="{7BD75380-1DAE-4A49-A443-0B1124C5FBCC}"/>
              </a:ext>
            </a:extLst>
          </p:cNvPr>
          <p:cNvSpPr>
            <a:spLocks xmlns:a="http://schemas.openxmlformats.org/drawingml/2006/main" noGrp="1"/>
          </p:cNvSpPr>
          <p:nvPr/>
        </p:nvSpPr>
        <p:spPr>
          <a:xfrm xmlns:a="http://schemas.openxmlformats.org/drawingml/2006/main">
            <a:off x="552450" y="895350"/>
            <a:ext cx="11087100" cy="28575"/>
          </a:xfrm>
          <a:prstGeom xmlns:a="http://schemas.openxmlformats.org/drawingml/2006/main" prst="rect">
            <a:avLst/>
          </a:prstGeom>
          <a:solidFill xmlns:a="http://schemas.openxmlformats.org/drawingml/2006/main">
            <a:srgbClr val="22B8A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712524E-829C-4DED-BFE6-6E99199EFF44}"/>
              </a:ext>
            </a:extLst>
          </p:cNvPr>
          <p:cNvSpPr>
            <a:spLocks xmlns:a="http://schemas.openxmlformats.org/drawingml/2006/main" noGrp="1"/>
          </p:cNvSpPr>
          <p:nvPr/>
        </p:nvSpPr>
        <p:spPr>
          <a:xfrm xmlns:a="http://schemas.openxmlformats.org/drawingml/2006/main">
            <a:off x="685800" y="1333500"/>
            <a:ext cx="4953000" cy="3295650"/>
          </a:xfrm>
          <a:prstGeom xmlns:a="http://schemas.openxmlformats.org/drawingml/2006/main" prst="roundRect">
            <a:avLst>
              <a:gd name="adj" fmla="val 2312"/>
            </a:avLst>
          </a:prstGeom>
          <a:solidFill xmlns:a="http://schemas.openxmlformats.org/drawingml/2006/main">
            <a:srgbClr val="0B1F3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AA7D0CA-CC07-45C0-BBC2-303BEEE726F6}"/>
              </a:ext>
            </a:extLst>
          </p:cNvPr>
          <p:cNvSpPr>
            <a:spLocks xmlns:a="http://schemas.openxmlformats.org/drawingml/2006/main" noGrp="1"/>
          </p:cNvSpPr>
          <p:nvPr/>
        </p:nvSpPr>
        <p:spPr>
          <a:xfrm xmlns:a="http://schemas.openxmlformats.org/drawingml/2006/main">
            <a:off x="990600" y="1752600"/>
            <a:ext cx="43434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0" i="0">
                <a:solidFill>
                  <a:srgbClr val="FFFFFF"/>
                </a:solidFill>
                <a:latin typeface="Consolas"/>
                <a:ea typeface="Consolas"/>
                <a:cs typeface="Consolas"/>
              </a:defRPr>
            </a:pPr>
            <a:r>
              <a:rPr sz="1725" b="0" i="0">
                <a:solidFill>
                  <a:srgbClr val="FFFFFF"/>
                </a:solidFill>
                <a:latin typeface="Consolas"/>
                <a:ea typeface="Consolas"/>
                <a:cs typeface="Consolas"/>
              </a:rPr>
              <a:t>#[AuditEvent(</a:t>
            </a:r>
          </a:p>
          <a:p xmlns:a="http://schemas.openxmlformats.org/drawingml/2006/main">
            <a:pPr algn="l">
              <a:defRPr sz="1725" b="0" i="0">
                <a:solidFill>
                  <a:srgbClr val="FFFFFF"/>
                </a:solidFill>
                <a:latin typeface="Consolas"/>
                <a:ea typeface="Consolas"/>
                <a:cs typeface="Consolas"/>
              </a:defRPr>
            </a:pPr>
            <a:r>
              <a:rPr sz="1725" b="0" i="0">
                <a:solidFill>
                  <a:srgbClr val="FFFFFF"/>
                </a:solidFill>
                <a:latin typeface="Consolas"/>
                <a:ea typeface="Consolas"/>
                <a:cs typeface="Consolas"/>
              </a:rPr>
              <a:t>  eventName: 'order_status_changed'</a:t>
            </a:r>
          </a:p>
          <a:p xmlns:a="http://schemas.openxmlformats.org/drawingml/2006/main">
            <a:pPr algn="l">
              <a:defRPr sz="1725" b="0" i="0">
                <a:solidFill>
                  <a:srgbClr val="FFFFFF"/>
                </a:solidFill>
                <a:latin typeface="Consolas"/>
                <a:ea typeface="Consolas"/>
                <a:cs typeface="Consolas"/>
              </a:defRPr>
            </a:pPr>
            <a:r>
              <a:rPr sz="1725" b="0" i="0">
                <a:solidFill>
                  <a:srgbClr val="FFFFFF"/>
                </a:solidFill>
                <a:latin typeface="Consolas"/>
                <a:ea typeface="Consolas"/>
                <a:cs typeface="Consolas"/>
              </a:rPr>
              <a:t>)]</a:t>
            </a:r>
          </a:p>
          <a:p xmlns:a="http://schemas.openxmlformats.org/drawingml/2006/main">
            <a:pPr algn="l">
              <a:defRPr sz="1725" b="0" i="0">
                <a:solidFill>
                  <a:srgbClr val="FFFFFF"/>
                </a:solidFill>
                <a:latin typeface="Consolas"/>
                <a:ea typeface="Consolas"/>
                <a:cs typeface="Consolas"/>
              </a:defRPr>
            </a:pPr>
            <a:r>
              <a:rPr sz="1725" b="0" i="0">
                <a:solidFill>
                  <a:srgbClr val="FFFFFF"/>
                </a:solidFill>
                <a:latin typeface="Consolas"/>
                <a:ea typeface="Consolas"/>
                <a:cs typeface="Consolas"/>
              </a:rPr>
              <a:t>public function changeStatus(...)</a:t>
            </a:r>
          </a:p>
        </p:txBody>
      </p:sp>
      <p:sp>
        <p:nvSpPr>
          <p:cNvPr id="6" name="">
            <a:extLst xmlns:a="http://schemas.openxmlformats.org/drawingml/2006/main">
              <a:ext uri="{FF2B5EF4-FFF2-40B4-BE49-F238E27FC236}">
                <a16:creationId xmlns:a16="http://schemas.microsoft.com/office/drawing/2014/main" id="{EBCA3349-BAD3-48E3-BCC7-4DEAE8EDEF64}"/>
              </a:ext>
            </a:extLst>
          </p:cNvPr>
          <p:cNvSpPr>
            <a:spLocks xmlns:a="http://schemas.openxmlformats.org/drawingml/2006/main" noGrp="1"/>
          </p:cNvSpPr>
          <p:nvPr/>
        </p:nvSpPr>
        <p:spPr>
          <a:xfrm xmlns:a="http://schemas.openxmlformats.org/drawingml/2006/main">
            <a:off x="990600" y="4057650"/>
            <a:ext cx="4191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1" i="0">
                <a:solidFill>
                  <a:srgbClr val="7DE2D1"/>
                </a:solidFill>
                <a:latin typeface="Aptos"/>
                <a:ea typeface="Aptos"/>
                <a:cs typeface="Aptos"/>
              </a:defRPr>
            </a:pPr>
            <a:r>
              <a:rPr sz="1200" b="1" i="0">
                <a:solidFill>
                  <a:srgbClr val="7DE2D1"/>
                </a:solidFill>
                <a:latin typeface="Aptos"/>
                <a:ea typeface="Aptos"/>
                <a:cs typeface="Aptos"/>
              </a:rPr>
              <a:t>Metadata stays next to the method it describes.</a:t>
            </a:r>
          </a:p>
        </p:txBody>
      </p:sp>
      <p:sp>
        <p:nvSpPr>
          <p:cNvPr id="7" name="">
            <a:extLst xmlns:a="http://schemas.openxmlformats.org/drawingml/2006/main">
              <a:ext uri="{FF2B5EF4-FFF2-40B4-BE49-F238E27FC236}">
                <a16:creationId xmlns:a16="http://schemas.microsoft.com/office/drawing/2014/main" id="{BCB4E452-B621-4685-AFFF-951B2AA7ADD1}"/>
              </a:ext>
            </a:extLst>
          </p:cNvPr>
          <p:cNvSpPr>
            <a:spLocks xmlns:a="http://schemas.openxmlformats.org/drawingml/2006/main" noGrp="1"/>
          </p:cNvSpPr>
          <p:nvPr/>
        </p:nvSpPr>
        <p:spPr>
          <a:xfrm xmlns:a="http://schemas.openxmlformats.org/drawingml/2006/main">
            <a:off x="6381750" y="1428750"/>
            <a:ext cx="685800" cy="685800"/>
          </a:xfrm>
          <a:prstGeom xmlns:a="http://schemas.openxmlformats.org/drawingml/2006/main" prst="roundRect">
            <a:avLst>
              <a:gd name="adj" fmla="val 11111"/>
            </a:avLst>
          </a:prstGeom>
          <a:solidFill xmlns:a="http://schemas.openxmlformats.org/drawingml/2006/main">
            <a:srgbClr val="155E8A"/>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CCC23A78-5228-448B-8C52-27FF6380C26C}"/>
              </a:ext>
            </a:extLst>
          </p:cNvPr>
          <p:cNvSpPr>
            <a:spLocks xmlns:a="http://schemas.openxmlformats.org/drawingml/2006/main" noGrp="1"/>
          </p:cNvSpPr>
          <p:nvPr/>
        </p:nvSpPr>
        <p:spPr>
          <a:xfrm xmlns:a="http://schemas.openxmlformats.org/drawingml/2006/main">
            <a:off x="6381750" y="1504950"/>
            <a:ext cx="685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100" b="1" i="0">
                <a:solidFill>
                  <a:srgbClr val="FFFFFF"/>
                </a:solidFill>
                <a:latin typeface="Aptos"/>
                <a:ea typeface="Aptos"/>
                <a:cs typeface="Aptos"/>
              </a:defRPr>
            </a:pPr>
            <a:r>
              <a:rPr sz="2100" b="1" i="0">
                <a:solidFill>
                  <a:srgbClr val="FFFFFF"/>
                </a:solidFill>
                <a:latin typeface="Aptos"/>
                <a:ea typeface="Aptos"/>
                <a:cs typeface="Aptos"/>
              </a:rPr>
              <a:t>1</a:t>
            </a:r>
          </a:p>
        </p:txBody>
      </p:sp>
      <p:sp>
        <p:nvSpPr>
          <p:cNvPr id="9" name="">
            <a:extLst xmlns:a="http://schemas.openxmlformats.org/drawingml/2006/main">
              <a:ext uri="{FF2B5EF4-FFF2-40B4-BE49-F238E27FC236}">
                <a16:creationId xmlns:a16="http://schemas.microsoft.com/office/drawing/2014/main" id="{94B33832-9AFF-406B-9A7E-3338791E896B}"/>
              </a:ext>
            </a:extLst>
          </p:cNvPr>
          <p:cNvSpPr>
            <a:spLocks xmlns:a="http://schemas.openxmlformats.org/drawingml/2006/main" noGrp="1"/>
          </p:cNvSpPr>
          <p:nvPr/>
        </p:nvSpPr>
        <p:spPr>
          <a:xfrm xmlns:a="http://schemas.openxmlformats.org/drawingml/2006/main">
            <a:off x="7334250" y="1428750"/>
            <a:ext cx="3524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406"/>
          </a:bodyPr>
          <a:lstStyle xmlns:a="http://schemas.openxmlformats.org/drawingml/2006/main"/>
          <a:p xmlns:a="http://schemas.openxmlformats.org/drawingml/2006/main">
            <a:pPr algn="l">
              <a:defRPr sz="1725" b="1" i="0">
                <a:solidFill>
                  <a:srgbClr val="0B1F33"/>
                </a:solidFill>
                <a:latin typeface="Aptos"/>
                <a:ea typeface="Aptos"/>
                <a:cs typeface="Aptos"/>
              </a:defRPr>
            </a:pPr>
            <a:r>
              <a:rPr sz="1725" b="1" i="0">
                <a:solidFill>
                  <a:srgbClr val="0B1F33"/>
                </a:solidFill>
                <a:latin typeface="Aptos"/>
                <a:ea typeface="Aptos"/>
                <a:cs typeface="Aptos"/>
              </a:rPr>
              <a:t>Attribute</a:t>
            </a:r>
          </a:p>
        </p:txBody>
      </p:sp>
      <p:sp>
        <p:nvSpPr>
          <p:cNvPr id="10" name="">
            <a:extLst xmlns:a="http://schemas.openxmlformats.org/drawingml/2006/main">
              <a:ext uri="{FF2B5EF4-FFF2-40B4-BE49-F238E27FC236}">
                <a16:creationId xmlns:a16="http://schemas.microsoft.com/office/drawing/2014/main" id="{B49C7641-4187-4906-9C99-A27A59957E03}"/>
              </a:ext>
            </a:extLst>
          </p:cNvPr>
          <p:cNvSpPr>
            <a:spLocks xmlns:a="http://schemas.openxmlformats.org/drawingml/2006/main" noGrp="1"/>
          </p:cNvSpPr>
          <p:nvPr/>
        </p:nvSpPr>
        <p:spPr>
          <a:xfrm xmlns:a="http://schemas.openxmlformats.org/drawingml/2006/main">
            <a:off x="7334250" y="1847850"/>
            <a:ext cx="3714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i="0">
                <a:solidFill>
                  <a:srgbClr val="5E6B78"/>
                </a:solidFill>
                <a:latin typeface="Aptos"/>
                <a:ea typeface="Aptos"/>
                <a:cs typeface="Aptos"/>
              </a:defRPr>
            </a:pPr>
            <a:r>
              <a:rPr sz="1275" b="0" i="0">
                <a:solidFill>
                  <a:srgbClr val="5E6B78"/>
                </a:solidFill>
                <a:latin typeface="Aptos"/>
                <a:ea typeface="Aptos"/>
                <a:cs typeface="Aptos"/>
              </a:rPr>
              <a:t>Declares structured metadata</a:t>
            </a:r>
          </a:p>
        </p:txBody>
      </p:sp>
      <p:sp>
        <p:nvSpPr>
          <p:cNvPr id="11" name="">
            <a:extLst xmlns:a="http://schemas.openxmlformats.org/drawingml/2006/main">
              <a:ext uri="{FF2B5EF4-FFF2-40B4-BE49-F238E27FC236}">
                <a16:creationId xmlns:a16="http://schemas.microsoft.com/office/drawing/2014/main" id="{F155D0FE-6E6E-42B0-A630-A1E6AF1E0145}"/>
              </a:ext>
            </a:extLst>
          </p:cNvPr>
          <p:cNvSpPr>
            <a:spLocks xmlns:a="http://schemas.openxmlformats.org/drawingml/2006/main" noGrp="1"/>
          </p:cNvSpPr>
          <p:nvPr/>
        </p:nvSpPr>
        <p:spPr>
          <a:xfrm xmlns:a="http://schemas.openxmlformats.org/drawingml/2006/main">
            <a:off x="6381750" y="2686050"/>
            <a:ext cx="685800" cy="685800"/>
          </a:xfrm>
          <a:prstGeom xmlns:a="http://schemas.openxmlformats.org/drawingml/2006/main" prst="roundRect">
            <a:avLst>
              <a:gd name="adj" fmla="val 11111"/>
            </a:avLst>
          </a:prstGeom>
          <a:solidFill xmlns:a="http://schemas.openxmlformats.org/drawingml/2006/main">
            <a:srgbClr val="22B8A7"/>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8DF41EE9-19FE-4DF6-BFF5-BA417CFB9EAD}"/>
              </a:ext>
            </a:extLst>
          </p:cNvPr>
          <p:cNvSpPr>
            <a:spLocks xmlns:a="http://schemas.openxmlformats.org/drawingml/2006/main" noGrp="1"/>
          </p:cNvSpPr>
          <p:nvPr/>
        </p:nvSpPr>
        <p:spPr>
          <a:xfrm xmlns:a="http://schemas.openxmlformats.org/drawingml/2006/main">
            <a:off x="6381750" y="2762250"/>
            <a:ext cx="685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100" b="1" i="0">
                <a:solidFill>
                  <a:srgbClr val="FFFFFF"/>
                </a:solidFill>
                <a:latin typeface="Aptos"/>
                <a:ea typeface="Aptos"/>
                <a:cs typeface="Aptos"/>
              </a:defRPr>
            </a:pPr>
            <a:r>
              <a:rPr sz="2100" b="1" i="0">
                <a:solidFill>
                  <a:srgbClr val="FFFFFF"/>
                </a:solidFill>
                <a:latin typeface="Aptos"/>
                <a:ea typeface="Aptos"/>
                <a:cs typeface="Aptos"/>
              </a:rPr>
              <a:t>2</a:t>
            </a:r>
          </a:p>
        </p:txBody>
      </p:sp>
      <p:sp>
        <p:nvSpPr>
          <p:cNvPr id="13" name="">
            <a:extLst xmlns:a="http://schemas.openxmlformats.org/drawingml/2006/main">
              <a:ext uri="{FF2B5EF4-FFF2-40B4-BE49-F238E27FC236}">
                <a16:creationId xmlns:a16="http://schemas.microsoft.com/office/drawing/2014/main" id="{9FA63519-D459-400B-9E44-E66C5D1B1BCB}"/>
              </a:ext>
            </a:extLst>
          </p:cNvPr>
          <p:cNvSpPr>
            <a:spLocks xmlns:a="http://schemas.openxmlformats.org/drawingml/2006/main" noGrp="1"/>
          </p:cNvSpPr>
          <p:nvPr/>
        </p:nvSpPr>
        <p:spPr>
          <a:xfrm xmlns:a="http://schemas.openxmlformats.org/drawingml/2006/main">
            <a:off x="7334250" y="2686050"/>
            <a:ext cx="3524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406"/>
          </a:bodyPr>
          <a:lstStyle xmlns:a="http://schemas.openxmlformats.org/drawingml/2006/main"/>
          <a:p xmlns:a="http://schemas.openxmlformats.org/drawingml/2006/main">
            <a:pPr algn="l">
              <a:defRPr sz="1725" b="1" i="0">
                <a:solidFill>
                  <a:srgbClr val="0B1F33"/>
                </a:solidFill>
                <a:latin typeface="Aptos"/>
                <a:ea typeface="Aptos"/>
                <a:cs typeface="Aptos"/>
              </a:defRPr>
            </a:pPr>
            <a:r>
              <a:rPr sz="1725" b="1" i="0">
                <a:solidFill>
                  <a:srgbClr val="0B1F33"/>
                </a:solidFill>
                <a:latin typeface="Aptos"/>
                <a:ea typeface="Aptos"/>
                <a:cs typeface="Aptos"/>
              </a:rPr>
              <a:t>Reflection</a:t>
            </a:r>
          </a:p>
        </p:txBody>
      </p:sp>
      <p:sp>
        <p:nvSpPr>
          <p:cNvPr id="14" name="">
            <a:extLst xmlns:a="http://schemas.openxmlformats.org/drawingml/2006/main">
              <a:ext uri="{FF2B5EF4-FFF2-40B4-BE49-F238E27FC236}">
                <a16:creationId xmlns:a16="http://schemas.microsoft.com/office/drawing/2014/main" id="{6602064A-5EB0-4A6B-8F28-F610F0D46041}"/>
              </a:ext>
            </a:extLst>
          </p:cNvPr>
          <p:cNvSpPr>
            <a:spLocks xmlns:a="http://schemas.openxmlformats.org/drawingml/2006/main" noGrp="1"/>
          </p:cNvSpPr>
          <p:nvPr/>
        </p:nvSpPr>
        <p:spPr>
          <a:xfrm xmlns:a="http://schemas.openxmlformats.org/drawingml/2006/main">
            <a:off x="7334250" y="3105150"/>
            <a:ext cx="3714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i="0">
                <a:solidFill>
                  <a:srgbClr val="5E6B78"/>
                </a:solidFill>
                <a:latin typeface="Aptos"/>
                <a:ea typeface="Aptos"/>
                <a:cs typeface="Aptos"/>
              </a:defRPr>
            </a:pPr>
            <a:r>
              <a:rPr sz="1275" b="0" i="0">
                <a:solidFill>
                  <a:srgbClr val="5E6B78"/>
                </a:solidFill>
                <a:latin typeface="Aptos"/>
                <a:ea typeface="Aptos"/>
                <a:cs typeface="Aptos"/>
              </a:rPr>
              <a:t>Inspects the method at runtime</a:t>
            </a:r>
          </a:p>
        </p:txBody>
      </p:sp>
      <p:sp>
        <p:nvSpPr>
          <p:cNvPr id="15" name="">
            <a:extLst xmlns:a="http://schemas.openxmlformats.org/drawingml/2006/main">
              <a:ext uri="{FF2B5EF4-FFF2-40B4-BE49-F238E27FC236}">
                <a16:creationId xmlns:a16="http://schemas.microsoft.com/office/drawing/2014/main" id="{1D39C98B-01DD-4385-943F-C8C807E82CCE}"/>
              </a:ext>
            </a:extLst>
          </p:cNvPr>
          <p:cNvSpPr>
            <a:spLocks xmlns:a="http://schemas.openxmlformats.org/drawingml/2006/main" noGrp="1"/>
          </p:cNvSpPr>
          <p:nvPr/>
        </p:nvSpPr>
        <p:spPr>
          <a:xfrm xmlns:a="http://schemas.openxmlformats.org/drawingml/2006/main">
            <a:off x="6381750" y="3943350"/>
            <a:ext cx="685800" cy="685800"/>
          </a:xfrm>
          <a:prstGeom xmlns:a="http://schemas.openxmlformats.org/drawingml/2006/main" prst="roundRect">
            <a:avLst>
              <a:gd name="adj" fmla="val 11111"/>
            </a:avLst>
          </a:prstGeom>
          <a:solidFill xmlns:a="http://schemas.openxmlformats.org/drawingml/2006/main">
            <a:srgbClr val="155E8A"/>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1E0D83C6-F694-4D7C-871D-0DFF905783FB}"/>
              </a:ext>
            </a:extLst>
          </p:cNvPr>
          <p:cNvSpPr>
            <a:spLocks xmlns:a="http://schemas.openxmlformats.org/drawingml/2006/main" noGrp="1"/>
          </p:cNvSpPr>
          <p:nvPr/>
        </p:nvSpPr>
        <p:spPr>
          <a:xfrm xmlns:a="http://schemas.openxmlformats.org/drawingml/2006/main">
            <a:off x="6381750" y="4019550"/>
            <a:ext cx="685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100" b="1" i="0">
                <a:solidFill>
                  <a:srgbClr val="FFFFFF"/>
                </a:solidFill>
                <a:latin typeface="Aptos"/>
                <a:ea typeface="Aptos"/>
                <a:cs typeface="Aptos"/>
              </a:defRPr>
            </a:pPr>
            <a:r>
              <a:rPr sz="2100" b="1" i="0">
                <a:solidFill>
                  <a:srgbClr val="FFFFFF"/>
                </a:solidFill>
                <a:latin typeface="Aptos"/>
                <a:ea typeface="Aptos"/>
                <a:cs typeface="Aptos"/>
              </a:rPr>
              <a:t>3</a:t>
            </a:r>
          </a:p>
        </p:txBody>
      </p:sp>
      <p:sp>
        <p:nvSpPr>
          <p:cNvPr id="17" name="">
            <a:extLst xmlns:a="http://schemas.openxmlformats.org/drawingml/2006/main">
              <a:ext uri="{FF2B5EF4-FFF2-40B4-BE49-F238E27FC236}">
                <a16:creationId xmlns:a16="http://schemas.microsoft.com/office/drawing/2014/main" id="{635DB0D7-0D2B-4DBA-A9FC-6A0B531FD555}"/>
              </a:ext>
            </a:extLst>
          </p:cNvPr>
          <p:cNvSpPr>
            <a:spLocks xmlns:a="http://schemas.openxmlformats.org/drawingml/2006/main" noGrp="1"/>
          </p:cNvSpPr>
          <p:nvPr/>
        </p:nvSpPr>
        <p:spPr>
          <a:xfrm xmlns:a="http://schemas.openxmlformats.org/drawingml/2006/main">
            <a:off x="7334250" y="3943350"/>
            <a:ext cx="3524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406"/>
          </a:bodyPr>
          <a:lstStyle xmlns:a="http://schemas.openxmlformats.org/drawingml/2006/main"/>
          <a:p xmlns:a="http://schemas.openxmlformats.org/drawingml/2006/main">
            <a:pPr algn="l">
              <a:defRPr sz="1725" b="1" i="0">
                <a:solidFill>
                  <a:srgbClr val="0B1F33"/>
                </a:solidFill>
                <a:latin typeface="Aptos"/>
                <a:ea typeface="Aptos"/>
                <a:cs typeface="Aptos"/>
              </a:defRPr>
            </a:pPr>
            <a:r>
              <a:rPr sz="1725" b="1" i="0">
                <a:solidFill>
                  <a:srgbClr val="0B1F33"/>
                </a:solidFill>
                <a:latin typeface="Aptos"/>
                <a:ea typeface="Aptos"/>
                <a:cs typeface="Aptos"/>
              </a:rPr>
              <a:t>Logger</a:t>
            </a:r>
          </a:p>
        </p:txBody>
      </p:sp>
      <p:sp>
        <p:nvSpPr>
          <p:cNvPr id="18" name="">
            <a:extLst xmlns:a="http://schemas.openxmlformats.org/drawingml/2006/main">
              <a:ext uri="{FF2B5EF4-FFF2-40B4-BE49-F238E27FC236}">
                <a16:creationId xmlns:a16="http://schemas.microsoft.com/office/drawing/2014/main" id="{DB083E06-F596-40AF-93BF-C7A82AC63393}"/>
              </a:ext>
            </a:extLst>
          </p:cNvPr>
          <p:cNvSpPr>
            <a:spLocks xmlns:a="http://schemas.openxmlformats.org/drawingml/2006/main" noGrp="1"/>
          </p:cNvSpPr>
          <p:nvPr/>
        </p:nvSpPr>
        <p:spPr>
          <a:xfrm xmlns:a="http://schemas.openxmlformats.org/drawingml/2006/main">
            <a:off x="7334250" y="4362450"/>
            <a:ext cx="3714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i="0">
                <a:solidFill>
                  <a:srgbClr val="5E6B78"/>
                </a:solidFill>
                <a:latin typeface="Aptos"/>
                <a:ea typeface="Aptos"/>
                <a:cs typeface="Aptos"/>
              </a:defRPr>
            </a:pPr>
            <a:r>
              <a:rPr sz="1275" b="0" i="0">
                <a:solidFill>
                  <a:srgbClr val="5E6B78"/>
                </a:solidFill>
                <a:latin typeface="Aptos"/>
                <a:ea typeface="Aptos"/>
                <a:cs typeface="Aptos"/>
              </a:rPr>
              <a:t>Records the action with extra context</a:t>
            </a:r>
          </a:p>
        </p:txBody>
      </p:sp>
      <p:sp>
        <p:nvSpPr>
          <p:cNvPr id="19" name="">
            <a:extLst xmlns:a="http://schemas.openxmlformats.org/drawingml/2006/main">
              <a:ext uri="{FF2B5EF4-FFF2-40B4-BE49-F238E27FC236}">
                <a16:creationId xmlns:a16="http://schemas.microsoft.com/office/drawing/2014/main" id="{1AEDD83A-B78C-4171-80F0-1F5BBCA5757E}"/>
              </a:ext>
            </a:extLst>
          </p:cNvPr>
          <p:cNvSpPr>
            <a:spLocks xmlns:a="http://schemas.openxmlformats.org/drawingml/2006/main" noGrp="1"/>
          </p:cNvSpPr>
          <p:nvPr/>
        </p:nvSpPr>
        <p:spPr>
          <a:xfrm xmlns:a="http://schemas.openxmlformats.org/drawingml/2006/main">
            <a:off x="685800" y="5143500"/>
            <a:ext cx="10287000" cy="742950"/>
          </a:xfrm>
          <a:prstGeom xmlns:a="http://schemas.openxmlformats.org/drawingml/2006/main" prst="roundRect">
            <a:avLst>
              <a:gd name="adj" fmla="val 10256"/>
            </a:avLst>
          </a:prstGeom>
          <a:solidFill xmlns:a="http://schemas.openxmlformats.org/drawingml/2006/main">
            <a:srgbClr val="EEF5F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F111D55D-6F7F-4681-82D3-A2E6A88750FE}"/>
              </a:ext>
            </a:extLst>
          </p:cNvPr>
          <p:cNvSpPr>
            <a:spLocks xmlns:a="http://schemas.openxmlformats.org/drawingml/2006/main" noGrp="1"/>
          </p:cNvSpPr>
          <p:nvPr/>
        </p:nvSpPr>
        <p:spPr>
          <a:xfrm xmlns:a="http://schemas.openxmlformats.org/drawingml/2006/main">
            <a:off x="933450" y="5286375"/>
            <a:ext cx="9791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603"/>
          </a:bodyPr>
          <a:lstStyle xmlns:a="http://schemas.openxmlformats.org/drawingml/2006/main"/>
          <a:p xmlns:a="http://schemas.openxmlformats.org/drawingml/2006/main">
            <a:pPr algn="ctr">
              <a:defRPr sz="1425" b="1" i="0">
                <a:solidFill>
                  <a:srgbClr val="152433"/>
                </a:solidFill>
                <a:latin typeface="Aptos"/>
                <a:ea typeface="Aptos"/>
                <a:cs typeface="Aptos"/>
              </a:defRPr>
            </a:pPr>
            <a:r>
              <a:rPr sz="1425" b="1" i="0">
                <a:solidFill>
                  <a:srgbClr val="152433"/>
                </a:solidFill>
                <a:latin typeface="Aptos"/>
                <a:ea typeface="Aptos"/>
                <a:cs typeface="Aptos"/>
              </a:rPr>
              <a:t>Real use case: audit important user or business actions without mixing audit configuration into the method body.</a:t>
            </a:r>
          </a:p>
        </p:txBody>
      </p:sp>
      <p:sp>
        <p:nvSpPr>
          <p:cNvPr id="21" name="">
            <a:extLst xmlns:a="http://schemas.openxmlformats.org/drawingml/2006/main">
              <a:ext uri="{FF2B5EF4-FFF2-40B4-BE49-F238E27FC236}">
                <a16:creationId xmlns:a16="http://schemas.microsoft.com/office/drawing/2014/main" id="{D61E4C1D-9D56-4197-B09A-8D92BD41AA93}"/>
              </a:ext>
            </a:extLst>
          </p:cNvPr>
          <p:cNvSpPr>
            <a:spLocks xmlns:a="http://schemas.openxmlformats.org/drawingml/2006/main" noGrp="1"/>
          </p:cNvSpPr>
          <p:nvPr/>
        </p:nvSpPr>
        <p:spPr>
          <a:xfrm xmlns:a="http://schemas.openxmlformats.org/drawingml/2006/main">
            <a:off x="552450" y="6486525"/>
            <a:ext cx="3048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l">
              <a:defRPr sz="825" b="0" i="0">
                <a:solidFill>
                  <a:srgbClr val="5E6B78"/>
                </a:solidFill>
                <a:latin typeface="Aptos"/>
                <a:ea typeface="Aptos"/>
                <a:cs typeface="Aptos"/>
              </a:defRPr>
            </a:pPr>
            <a:r>
              <a:rPr sz="825" b="0" i="0">
                <a:solidFill>
                  <a:srgbClr val="5E6B78"/>
                </a:solidFill>
                <a:latin typeface="Aptos"/>
                <a:ea typeface="Aptos"/>
                <a:cs typeface="Aptos"/>
              </a:rPr>
              <a:t>Modern PHP Order System</a:t>
            </a:r>
          </a:p>
        </p:txBody>
      </p:sp>
      <p:sp>
        <p:nvSpPr>
          <p:cNvPr id="22" name="">
            <a:extLst xmlns:a="http://schemas.openxmlformats.org/drawingml/2006/main">
              <a:ext uri="{FF2B5EF4-FFF2-40B4-BE49-F238E27FC236}">
                <a16:creationId xmlns:a16="http://schemas.microsoft.com/office/drawing/2014/main" id="{E8787355-D326-488D-B1F3-8FDDB62E1F67}"/>
              </a:ext>
            </a:extLst>
          </p:cNvPr>
          <p:cNvSpPr>
            <a:spLocks xmlns:a="http://schemas.openxmlformats.org/drawingml/2006/main" noGrp="1"/>
          </p:cNvSpPr>
          <p:nvPr/>
        </p:nvSpPr>
        <p:spPr>
          <a:xfrm xmlns:a="http://schemas.openxmlformats.org/drawingml/2006/main">
            <a:off x="11049000" y="6486525"/>
            <a:ext cx="571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r">
              <a:defRPr sz="825" b="1" i="0">
                <a:solidFill>
                  <a:srgbClr val="5E6B78"/>
                </a:solidFill>
                <a:latin typeface="Aptos"/>
                <a:ea typeface="Aptos"/>
                <a:cs typeface="Aptos"/>
              </a:defRPr>
            </a:pPr>
            <a:r>
              <a:rPr sz="825" b="1" i="0">
                <a:solidFill>
                  <a:srgbClr val="5E6B78"/>
                </a:solidFill>
                <a:latin typeface="Aptos"/>
                <a:ea typeface="Aptos"/>
                <a:cs typeface="Aptos"/>
              </a:rPr>
              <a:t>08</a:t>
            </a:r>
          </a:p>
        </p:txBody>
      </p:sp>
    </p:spTree>
    <p:extLst>
      <p:ext uri="{BB962C8B-B14F-4D97-AF65-F5344CB8AC3E}">
        <p14:creationId xmlns:p14="http://schemas.microsoft.com/office/powerpoint/2010/main" val="1478638472"/>
      </p:ext>
    </p:extLst>
  </p:cSld>
</p:sld>
</file>

<file path=ppt/slides/slide9.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76BFC112-4670-48E5-9E22-F018C45E427F}"/>
              </a:ext>
            </a:extLst>
          </p:cNvPr>
          <p:cNvSpPr>
            <a:spLocks xmlns:a="http://schemas.openxmlformats.org/drawingml/2006/main" noGrp="1"/>
          </p:cNvSpPr>
          <p:nvPr/>
        </p:nvSpPr>
        <p:spPr>
          <a:xfrm xmlns:a="http://schemas.openxmlformats.org/drawingml/2006/main">
            <a:off x="552450" y="342900"/>
            <a:ext cx="5143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1" i="0">
                <a:solidFill>
                  <a:srgbClr val="22B8A7"/>
                </a:solidFill>
                <a:latin typeface="Aptos"/>
                <a:ea typeface="Aptos"/>
                <a:cs typeface="Aptos"/>
              </a:defRPr>
            </a:pPr>
            <a:r>
              <a:rPr sz="1200" b="1" i="0">
                <a:solidFill>
                  <a:srgbClr val="22B8A7"/>
                </a:solidFill>
                <a:latin typeface="Aptos"/>
                <a:ea typeface="Aptos"/>
                <a:cs typeface="Aptos"/>
              </a:rPr>
              <a:t>09</a:t>
            </a:r>
          </a:p>
        </p:txBody>
      </p:sp>
      <p:sp>
        <p:nvSpPr>
          <p:cNvPr id="2" name="">
            <a:extLst xmlns:a="http://schemas.openxmlformats.org/drawingml/2006/main">
              <a:ext uri="{FF2B5EF4-FFF2-40B4-BE49-F238E27FC236}">
                <a16:creationId xmlns:a16="http://schemas.microsoft.com/office/drawing/2014/main" id="{75FD8ADB-B3D0-4BDA-9D99-1AA462A78C39}"/>
              </a:ext>
            </a:extLst>
          </p:cNvPr>
          <p:cNvSpPr>
            <a:spLocks xmlns:a="http://schemas.openxmlformats.org/drawingml/2006/main" noGrp="1"/>
          </p:cNvSpPr>
          <p:nvPr/>
        </p:nvSpPr>
        <p:spPr>
          <a:xfrm xmlns:a="http://schemas.openxmlformats.org/drawingml/2006/main">
            <a:off x="1123950" y="266700"/>
            <a:ext cx="9906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i="0">
                <a:solidFill>
                  <a:srgbClr val="0B1F33"/>
                </a:solidFill>
                <a:latin typeface="Aptos"/>
                <a:ea typeface="Aptos"/>
                <a:cs typeface="Aptos"/>
              </a:defRPr>
            </a:pPr>
            <a:r>
              <a:rPr sz="2550" b="1" i="0">
                <a:solidFill>
                  <a:srgbClr val="0B1F33"/>
                </a:solidFill>
                <a:latin typeface="Aptos"/>
                <a:ea typeface="Aptos"/>
                <a:cs typeface="Aptos"/>
              </a:rPr>
              <a:t>Unit testing with PHPUnit</a:t>
            </a:r>
          </a:p>
        </p:txBody>
      </p:sp>
      <p:sp>
        <p:nvSpPr>
          <p:cNvPr id="3" name="">
            <a:extLst xmlns:a="http://schemas.openxmlformats.org/drawingml/2006/main">
              <a:ext uri="{FF2B5EF4-FFF2-40B4-BE49-F238E27FC236}">
                <a16:creationId xmlns:a16="http://schemas.microsoft.com/office/drawing/2014/main" id="{2A5D1C2A-E481-4809-A732-17FD0E0399DB}"/>
              </a:ext>
            </a:extLst>
          </p:cNvPr>
          <p:cNvSpPr>
            <a:spLocks xmlns:a="http://schemas.openxmlformats.org/drawingml/2006/main" noGrp="1"/>
          </p:cNvSpPr>
          <p:nvPr/>
        </p:nvSpPr>
        <p:spPr>
          <a:xfrm xmlns:a="http://schemas.openxmlformats.org/drawingml/2006/main">
            <a:off x="552450" y="895350"/>
            <a:ext cx="11087100" cy="28575"/>
          </a:xfrm>
          <a:prstGeom xmlns:a="http://schemas.openxmlformats.org/drawingml/2006/main" prst="rect">
            <a:avLst/>
          </a:prstGeom>
          <a:solidFill xmlns:a="http://schemas.openxmlformats.org/drawingml/2006/main">
            <a:srgbClr val="22B8A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CB39816-01F1-47F1-A488-5106E5B01412}"/>
              </a:ext>
            </a:extLst>
          </p:cNvPr>
          <p:cNvSpPr>
            <a:spLocks xmlns:a="http://schemas.openxmlformats.org/drawingml/2006/main" noGrp="1"/>
          </p:cNvSpPr>
          <p:nvPr/>
        </p:nvSpPr>
        <p:spPr>
          <a:xfrm xmlns:a="http://schemas.openxmlformats.org/drawingml/2006/main">
            <a:off x="685800" y="1295400"/>
            <a:ext cx="6191250" cy="4171950"/>
          </a:xfrm>
          <a:prstGeom xmlns:a="http://schemas.openxmlformats.org/drawingml/2006/main" prst="roundRect">
            <a:avLst>
              <a:gd name="adj" fmla="val 1826"/>
            </a:avLst>
          </a:prstGeom>
          <a:solidFill xmlns:a="http://schemas.openxmlformats.org/drawingml/2006/main">
            <a:srgbClr val="0B1F3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9458C8D-0814-41E1-8C45-EA0F20194355}"/>
              </a:ext>
            </a:extLst>
          </p:cNvPr>
          <p:cNvSpPr>
            <a:spLocks xmlns:a="http://schemas.openxmlformats.org/drawingml/2006/main" noGrp="1"/>
          </p:cNvSpPr>
          <p:nvPr/>
        </p:nvSpPr>
        <p:spPr>
          <a:xfrm xmlns:a="http://schemas.openxmlformats.org/drawingml/2006/main">
            <a:off x="971550" y="1543050"/>
            <a:ext cx="5676900" cy="3619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i="0">
                <a:solidFill>
                  <a:srgbClr val="FFFFFF"/>
                </a:solidFill>
                <a:latin typeface="Consolas"/>
                <a:ea typeface="Consolas"/>
                <a:cs typeface="Consolas"/>
              </a:defRPr>
            </a:pPr>
            <a:r>
              <a:rPr sz="1275" b="0" i="0">
                <a:solidFill>
                  <a:srgbClr val="FFFFFF"/>
                </a:solidFill>
                <a:latin typeface="Consolas"/>
                <a:ea typeface="Consolas"/>
                <a:cs typeface="Consolas"/>
              </a:rPr>
              <a:t>public function</a:t>
            </a:r>
          </a:p>
          <a:p xmlns:a="http://schemas.openxmlformats.org/drawingml/2006/main">
            <a:pPr algn="l">
              <a:defRPr sz="1275" b="0" i="0">
                <a:solidFill>
                  <a:srgbClr val="FFFFFF"/>
                </a:solidFill>
                <a:latin typeface="Consolas"/>
                <a:ea typeface="Consolas"/>
                <a:cs typeface="Consolas"/>
              </a:defRPr>
            </a:pPr>
            <a:r>
              <a:rPr sz="1275" b="0" i="0">
                <a:solidFill>
                  <a:srgbClr val="FFFFFF"/>
                </a:solidFill>
                <a:latin typeface="Consolas"/>
                <a:ea typeface="Consolas"/>
                <a:cs typeface="Consolas"/>
              </a:rPr>
              <a:t>test_pending_order_can_move_to_processing(): void</a:t>
            </a:r>
          </a:p>
          <a:p xmlns:a="http://schemas.openxmlformats.org/drawingml/2006/main">
            <a:pPr algn="l">
              <a:defRPr sz="1275" b="0" i="0">
                <a:solidFill>
                  <a:srgbClr val="FFFFFF"/>
                </a:solidFill>
                <a:latin typeface="Consolas"/>
                <a:ea typeface="Consolas"/>
                <a:cs typeface="Consolas"/>
              </a:defRPr>
            </a:pPr>
            <a:r>
              <a:rPr sz="1275" b="0" i="0">
                <a:solidFill>
                  <a:srgbClr val="FFFFFF"/>
                </a:solidFill>
                <a:latin typeface="Consolas"/>
                <a:ea typeface="Consolas"/>
                <a:cs typeface="Consolas"/>
              </a:rPr>
              <a:t>{</a:t>
            </a:r>
          </a:p>
          <a:p xmlns:a="http://schemas.openxmlformats.org/drawingml/2006/main">
            <a:pPr algn="l">
              <a:defRPr sz="1275" b="0" i="0">
                <a:solidFill>
                  <a:srgbClr val="FFFFFF"/>
                </a:solidFill>
                <a:latin typeface="Consolas"/>
                <a:ea typeface="Consolas"/>
                <a:cs typeface="Consolas"/>
              </a:defRPr>
            </a:pPr>
            <a:r>
              <a:rPr sz="1275" b="0" i="0">
                <a:solidFill>
                  <a:srgbClr val="FFFFFF"/>
                </a:solidFill>
                <a:latin typeface="Consolas"/>
                <a:ea typeface="Consolas"/>
                <a:cs typeface="Consolas"/>
              </a:rPr>
              <a:t>  // Arrange</a:t>
            </a:r>
          </a:p>
          <a:p xmlns:a="http://schemas.openxmlformats.org/drawingml/2006/main">
            <a:pPr algn="l">
              <a:defRPr sz="1275" b="0" i="0">
                <a:solidFill>
                  <a:srgbClr val="FFFFFF"/>
                </a:solidFill>
                <a:latin typeface="Consolas"/>
                <a:ea typeface="Consolas"/>
                <a:cs typeface="Consolas"/>
              </a:defRPr>
            </a:pPr>
            <a:r>
              <a:rPr sz="1275" b="0" i="0">
                <a:solidFill>
                  <a:srgbClr val="FFFFFF"/>
                </a:solidFill>
                <a:latin typeface="Consolas"/>
                <a:ea typeface="Consolas"/>
                <a:cs typeface="Consolas"/>
              </a:rPr>
              <a:t>  $order = $this-&gt;createOrder();</a:t>
            </a:r>
          </a:p>
          <a:p xmlns:a="http://schemas.openxmlformats.org/drawingml/2006/main">
            <a:r>
              <a:t/>
            </a:r>
          </a:p>
          <a:p xmlns:a="http://schemas.openxmlformats.org/drawingml/2006/main">
            <a:pPr algn="l">
              <a:defRPr sz="1275" b="0" i="0">
                <a:solidFill>
                  <a:srgbClr val="FFFFFF"/>
                </a:solidFill>
                <a:latin typeface="Consolas"/>
                <a:ea typeface="Consolas"/>
                <a:cs typeface="Consolas"/>
              </a:defRPr>
            </a:pPr>
            <a:r>
              <a:rPr sz="1275" b="0" i="0">
                <a:solidFill>
                  <a:srgbClr val="FFFFFF"/>
                </a:solidFill>
                <a:latin typeface="Consolas"/>
                <a:ea typeface="Consolas"/>
                <a:cs typeface="Consolas"/>
              </a:rPr>
              <a:t>  // Act</a:t>
            </a:r>
          </a:p>
          <a:p xmlns:a="http://schemas.openxmlformats.org/drawingml/2006/main">
            <a:pPr algn="l">
              <a:defRPr sz="1275" b="0" i="0">
                <a:solidFill>
                  <a:srgbClr val="FFFFFF"/>
                </a:solidFill>
                <a:latin typeface="Consolas"/>
                <a:ea typeface="Consolas"/>
                <a:cs typeface="Consolas"/>
              </a:defRPr>
            </a:pPr>
            <a:r>
              <a:rPr sz="1275" b="0" i="0">
                <a:solidFill>
                  <a:srgbClr val="FFFFFF"/>
                </a:solidFill>
                <a:latin typeface="Consolas"/>
                <a:ea typeface="Consolas"/>
                <a:cs typeface="Consolas"/>
              </a:rPr>
              <a:t>  $order-&gt;changeStatus(OrderStatus::PROCESSING);</a:t>
            </a:r>
          </a:p>
          <a:p xmlns:a="http://schemas.openxmlformats.org/drawingml/2006/main">
            <a:r>
              <a:t/>
            </a:r>
          </a:p>
          <a:p xmlns:a="http://schemas.openxmlformats.org/drawingml/2006/main">
            <a:pPr algn="l">
              <a:defRPr sz="1275" b="0" i="0">
                <a:solidFill>
                  <a:srgbClr val="FFFFFF"/>
                </a:solidFill>
                <a:latin typeface="Consolas"/>
                <a:ea typeface="Consolas"/>
                <a:cs typeface="Consolas"/>
              </a:defRPr>
            </a:pPr>
            <a:r>
              <a:rPr sz="1275" b="0" i="0">
                <a:solidFill>
                  <a:srgbClr val="FFFFFF"/>
                </a:solidFill>
                <a:latin typeface="Consolas"/>
                <a:ea typeface="Consolas"/>
                <a:cs typeface="Consolas"/>
              </a:rPr>
              <a:t>  // Assert</a:t>
            </a:r>
          </a:p>
          <a:p xmlns:a="http://schemas.openxmlformats.org/drawingml/2006/main">
            <a:pPr algn="l">
              <a:defRPr sz="1275" b="0" i="0">
                <a:solidFill>
                  <a:srgbClr val="FFFFFF"/>
                </a:solidFill>
                <a:latin typeface="Consolas"/>
                <a:ea typeface="Consolas"/>
                <a:cs typeface="Consolas"/>
              </a:defRPr>
            </a:pPr>
            <a:r>
              <a:rPr sz="1275" b="0" i="0">
                <a:solidFill>
                  <a:srgbClr val="FFFFFF"/>
                </a:solidFill>
                <a:latin typeface="Consolas"/>
                <a:ea typeface="Consolas"/>
                <a:cs typeface="Consolas"/>
              </a:rPr>
              <a:t>  $this-&gt;assertSame(</a:t>
            </a:r>
          </a:p>
          <a:p xmlns:a="http://schemas.openxmlformats.org/drawingml/2006/main">
            <a:pPr algn="l">
              <a:defRPr sz="1275" b="0" i="0">
                <a:solidFill>
                  <a:srgbClr val="FFFFFF"/>
                </a:solidFill>
                <a:latin typeface="Consolas"/>
                <a:ea typeface="Consolas"/>
                <a:cs typeface="Consolas"/>
              </a:defRPr>
            </a:pPr>
            <a:r>
              <a:rPr sz="1275" b="0" i="0">
                <a:solidFill>
                  <a:srgbClr val="FFFFFF"/>
                </a:solidFill>
                <a:latin typeface="Consolas"/>
                <a:ea typeface="Consolas"/>
                <a:cs typeface="Consolas"/>
              </a:rPr>
              <a:t>    OrderStatus::PROCESSING, $order-&gt;status()</a:t>
            </a:r>
          </a:p>
          <a:p xmlns:a="http://schemas.openxmlformats.org/drawingml/2006/main">
            <a:pPr algn="l">
              <a:defRPr sz="1275" b="0" i="0">
                <a:solidFill>
                  <a:srgbClr val="FFFFFF"/>
                </a:solidFill>
                <a:latin typeface="Consolas"/>
                <a:ea typeface="Consolas"/>
                <a:cs typeface="Consolas"/>
              </a:defRPr>
            </a:pPr>
            <a:r>
              <a:rPr sz="1275" b="0" i="0">
                <a:solidFill>
                  <a:srgbClr val="FFFFFF"/>
                </a:solidFill>
                <a:latin typeface="Consolas"/>
                <a:ea typeface="Consolas"/>
                <a:cs typeface="Consolas"/>
              </a:rPr>
              <a:t>  );</a:t>
            </a:r>
          </a:p>
          <a:p xmlns:a="http://schemas.openxmlformats.org/drawingml/2006/main">
            <a:pPr algn="l">
              <a:defRPr sz="1275" b="0" i="0">
                <a:solidFill>
                  <a:srgbClr val="FFFFFF"/>
                </a:solidFill>
                <a:latin typeface="Consolas"/>
                <a:ea typeface="Consolas"/>
                <a:cs typeface="Consolas"/>
              </a:defRPr>
            </a:pPr>
            <a:r>
              <a:rPr sz="1275" b="0" i="0">
                <a:solidFill>
                  <a:srgbClr val="FFFFFF"/>
                </a:solidFill>
                <a:latin typeface="Consolas"/>
                <a:ea typeface="Consolas"/>
                <a:cs typeface="Consolas"/>
              </a:rPr>
              <a:t>}</a:t>
            </a:r>
          </a:p>
        </p:txBody>
      </p:sp>
      <p:sp>
        <p:nvSpPr>
          <p:cNvPr id="6" name="">
            <a:extLst xmlns:a="http://schemas.openxmlformats.org/drawingml/2006/main">
              <a:ext uri="{FF2B5EF4-FFF2-40B4-BE49-F238E27FC236}">
                <a16:creationId xmlns:a16="http://schemas.microsoft.com/office/drawing/2014/main" id="{A10DB892-0238-4A31-988B-D2FCA9557B8A}"/>
              </a:ext>
            </a:extLst>
          </p:cNvPr>
          <p:cNvSpPr>
            <a:spLocks xmlns:a="http://schemas.openxmlformats.org/drawingml/2006/main" noGrp="1"/>
          </p:cNvSpPr>
          <p:nvPr/>
        </p:nvSpPr>
        <p:spPr>
          <a:xfrm xmlns:a="http://schemas.openxmlformats.org/drawingml/2006/main">
            <a:off x="7524750" y="1466850"/>
            <a:ext cx="3162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667"/>
          </a:bodyPr>
          <a:lstStyle xmlns:a="http://schemas.openxmlformats.org/drawingml/2006/main"/>
          <a:p xmlns:a="http://schemas.openxmlformats.org/drawingml/2006/main">
            <a:pPr algn="ctr">
              <a:defRPr sz="3300" b="1" i="0">
                <a:solidFill>
                  <a:srgbClr val="155E8A"/>
                </a:solidFill>
                <a:latin typeface="Aptos"/>
                <a:ea typeface="Aptos"/>
                <a:cs typeface="Aptos"/>
              </a:defRPr>
            </a:pPr>
            <a:r>
              <a:rPr sz="3300" b="1" i="0">
                <a:solidFill>
                  <a:srgbClr val="155E8A"/>
                </a:solidFill>
                <a:latin typeface="Aptos"/>
                <a:ea typeface="Aptos"/>
                <a:cs typeface="Aptos"/>
              </a:rPr>
              <a:t>10</a:t>
            </a:r>
          </a:p>
        </p:txBody>
      </p:sp>
      <p:sp>
        <p:nvSpPr>
          <p:cNvPr id="7" name="">
            <a:extLst xmlns:a="http://schemas.openxmlformats.org/drawingml/2006/main">
              <a:ext uri="{FF2B5EF4-FFF2-40B4-BE49-F238E27FC236}">
                <a16:creationId xmlns:a16="http://schemas.microsoft.com/office/drawing/2014/main" id="{8AA39482-A41D-490F-AD4D-F22454A8DBA9}"/>
              </a:ext>
            </a:extLst>
          </p:cNvPr>
          <p:cNvSpPr>
            <a:spLocks xmlns:a="http://schemas.openxmlformats.org/drawingml/2006/main" noGrp="1"/>
          </p:cNvSpPr>
          <p:nvPr/>
        </p:nvSpPr>
        <p:spPr>
          <a:xfrm xmlns:a="http://schemas.openxmlformats.org/drawingml/2006/main">
            <a:off x="7524750" y="2000250"/>
            <a:ext cx="3162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185"/>
          </a:bodyPr>
          <a:lstStyle xmlns:a="http://schemas.openxmlformats.org/drawingml/2006/main"/>
          <a:p xmlns:a="http://schemas.openxmlformats.org/drawingml/2006/main">
            <a:pPr algn="ctr">
              <a:defRPr sz="1350" b="1" i="0">
                <a:solidFill>
                  <a:srgbClr val="5E6B78"/>
                </a:solidFill>
                <a:latin typeface="Aptos"/>
                <a:ea typeface="Aptos"/>
                <a:cs typeface="Aptos"/>
              </a:defRPr>
            </a:pPr>
            <a:r>
              <a:rPr sz="1350" b="1" i="0">
                <a:solidFill>
                  <a:srgbClr val="5E6B78"/>
                </a:solidFill>
                <a:latin typeface="Aptos"/>
                <a:ea typeface="Aptos"/>
                <a:cs typeface="Aptos"/>
              </a:rPr>
              <a:t>tests</a:t>
            </a:r>
          </a:p>
        </p:txBody>
      </p:sp>
      <p:sp>
        <p:nvSpPr>
          <p:cNvPr id="8" name="">
            <a:extLst xmlns:a="http://schemas.openxmlformats.org/drawingml/2006/main">
              <a:ext uri="{FF2B5EF4-FFF2-40B4-BE49-F238E27FC236}">
                <a16:creationId xmlns:a16="http://schemas.microsoft.com/office/drawing/2014/main" id="{6AA06761-540E-4EAF-BE19-D610D5805102}"/>
              </a:ext>
            </a:extLst>
          </p:cNvPr>
          <p:cNvSpPr>
            <a:spLocks xmlns:a="http://schemas.openxmlformats.org/drawingml/2006/main" noGrp="1"/>
          </p:cNvSpPr>
          <p:nvPr/>
        </p:nvSpPr>
        <p:spPr>
          <a:xfrm xmlns:a="http://schemas.openxmlformats.org/drawingml/2006/main">
            <a:off x="7524750" y="2686050"/>
            <a:ext cx="3162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667"/>
          </a:bodyPr>
          <a:lstStyle xmlns:a="http://schemas.openxmlformats.org/drawingml/2006/main"/>
          <a:p xmlns:a="http://schemas.openxmlformats.org/drawingml/2006/main">
            <a:pPr algn="ctr">
              <a:defRPr sz="3300" b="1" i="0">
                <a:solidFill>
                  <a:srgbClr val="155E8A"/>
                </a:solidFill>
                <a:latin typeface="Aptos"/>
                <a:ea typeface="Aptos"/>
                <a:cs typeface="Aptos"/>
              </a:defRPr>
            </a:pPr>
            <a:r>
              <a:rPr sz="3300" b="1" i="0">
                <a:solidFill>
                  <a:srgbClr val="155E8A"/>
                </a:solidFill>
                <a:latin typeface="Aptos"/>
                <a:ea typeface="Aptos"/>
                <a:cs typeface="Aptos"/>
              </a:rPr>
              <a:t>18</a:t>
            </a:r>
          </a:p>
        </p:txBody>
      </p:sp>
      <p:sp>
        <p:nvSpPr>
          <p:cNvPr id="9" name="">
            <a:extLst xmlns:a="http://schemas.openxmlformats.org/drawingml/2006/main">
              <a:ext uri="{FF2B5EF4-FFF2-40B4-BE49-F238E27FC236}">
                <a16:creationId xmlns:a16="http://schemas.microsoft.com/office/drawing/2014/main" id="{FE8D35B2-2E99-4209-9E63-701D0DA5B6D3}"/>
              </a:ext>
            </a:extLst>
          </p:cNvPr>
          <p:cNvSpPr>
            <a:spLocks xmlns:a="http://schemas.openxmlformats.org/drawingml/2006/main" noGrp="1"/>
          </p:cNvSpPr>
          <p:nvPr/>
        </p:nvSpPr>
        <p:spPr>
          <a:xfrm xmlns:a="http://schemas.openxmlformats.org/drawingml/2006/main">
            <a:off x="7524750" y="3219450"/>
            <a:ext cx="3162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185"/>
          </a:bodyPr>
          <a:lstStyle xmlns:a="http://schemas.openxmlformats.org/drawingml/2006/main"/>
          <a:p xmlns:a="http://schemas.openxmlformats.org/drawingml/2006/main">
            <a:pPr algn="ctr">
              <a:defRPr sz="1350" b="1" i="0">
                <a:solidFill>
                  <a:srgbClr val="5E6B78"/>
                </a:solidFill>
                <a:latin typeface="Aptos"/>
                <a:ea typeface="Aptos"/>
                <a:cs typeface="Aptos"/>
              </a:defRPr>
            </a:pPr>
            <a:r>
              <a:rPr sz="1350" b="1" i="0">
                <a:solidFill>
                  <a:srgbClr val="5E6B78"/>
                </a:solidFill>
                <a:latin typeface="Aptos"/>
                <a:ea typeface="Aptos"/>
                <a:cs typeface="Aptos"/>
              </a:rPr>
              <a:t>assertions</a:t>
            </a:r>
          </a:p>
        </p:txBody>
      </p:sp>
      <p:sp>
        <p:nvSpPr>
          <p:cNvPr id="10" name="">
            <a:extLst xmlns:a="http://schemas.openxmlformats.org/drawingml/2006/main">
              <a:ext uri="{FF2B5EF4-FFF2-40B4-BE49-F238E27FC236}">
                <a16:creationId xmlns:a16="http://schemas.microsoft.com/office/drawing/2014/main" id="{2937B5B3-4483-431E-A197-1F8E90656A2F}"/>
              </a:ext>
            </a:extLst>
          </p:cNvPr>
          <p:cNvSpPr>
            <a:spLocks xmlns:a="http://schemas.openxmlformats.org/drawingml/2006/main" noGrp="1"/>
          </p:cNvSpPr>
          <p:nvPr/>
        </p:nvSpPr>
        <p:spPr>
          <a:xfrm xmlns:a="http://schemas.openxmlformats.org/drawingml/2006/main">
            <a:off x="7524750" y="3905250"/>
            <a:ext cx="3162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667"/>
          </a:bodyPr>
          <a:lstStyle xmlns:a="http://schemas.openxmlformats.org/drawingml/2006/main"/>
          <a:p xmlns:a="http://schemas.openxmlformats.org/drawingml/2006/main">
            <a:pPr algn="ctr">
              <a:defRPr sz="3300" b="1" i="0">
                <a:solidFill>
                  <a:srgbClr val="22B8A7"/>
                </a:solidFill>
                <a:latin typeface="Aptos"/>
                <a:ea typeface="Aptos"/>
                <a:cs typeface="Aptos"/>
              </a:defRPr>
            </a:pPr>
            <a:r>
              <a:rPr sz="3300" b="1" i="0">
                <a:solidFill>
                  <a:srgbClr val="22B8A7"/>
                </a:solidFill>
                <a:latin typeface="Aptos"/>
                <a:ea typeface="Aptos"/>
                <a:cs typeface="Aptos"/>
              </a:rPr>
              <a:t>100%</a:t>
            </a:r>
          </a:p>
        </p:txBody>
      </p:sp>
      <p:sp>
        <p:nvSpPr>
          <p:cNvPr id="11" name="">
            <a:extLst xmlns:a="http://schemas.openxmlformats.org/drawingml/2006/main">
              <a:ext uri="{FF2B5EF4-FFF2-40B4-BE49-F238E27FC236}">
                <a16:creationId xmlns:a16="http://schemas.microsoft.com/office/drawing/2014/main" id="{73A5BA70-7B95-46C2-955F-A233D1C9FC3B}"/>
              </a:ext>
            </a:extLst>
          </p:cNvPr>
          <p:cNvSpPr>
            <a:spLocks xmlns:a="http://schemas.openxmlformats.org/drawingml/2006/main" noGrp="1"/>
          </p:cNvSpPr>
          <p:nvPr/>
        </p:nvSpPr>
        <p:spPr>
          <a:xfrm xmlns:a="http://schemas.openxmlformats.org/drawingml/2006/main">
            <a:off x="7524750" y="4438650"/>
            <a:ext cx="3162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185"/>
          </a:bodyPr>
          <a:lstStyle xmlns:a="http://schemas.openxmlformats.org/drawingml/2006/main"/>
          <a:p xmlns:a="http://schemas.openxmlformats.org/drawingml/2006/main">
            <a:pPr algn="ctr">
              <a:defRPr sz="1350" b="1" i="0">
                <a:solidFill>
                  <a:srgbClr val="5E6B78"/>
                </a:solidFill>
                <a:latin typeface="Aptos"/>
                <a:ea typeface="Aptos"/>
                <a:cs typeface="Aptos"/>
              </a:defRPr>
            </a:pPr>
            <a:r>
              <a:rPr sz="1350" b="1" i="0">
                <a:solidFill>
                  <a:srgbClr val="5E6B78"/>
                </a:solidFill>
                <a:latin typeface="Aptos"/>
                <a:ea typeface="Aptos"/>
                <a:cs typeface="Aptos"/>
              </a:rPr>
              <a:t>passing</a:t>
            </a:r>
          </a:p>
        </p:txBody>
      </p:sp>
      <p:sp>
        <p:nvSpPr>
          <p:cNvPr id="12" name="">
            <a:extLst xmlns:a="http://schemas.openxmlformats.org/drawingml/2006/main">
              <a:ext uri="{FF2B5EF4-FFF2-40B4-BE49-F238E27FC236}">
                <a16:creationId xmlns:a16="http://schemas.microsoft.com/office/drawing/2014/main" id="{B92B0E0E-B49F-4E09-A705-C6E70FED23A9}"/>
              </a:ext>
            </a:extLst>
          </p:cNvPr>
          <p:cNvSpPr>
            <a:spLocks xmlns:a="http://schemas.openxmlformats.org/drawingml/2006/main" noGrp="1"/>
          </p:cNvSpPr>
          <p:nvPr/>
        </p:nvSpPr>
        <p:spPr>
          <a:xfrm xmlns:a="http://schemas.openxmlformats.org/drawingml/2006/main">
            <a:off x="7315200" y="5162550"/>
            <a:ext cx="3714750" cy="6096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9525">
            <a:solidFill>
              <a:srgbClr val="D4E1E8"/>
            </a:solidFill>
          </a:ln>
        </p:spPr>
      </p:sp>
      <p:sp>
        <p:nvSpPr>
          <p:cNvPr id="13" name="">
            <a:extLst xmlns:a="http://schemas.openxmlformats.org/drawingml/2006/main">
              <a:ext uri="{FF2B5EF4-FFF2-40B4-BE49-F238E27FC236}">
                <a16:creationId xmlns:a16="http://schemas.microsoft.com/office/drawing/2014/main" id="{07995583-8F03-4791-AADE-90AFFB12FB82}"/>
              </a:ext>
            </a:extLst>
          </p:cNvPr>
          <p:cNvSpPr>
            <a:spLocks xmlns:a="http://schemas.openxmlformats.org/drawingml/2006/main" noGrp="1"/>
          </p:cNvSpPr>
          <p:nvPr/>
        </p:nvSpPr>
        <p:spPr>
          <a:xfrm xmlns:a="http://schemas.openxmlformats.org/drawingml/2006/main">
            <a:off x="7543800" y="5257800"/>
            <a:ext cx="32575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985"/>
          </a:bodyPr>
          <a:lstStyle xmlns:a="http://schemas.openxmlformats.org/drawingml/2006/main"/>
          <a:p xmlns:a="http://schemas.openxmlformats.org/drawingml/2006/main">
            <a:pPr algn="ctr">
              <a:defRPr sz="1275" b="1" i="0">
                <a:solidFill>
                  <a:srgbClr val="152433"/>
                </a:solidFill>
                <a:latin typeface="Aptos"/>
                <a:ea typeface="Aptos"/>
                <a:cs typeface="Aptos"/>
              </a:defRPr>
            </a:pPr>
            <a:r>
              <a:rPr sz="1275" b="1" i="0">
                <a:solidFill>
                  <a:srgbClr val="152433"/>
                </a:solidFill>
                <a:latin typeface="Aptos"/>
                <a:ea typeface="Aptos"/>
                <a:cs typeface="Aptos"/>
              </a:rPr>
              <a:t>Covers valid paths and expected exceptions</a:t>
            </a:r>
          </a:p>
        </p:txBody>
      </p:sp>
      <p:sp>
        <p:nvSpPr>
          <p:cNvPr id="14" name="">
            <a:extLst xmlns:a="http://schemas.openxmlformats.org/drawingml/2006/main">
              <a:ext uri="{FF2B5EF4-FFF2-40B4-BE49-F238E27FC236}">
                <a16:creationId xmlns:a16="http://schemas.microsoft.com/office/drawing/2014/main" id="{6CC9B40D-6BEB-498C-8FAB-1543E8F1728D}"/>
              </a:ext>
            </a:extLst>
          </p:cNvPr>
          <p:cNvSpPr>
            <a:spLocks xmlns:a="http://schemas.openxmlformats.org/drawingml/2006/main" noGrp="1"/>
          </p:cNvSpPr>
          <p:nvPr/>
        </p:nvSpPr>
        <p:spPr>
          <a:xfrm xmlns:a="http://schemas.openxmlformats.org/drawingml/2006/main">
            <a:off x="552450" y="6486525"/>
            <a:ext cx="3048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l">
              <a:defRPr sz="825" b="0" i="0">
                <a:solidFill>
                  <a:srgbClr val="5E6B78"/>
                </a:solidFill>
                <a:latin typeface="Aptos"/>
                <a:ea typeface="Aptos"/>
                <a:cs typeface="Aptos"/>
              </a:defRPr>
            </a:pPr>
            <a:r>
              <a:rPr sz="825" b="0" i="0">
                <a:solidFill>
                  <a:srgbClr val="5E6B78"/>
                </a:solidFill>
                <a:latin typeface="Aptos"/>
                <a:ea typeface="Aptos"/>
                <a:cs typeface="Aptos"/>
              </a:rPr>
              <a:t>Modern PHP Order System</a:t>
            </a:r>
          </a:p>
        </p:txBody>
      </p:sp>
      <p:sp>
        <p:nvSpPr>
          <p:cNvPr id="15" name="">
            <a:extLst xmlns:a="http://schemas.openxmlformats.org/drawingml/2006/main">
              <a:ext uri="{FF2B5EF4-FFF2-40B4-BE49-F238E27FC236}">
                <a16:creationId xmlns:a16="http://schemas.microsoft.com/office/drawing/2014/main" id="{2F4DFC1C-F006-4603-BAD6-D7E915075AFC}"/>
              </a:ext>
            </a:extLst>
          </p:cNvPr>
          <p:cNvSpPr>
            <a:spLocks xmlns:a="http://schemas.openxmlformats.org/drawingml/2006/main" noGrp="1"/>
          </p:cNvSpPr>
          <p:nvPr/>
        </p:nvSpPr>
        <p:spPr>
          <a:xfrm xmlns:a="http://schemas.openxmlformats.org/drawingml/2006/main">
            <a:off x="11049000" y="6486525"/>
            <a:ext cx="571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r">
              <a:defRPr sz="825" b="1" i="0">
                <a:solidFill>
                  <a:srgbClr val="5E6B78"/>
                </a:solidFill>
                <a:latin typeface="Aptos"/>
                <a:ea typeface="Aptos"/>
                <a:cs typeface="Aptos"/>
              </a:defRPr>
            </a:pPr>
            <a:r>
              <a:rPr sz="825" b="1" i="0">
                <a:solidFill>
                  <a:srgbClr val="5E6B78"/>
                </a:solidFill>
                <a:latin typeface="Aptos"/>
                <a:ea typeface="Aptos"/>
                <a:cs typeface="Aptos"/>
              </a:rPr>
              <a:t>09</a:t>
            </a:r>
          </a:p>
        </p:txBody>
      </p:sp>
    </p:spTree>
    <p:extLst>
      <p:ext uri="{BB962C8B-B14F-4D97-AF65-F5344CB8AC3E}">
        <p14:creationId xmlns:p14="http://schemas.microsoft.com/office/powerpoint/2010/main" val="15865786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AA97218D-B9E8-4954-956C-A14EF913CBA2}"/>
              </a:ext>
            </a:extLst>
          </p:cNvPr>
          <p:cNvSpPr>
            <a:spLocks xmlns:a="http://schemas.openxmlformats.org/drawingml/2006/main" noGrp="1"/>
          </p:cNvSpPr>
          <p:nvPr/>
        </p:nvSpPr>
        <p:spPr>
          <a:xfrm xmlns:a="http://schemas.openxmlformats.org/drawingml/2006/main">
            <a:off x="552450" y="342900"/>
            <a:ext cx="5143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1" i="0">
                <a:solidFill>
                  <a:srgbClr val="22B8A7"/>
                </a:solidFill>
                <a:latin typeface="Aptos"/>
                <a:ea typeface="Aptos"/>
                <a:cs typeface="Aptos"/>
              </a:defRPr>
            </a:pPr>
            <a:r>
              <a:rPr sz="1200" b="1" i="0">
                <a:solidFill>
                  <a:srgbClr val="22B8A7"/>
                </a:solidFill>
                <a:latin typeface="Aptos"/>
                <a:ea typeface="Aptos"/>
                <a:cs typeface="Aptos"/>
              </a:rPr>
              <a:t>10</a:t>
            </a:r>
          </a:p>
        </p:txBody>
      </p:sp>
      <p:sp>
        <p:nvSpPr>
          <p:cNvPr id="2" name="">
            <a:extLst xmlns:a="http://schemas.openxmlformats.org/drawingml/2006/main">
              <a:ext uri="{FF2B5EF4-FFF2-40B4-BE49-F238E27FC236}">
                <a16:creationId xmlns:a16="http://schemas.microsoft.com/office/drawing/2014/main" id="{DAFCB39E-FE4A-4A60-9773-FBAE3122E435}"/>
              </a:ext>
            </a:extLst>
          </p:cNvPr>
          <p:cNvSpPr>
            <a:spLocks xmlns:a="http://schemas.openxmlformats.org/drawingml/2006/main" noGrp="1"/>
          </p:cNvSpPr>
          <p:nvPr/>
        </p:nvSpPr>
        <p:spPr>
          <a:xfrm xmlns:a="http://schemas.openxmlformats.org/drawingml/2006/main">
            <a:off x="1123950" y="266700"/>
            <a:ext cx="9906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i="0">
                <a:solidFill>
                  <a:srgbClr val="0B1F33"/>
                </a:solidFill>
                <a:latin typeface="Aptos"/>
                <a:ea typeface="Aptos"/>
                <a:cs typeface="Aptos"/>
              </a:defRPr>
            </a:pPr>
            <a:r>
              <a:rPr sz="2550" b="1" i="0">
                <a:solidFill>
                  <a:srgbClr val="0B1F33"/>
                </a:solidFill>
                <a:latin typeface="Aptos"/>
                <a:ea typeface="Aptos"/>
                <a:cs typeface="Aptos"/>
              </a:rPr>
              <a:t>Key engineering decisions</a:t>
            </a:r>
          </a:p>
        </p:txBody>
      </p:sp>
      <p:sp>
        <p:nvSpPr>
          <p:cNvPr id="3" name="">
            <a:extLst xmlns:a="http://schemas.openxmlformats.org/drawingml/2006/main">
              <a:ext uri="{FF2B5EF4-FFF2-40B4-BE49-F238E27FC236}">
                <a16:creationId xmlns:a16="http://schemas.microsoft.com/office/drawing/2014/main" id="{F7D50AA4-ED35-4C04-A93A-7B10F6BF840D}"/>
              </a:ext>
            </a:extLst>
          </p:cNvPr>
          <p:cNvSpPr>
            <a:spLocks xmlns:a="http://schemas.openxmlformats.org/drawingml/2006/main" noGrp="1"/>
          </p:cNvSpPr>
          <p:nvPr/>
        </p:nvSpPr>
        <p:spPr>
          <a:xfrm xmlns:a="http://schemas.openxmlformats.org/drawingml/2006/main">
            <a:off x="552450" y="895350"/>
            <a:ext cx="11087100" cy="28575"/>
          </a:xfrm>
          <a:prstGeom xmlns:a="http://schemas.openxmlformats.org/drawingml/2006/main" prst="rect">
            <a:avLst/>
          </a:prstGeom>
          <a:solidFill xmlns:a="http://schemas.openxmlformats.org/drawingml/2006/main">
            <a:srgbClr val="22B8A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DF530BF-FA6B-4652-9CE5-05DE76A5D4B7}"/>
              </a:ext>
            </a:extLst>
          </p:cNvPr>
          <p:cNvSpPr>
            <a:spLocks xmlns:a="http://schemas.openxmlformats.org/drawingml/2006/main" noGrp="1"/>
          </p:cNvSpPr>
          <p:nvPr/>
        </p:nvSpPr>
        <p:spPr>
          <a:xfrm xmlns:a="http://schemas.openxmlformats.org/drawingml/2006/main">
            <a:off x="685800" y="1181100"/>
            <a:ext cx="10744200" cy="514350"/>
          </a:xfrm>
          <a:prstGeom xmlns:a="http://schemas.openxmlformats.org/drawingml/2006/main" prst="roundRect">
            <a:avLst>
              <a:gd name="adj" fmla="val 14815"/>
            </a:avLst>
          </a:prstGeom>
          <a:solidFill xmlns:a="http://schemas.openxmlformats.org/drawingml/2006/main">
            <a:srgbClr val="0B1F3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1FFFF59-951A-4D31-B21F-304346A5B642}"/>
              </a:ext>
            </a:extLst>
          </p:cNvPr>
          <p:cNvSpPr>
            <a:spLocks xmlns:a="http://schemas.openxmlformats.org/drawingml/2006/main" noGrp="1"/>
          </p:cNvSpPr>
          <p:nvPr/>
        </p:nvSpPr>
        <p:spPr>
          <a:xfrm xmlns:a="http://schemas.openxmlformats.org/drawingml/2006/main">
            <a:off x="742950" y="1257300"/>
            <a:ext cx="238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i="0">
                <a:solidFill>
                  <a:srgbClr val="FFFFFF"/>
                </a:solidFill>
                <a:latin typeface="Aptos"/>
                <a:ea typeface="Aptos"/>
                <a:cs typeface="Aptos"/>
              </a:defRPr>
            </a:pPr>
            <a:r>
              <a:rPr sz="1275" b="1" i="0">
                <a:solidFill>
                  <a:srgbClr val="FFFFFF"/>
                </a:solidFill>
                <a:latin typeface="Aptos"/>
                <a:ea typeface="Aptos"/>
                <a:cs typeface="Aptos"/>
              </a:rPr>
              <a:t>Decision</a:t>
            </a:r>
          </a:p>
        </p:txBody>
      </p:sp>
      <p:sp>
        <p:nvSpPr>
          <p:cNvPr id="6" name="">
            <a:extLst xmlns:a="http://schemas.openxmlformats.org/drawingml/2006/main">
              <a:ext uri="{FF2B5EF4-FFF2-40B4-BE49-F238E27FC236}">
                <a16:creationId xmlns:a16="http://schemas.microsoft.com/office/drawing/2014/main" id="{991B118A-51B6-4D1A-A5E5-5FDBCAE01C62}"/>
              </a:ext>
            </a:extLst>
          </p:cNvPr>
          <p:cNvSpPr>
            <a:spLocks xmlns:a="http://schemas.openxmlformats.org/drawingml/2006/main" noGrp="1"/>
          </p:cNvSpPr>
          <p:nvPr/>
        </p:nvSpPr>
        <p:spPr>
          <a:xfrm xmlns:a="http://schemas.openxmlformats.org/drawingml/2006/main">
            <a:off x="3333750" y="1257300"/>
            <a:ext cx="4095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i="0">
                <a:solidFill>
                  <a:srgbClr val="FFFFFF"/>
                </a:solidFill>
                <a:latin typeface="Aptos"/>
                <a:ea typeface="Aptos"/>
                <a:cs typeface="Aptos"/>
              </a:defRPr>
            </a:pPr>
            <a:r>
              <a:rPr sz="1275" b="1" i="0">
                <a:solidFill>
                  <a:srgbClr val="FFFFFF"/>
                </a:solidFill>
                <a:latin typeface="Aptos"/>
                <a:ea typeface="Aptos"/>
                <a:cs typeface="Aptos"/>
              </a:rPr>
              <a:t>Benefit</a:t>
            </a:r>
          </a:p>
        </p:txBody>
      </p:sp>
      <p:sp>
        <p:nvSpPr>
          <p:cNvPr id="7" name="">
            <a:extLst xmlns:a="http://schemas.openxmlformats.org/drawingml/2006/main">
              <a:ext uri="{FF2B5EF4-FFF2-40B4-BE49-F238E27FC236}">
                <a16:creationId xmlns:a16="http://schemas.microsoft.com/office/drawing/2014/main" id="{1F8DF137-28AE-42CA-A443-A2FDCF3E1BB5}"/>
              </a:ext>
            </a:extLst>
          </p:cNvPr>
          <p:cNvSpPr>
            <a:spLocks xmlns:a="http://schemas.openxmlformats.org/drawingml/2006/main" noGrp="1"/>
          </p:cNvSpPr>
          <p:nvPr/>
        </p:nvSpPr>
        <p:spPr>
          <a:xfrm xmlns:a="http://schemas.openxmlformats.org/drawingml/2006/main">
            <a:off x="7639050" y="1257300"/>
            <a:ext cx="3714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i="0">
                <a:solidFill>
                  <a:srgbClr val="FFFFFF"/>
                </a:solidFill>
                <a:latin typeface="Aptos"/>
                <a:ea typeface="Aptos"/>
                <a:cs typeface="Aptos"/>
              </a:defRPr>
            </a:pPr>
            <a:r>
              <a:rPr sz="1275" b="1" i="0">
                <a:solidFill>
                  <a:srgbClr val="FFFFFF"/>
                </a:solidFill>
                <a:latin typeface="Aptos"/>
                <a:ea typeface="Aptos"/>
                <a:cs typeface="Aptos"/>
              </a:rPr>
              <a:t>Tradeoff</a:t>
            </a:r>
          </a:p>
        </p:txBody>
      </p:sp>
      <p:sp>
        <p:nvSpPr>
          <p:cNvPr id="8" name="">
            <a:extLst xmlns:a="http://schemas.openxmlformats.org/drawingml/2006/main">
              <a:ext uri="{FF2B5EF4-FFF2-40B4-BE49-F238E27FC236}">
                <a16:creationId xmlns:a16="http://schemas.microsoft.com/office/drawing/2014/main" id="{D56BFBD3-9E45-4002-86BA-D55AA3F5CDD4}"/>
              </a:ext>
            </a:extLst>
          </p:cNvPr>
          <p:cNvSpPr>
            <a:spLocks xmlns:a="http://schemas.openxmlformats.org/drawingml/2006/main" noGrp="1"/>
          </p:cNvSpPr>
          <p:nvPr/>
        </p:nvSpPr>
        <p:spPr>
          <a:xfrm xmlns:a="http://schemas.openxmlformats.org/drawingml/2006/main">
            <a:off x="685800" y="1752600"/>
            <a:ext cx="10744200" cy="666750"/>
          </a:xfrm>
          <a:prstGeom xmlns:a="http://schemas.openxmlformats.org/drawingml/2006/main" prst="rect">
            <a:avLst/>
          </a:prstGeom>
          <a:solidFill xmlns:a="http://schemas.openxmlformats.org/drawingml/2006/main">
            <a:srgbClr val="EEF5F8"/>
          </a:solidFill>
          <a:ln xmlns:a="http://schemas.openxmlformats.org/drawingml/2006/main" w="9525">
            <a:solidFill>
              <a:srgbClr val="D4E1E8"/>
            </a:solidFill>
          </a:ln>
        </p:spPr>
      </p:sp>
      <p:sp>
        <p:nvSpPr>
          <p:cNvPr id="9" name="">
            <a:extLst xmlns:a="http://schemas.openxmlformats.org/drawingml/2006/main">
              <a:ext uri="{FF2B5EF4-FFF2-40B4-BE49-F238E27FC236}">
                <a16:creationId xmlns:a16="http://schemas.microsoft.com/office/drawing/2014/main" id="{07FF4452-AA48-423F-A7F8-6772283226EB}"/>
              </a:ext>
            </a:extLst>
          </p:cNvPr>
          <p:cNvSpPr>
            <a:spLocks xmlns:a="http://schemas.openxmlformats.org/drawingml/2006/main" noGrp="1"/>
          </p:cNvSpPr>
          <p:nvPr/>
        </p:nvSpPr>
        <p:spPr>
          <a:xfrm xmlns:a="http://schemas.openxmlformats.org/drawingml/2006/main">
            <a:off x="876300" y="1847850"/>
            <a:ext cx="2171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i="0">
                <a:solidFill>
                  <a:srgbClr val="0B1F33"/>
                </a:solidFill>
                <a:latin typeface="Aptos"/>
                <a:ea typeface="Aptos"/>
                <a:cs typeface="Aptos"/>
              </a:defRPr>
            </a:pPr>
            <a:r>
              <a:rPr sz="1350" b="1" i="0">
                <a:solidFill>
                  <a:srgbClr val="0B1F33"/>
                </a:solidFill>
                <a:latin typeface="Aptos"/>
                <a:ea typeface="Aptos"/>
                <a:cs typeface="Aptos"/>
              </a:rPr>
              <a:t>Money object</a:t>
            </a:r>
          </a:p>
        </p:txBody>
      </p:sp>
      <p:sp>
        <p:nvSpPr>
          <p:cNvPr id="10" name="">
            <a:extLst xmlns:a="http://schemas.openxmlformats.org/drawingml/2006/main">
              <a:ext uri="{FF2B5EF4-FFF2-40B4-BE49-F238E27FC236}">
                <a16:creationId xmlns:a16="http://schemas.microsoft.com/office/drawing/2014/main" id="{121551EE-855B-47F7-BADC-16277721AFF3}"/>
              </a:ext>
            </a:extLst>
          </p:cNvPr>
          <p:cNvSpPr>
            <a:spLocks xmlns:a="http://schemas.openxmlformats.org/drawingml/2006/main" noGrp="1"/>
          </p:cNvSpPr>
          <p:nvPr/>
        </p:nvSpPr>
        <p:spPr>
          <a:xfrm xmlns:a="http://schemas.openxmlformats.org/drawingml/2006/main">
            <a:off x="3333750" y="1847850"/>
            <a:ext cx="4000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118"/>
          </a:bodyPr>
          <a:lstStyle xmlns:a="http://schemas.openxmlformats.org/drawingml/2006/main"/>
          <a:p xmlns:a="http://schemas.openxmlformats.org/drawingml/2006/main">
            <a:pPr algn="l">
              <a:defRPr sz="1275" b="0" i="0">
                <a:solidFill>
                  <a:srgbClr val="152433"/>
                </a:solidFill>
                <a:latin typeface="Aptos"/>
                <a:ea typeface="Aptos"/>
                <a:cs typeface="Aptos"/>
              </a:defRPr>
            </a:pPr>
            <a:r>
              <a:rPr sz="1275" b="0" i="0">
                <a:solidFill>
                  <a:srgbClr val="152433"/>
                </a:solidFill>
                <a:latin typeface="Aptos"/>
                <a:ea typeface="Aptos"/>
                <a:cs typeface="Aptos"/>
              </a:rPr>
              <a:t>Prevents primitive obsession and centralizes currency rules</a:t>
            </a:r>
          </a:p>
        </p:txBody>
      </p:sp>
      <p:sp>
        <p:nvSpPr>
          <p:cNvPr id="11" name="">
            <a:extLst xmlns:a="http://schemas.openxmlformats.org/drawingml/2006/main">
              <a:ext uri="{FF2B5EF4-FFF2-40B4-BE49-F238E27FC236}">
                <a16:creationId xmlns:a16="http://schemas.microsoft.com/office/drawing/2014/main" id="{7521C25F-CCCB-4548-AE11-67306640DC22}"/>
              </a:ext>
            </a:extLst>
          </p:cNvPr>
          <p:cNvSpPr>
            <a:spLocks xmlns:a="http://schemas.openxmlformats.org/drawingml/2006/main" noGrp="1"/>
          </p:cNvSpPr>
          <p:nvPr/>
        </p:nvSpPr>
        <p:spPr>
          <a:xfrm xmlns:a="http://schemas.openxmlformats.org/drawingml/2006/main">
            <a:off x="7639050" y="1847850"/>
            <a:ext cx="3524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i="0">
                <a:solidFill>
                  <a:srgbClr val="5E6B78"/>
                </a:solidFill>
                <a:latin typeface="Aptos"/>
                <a:ea typeface="Aptos"/>
                <a:cs typeface="Aptos"/>
              </a:defRPr>
            </a:pPr>
            <a:r>
              <a:rPr sz="1275" b="0" i="0">
                <a:solidFill>
                  <a:srgbClr val="5E6B78"/>
                </a:solidFill>
                <a:latin typeface="Aptos"/>
                <a:ea typeface="Aptos"/>
                <a:cs typeface="Aptos"/>
              </a:rPr>
              <a:t>Small class overhead</a:t>
            </a:r>
          </a:p>
        </p:txBody>
      </p:sp>
      <p:sp>
        <p:nvSpPr>
          <p:cNvPr id="12" name="">
            <a:extLst xmlns:a="http://schemas.openxmlformats.org/drawingml/2006/main">
              <a:ext uri="{FF2B5EF4-FFF2-40B4-BE49-F238E27FC236}">
                <a16:creationId xmlns:a16="http://schemas.microsoft.com/office/drawing/2014/main" id="{6AF7E5DD-CA78-4E2D-8D9D-E4E338C50C4B}"/>
              </a:ext>
            </a:extLst>
          </p:cNvPr>
          <p:cNvSpPr>
            <a:spLocks xmlns:a="http://schemas.openxmlformats.org/drawingml/2006/main" noGrp="1"/>
          </p:cNvSpPr>
          <p:nvPr/>
        </p:nvSpPr>
        <p:spPr>
          <a:xfrm xmlns:a="http://schemas.openxmlformats.org/drawingml/2006/main">
            <a:off x="685800" y="2533650"/>
            <a:ext cx="10744200" cy="666750"/>
          </a:xfrm>
          <a:prstGeom xmlns:a="http://schemas.openxmlformats.org/drawingml/2006/main" prst="rect">
            <a:avLst/>
          </a:prstGeom>
          <a:solidFill xmlns:a="http://schemas.openxmlformats.org/drawingml/2006/main">
            <a:srgbClr val="F7FAFC"/>
          </a:solidFill>
          <a:ln xmlns:a="http://schemas.openxmlformats.org/drawingml/2006/main" w="9525">
            <a:solidFill>
              <a:srgbClr val="D4E1E8"/>
            </a:solidFill>
          </a:ln>
        </p:spPr>
      </p:sp>
      <p:sp>
        <p:nvSpPr>
          <p:cNvPr id="13" name="">
            <a:extLst xmlns:a="http://schemas.openxmlformats.org/drawingml/2006/main">
              <a:ext uri="{FF2B5EF4-FFF2-40B4-BE49-F238E27FC236}">
                <a16:creationId xmlns:a16="http://schemas.microsoft.com/office/drawing/2014/main" id="{E54B5C5C-D44D-4554-B7C0-1EF7D45692C6}"/>
              </a:ext>
            </a:extLst>
          </p:cNvPr>
          <p:cNvSpPr>
            <a:spLocks xmlns:a="http://schemas.openxmlformats.org/drawingml/2006/main" noGrp="1"/>
          </p:cNvSpPr>
          <p:nvPr/>
        </p:nvSpPr>
        <p:spPr>
          <a:xfrm xmlns:a="http://schemas.openxmlformats.org/drawingml/2006/main">
            <a:off x="876300" y="2628900"/>
            <a:ext cx="2171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i="0">
                <a:solidFill>
                  <a:srgbClr val="0B1F33"/>
                </a:solidFill>
                <a:latin typeface="Aptos"/>
                <a:ea typeface="Aptos"/>
                <a:cs typeface="Aptos"/>
              </a:defRPr>
            </a:pPr>
            <a:r>
              <a:rPr sz="1350" b="1" i="0">
                <a:solidFill>
                  <a:srgbClr val="0B1F33"/>
                </a:solidFill>
                <a:latin typeface="Aptos"/>
                <a:ea typeface="Aptos"/>
                <a:cs typeface="Aptos"/>
              </a:rPr>
              <a:t>OrderStatus enum</a:t>
            </a:r>
          </a:p>
        </p:txBody>
      </p:sp>
      <p:sp>
        <p:nvSpPr>
          <p:cNvPr id="14" name="">
            <a:extLst xmlns:a="http://schemas.openxmlformats.org/drawingml/2006/main">
              <a:ext uri="{FF2B5EF4-FFF2-40B4-BE49-F238E27FC236}">
                <a16:creationId xmlns:a16="http://schemas.microsoft.com/office/drawing/2014/main" id="{8A8E73C2-67DF-4E77-A9E8-8A612737C0C6}"/>
              </a:ext>
            </a:extLst>
          </p:cNvPr>
          <p:cNvSpPr>
            <a:spLocks xmlns:a="http://schemas.openxmlformats.org/drawingml/2006/main" noGrp="1"/>
          </p:cNvSpPr>
          <p:nvPr/>
        </p:nvSpPr>
        <p:spPr>
          <a:xfrm xmlns:a="http://schemas.openxmlformats.org/drawingml/2006/main">
            <a:off x="3333750" y="2628900"/>
            <a:ext cx="4000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i="0">
                <a:solidFill>
                  <a:srgbClr val="152433"/>
                </a:solidFill>
                <a:latin typeface="Aptos"/>
                <a:ea typeface="Aptos"/>
                <a:cs typeface="Aptos"/>
              </a:defRPr>
            </a:pPr>
            <a:r>
              <a:rPr sz="1275" b="0" i="0">
                <a:solidFill>
                  <a:srgbClr val="152433"/>
                </a:solidFill>
                <a:latin typeface="Aptos"/>
                <a:ea typeface="Aptos"/>
                <a:cs typeface="Aptos"/>
              </a:rPr>
              <a:t>Eliminates invalid status strings</a:t>
            </a:r>
          </a:p>
        </p:txBody>
      </p:sp>
      <p:sp>
        <p:nvSpPr>
          <p:cNvPr id="15" name="">
            <a:extLst xmlns:a="http://schemas.openxmlformats.org/drawingml/2006/main">
              <a:ext uri="{FF2B5EF4-FFF2-40B4-BE49-F238E27FC236}">
                <a16:creationId xmlns:a16="http://schemas.microsoft.com/office/drawing/2014/main" id="{08887606-5C72-432D-A382-6484C51207C8}"/>
              </a:ext>
            </a:extLst>
          </p:cNvPr>
          <p:cNvSpPr>
            <a:spLocks xmlns:a="http://schemas.openxmlformats.org/drawingml/2006/main" noGrp="1"/>
          </p:cNvSpPr>
          <p:nvPr/>
        </p:nvSpPr>
        <p:spPr>
          <a:xfrm xmlns:a="http://schemas.openxmlformats.org/drawingml/2006/main">
            <a:off x="7639050" y="2628900"/>
            <a:ext cx="3524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i="0">
                <a:solidFill>
                  <a:srgbClr val="5E6B78"/>
                </a:solidFill>
                <a:latin typeface="Aptos"/>
                <a:ea typeface="Aptos"/>
                <a:cs typeface="Aptos"/>
              </a:defRPr>
            </a:pPr>
            <a:r>
              <a:rPr sz="1275" b="0" i="0">
                <a:solidFill>
                  <a:srgbClr val="5E6B78"/>
                </a:solidFill>
                <a:latin typeface="Aptos"/>
                <a:ea typeface="Aptos"/>
                <a:cs typeface="Aptos"/>
              </a:rPr>
              <a:t>Requires explicit mapping at boundaries</a:t>
            </a:r>
          </a:p>
        </p:txBody>
      </p:sp>
      <p:sp>
        <p:nvSpPr>
          <p:cNvPr id="16" name="">
            <a:extLst xmlns:a="http://schemas.openxmlformats.org/drawingml/2006/main">
              <a:ext uri="{FF2B5EF4-FFF2-40B4-BE49-F238E27FC236}">
                <a16:creationId xmlns:a16="http://schemas.microsoft.com/office/drawing/2014/main" id="{2020586A-2A12-4991-AF8D-D9FBB458872C}"/>
              </a:ext>
            </a:extLst>
          </p:cNvPr>
          <p:cNvSpPr>
            <a:spLocks xmlns:a="http://schemas.openxmlformats.org/drawingml/2006/main" noGrp="1"/>
          </p:cNvSpPr>
          <p:nvPr/>
        </p:nvSpPr>
        <p:spPr>
          <a:xfrm xmlns:a="http://schemas.openxmlformats.org/drawingml/2006/main">
            <a:off x="685800" y="3314700"/>
            <a:ext cx="10744200" cy="666750"/>
          </a:xfrm>
          <a:prstGeom xmlns:a="http://schemas.openxmlformats.org/drawingml/2006/main" prst="rect">
            <a:avLst/>
          </a:prstGeom>
          <a:solidFill xmlns:a="http://schemas.openxmlformats.org/drawingml/2006/main">
            <a:srgbClr val="EEF5F8"/>
          </a:solidFill>
          <a:ln xmlns:a="http://schemas.openxmlformats.org/drawingml/2006/main" w="9525">
            <a:solidFill>
              <a:srgbClr val="D4E1E8"/>
            </a:solidFill>
          </a:ln>
        </p:spPr>
      </p:sp>
      <p:sp>
        <p:nvSpPr>
          <p:cNvPr id="17" name="">
            <a:extLst xmlns:a="http://schemas.openxmlformats.org/drawingml/2006/main">
              <a:ext uri="{FF2B5EF4-FFF2-40B4-BE49-F238E27FC236}">
                <a16:creationId xmlns:a16="http://schemas.microsoft.com/office/drawing/2014/main" id="{D54E9A47-8AFC-4948-ADB2-6E750FE3D36E}"/>
              </a:ext>
            </a:extLst>
          </p:cNvPr>
          <p:cNvSpPr>
            <a:spLocks xmlns:a="http://schemas.openxmlformats.org/drawingml/2006/main" noGrp="1"/>
          </p:cNvSpPr>
          <p:nvPr/>
        </p:nvSpPr>
        <p:spPr>
          <a:xfrm xmlns:a="http://schemas.openxmlformats.org/drawingml/2006/main">
            <a:off x="876300" y="3409950"/>
            <a:ext cx="2171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i="0">
                <a:solidFill>
                  <a:srgbClr val="0B1F33"/>
                </a:solidFill>
                <a:latin typeface="Aptos"/>
                <a:ea typeface="Aptos"/>
                <a:cs typeface="Aptos"/>
              </a:defRPr>
            </a:pPr>
            <a:r>
              <a:rPr sz="1350" b="1" i="0">
                <a:solidFill>
                  <a:srgbClr val="0B1F33"/>
                </a:solidFill>
                <a:latin typeface="Aptos"/>
                <a:ea typeface="Aptos"/>
                <a:cs typeface="Aptos"/>
              </a:rPr>
              <a:t>Collection</a:t>
            </a:r>
          </a:p>
        </p:txBody>
      </p:sp>
      <p:sp>
        <p:nvSpPr>
          <p:cNvPr id="18" name="">
            <a:extLst xmlns:a="http://schemas.openxmlformats.org/drawingml/2006/main">
              <a:ext uri="{FF2B5EF4-FFF2-40B4-BE49-F238E27FC236}">
                <a16:creationId xmlns:a16="http://schemas.microsoft.com/office/drawing/2014/main" id="{800299BB-C303-4D6E-99A7-201D46169526}"/>
              </a:ext>
            </a:extLst>
          </p:cNvPr>
          <p:cNvSpPr>
            <a:spLocks xmlns:a="http://schemas.openxmlformats.org/drawingml/2006/main" noGrp="1"/>
          </p:cNvSpPr>
          <p:nvPr/>
        </p:nvSpPr>
        <p:spPr>
          <a:xfrm xmlns:a="http://schemas.openxmlformats.org/drawingml/2006/main">
            <a:off x="3333750" y="3409950"/>
            <a:ext cx="4000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i="0">
                <a:solidFill>
                  <a:srgbClr val="152433"/>
                </a:solidFill>
                <a:latin typeface="Aptos"/>
                <a:ea typeface="Aptos"/>
                <a:cs typeface="Aptos"/>
              </a:defRPr>
            </a:pPr>
            <a:r>
              <a:rPr sz="1275" b="0" i="0">
                <a:solidFill>
                  <a:srgbClr val="152433"/>
                </a:solidFill>
                <a:latin typeface="Aptos"/>
                <a:ea typeface="Aptos"/>
                <a:cs typeface="Aptos"/>
              </a:rPr>
              <a:t>Protects item operations and total calculation</a:t>
            </a:r>
          </a:p>
        </p:txBody>
      </p:sp>
      <p:sp>
        <p:nvSpPr>
          <p:cNvPr id="19" name="">
            <a:extLst xmlns:a="http://schemas.openxmlformats.org/drawingml/2006/main">
              <a:ext uri="{FF2B5EF4-FFF2-40B4-BE49-F238E27FC236}">
                <a16:creationId xmlns:a16="http://schemas.microsoft.com/office/drawing/2014/main" id="{14381508-7136-4761-8AA2-27CE59D48469}"/>
              </a:ext>
            </a:extLst>
          </p:cNvPr>
          <p:cNvSpPr>
            <a:spLocks xmlns:a="http://schemas.openxmlformats.org/drawingml/2006/main" noGrp="1"/>
          </p:cNvSpPr>
          <p:nvPr/>
        </p:nvSpPr>
        <p:spPr>
          <a:xfrm xmlns:a="http://schemas.openxmlformats.org/drawingml/2006/main">
            <a:off x="7639050" y="3409950"/>
            <a:ext cx="3524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i="0">
                <a:solidFill>
                  <a:srgbClr val="5E6B78"/>
                </a:solidFill>
                <a:latin typeface="Aptos"/>
                <a:ea typeface="Aptos"/>
                <a:cs typeface="Aptos"/>
              </a:defRPr>
            </a:pPr>
            <a:r>
              <a:rPr sz="1275" b="0" i="0">
                <a:solidFill>
                  <a:srgbClr val="5E6B78"/>
                </a:solidFill>
                <a:latin typeface="Aptos"/>
                <a:ea typeface="Aptos"/>
                <a:cs typeface="Aptos"/>
              </a:rPr>
              <a:t>Adds another abstraction</a:t>
            </a:r>
          </a:p>
        </p:txBody>
      </p:sp>
      <p:sp>
        <p:nvSpPr>
          <p:cNvPr id="20" name="">
            <a:extLst xmlns:a="http://schemas.openxmlformats.org/drawingml/2006/main">
              <a:ext uri="{FF2B5EF4-FFF2-40B4-BE49-F238E27FC236}">
                <a16:creationId xmlns:a16="http://schemas.microsoft.com/office/drawing/2014/main" id="{297185E1-62B6-4B9D-BC26-6D35E261EBEB}"/>
              </a:ext>
            </a:extLst>
          </p:cNvPr>
          <p:cNvSpPr>
            <a:spLocks xmlns:a="http://schemas.openxmlformats.org/drawingml/2006/main" noGrp="1"/>
          </p:cNvSpPr>
          <p:nvPr/>
        </p:nvSpPr>
        <p:spPr>
          <a:xfrm xmlns:a="http://schemas.openxmlformats.org/drawingml/2006/main">
            <a:off x="685800" y="4095750"/>
            <a:ext cx="10744200" cy="666750"/>
          </a:xfrm>
          <a:prstGeom xmlns:a="http://schemas.openxmlformats.org/drawingml/2006/main" prst="rect">
            <a:avLst/>
          </a:prstGeom>
          <a:solidFill xmlns:a="http://schemas.openxmlformats.org/drawingml/2006/main">
            <a:srgbClr val="F7FAFC"/>
          </a:solidFill>
          <a:ln xmlns:a="http://schemas.openxmlformats.org/drawingml/2006/main" w="9525">
            <a:solidFill>
              <a:srgbClr val="D4E1E8"/>
            </a:solidFill>
          </a:ln>
        </p:spPr>
      </p:sp>
      <p:sp>
        <p:nvSpPr>
          <p:cNvPr id="21" name="">
            <a:extLst xmlns:a="http://schemas.openxmlformats.org/drawingml/2006/main">
              <a:ext uri="{FF2B5EF4-FFF2-40B4-BE49-F238E27FC236}">
                <a16:creationId xmlns:a16="http://schemas.microsoft.com/office/drawing/2014/main" id="{3FB50D92-138D-4E94-B109-221596073034}"/>
              </a:ext>
            </a:extLst>
          </p:cNvPr>
          <p:cNvSpPr>
            <a:spLocks xmlns:a="http://schemas.openxmlformats.org/drawingml/2006/main" noGrp="1"/>
          </p:cNvSpPr>
          <p:nvPr/>
        </p:nvSpPr>
        <p:spPr>
          <a:xfrm xmlns:a="http://schemas.openxmlformats.org/drawingml/2006/main">
            <a:off x="876300" y="4191000"/>
            <a:ext cx="2171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i="0">
                <a:solidFill>
                  <a:srgbClr val="0B1F33"/>
                </a:solidFill>
                <a:latin typeface="Aptos"/>
                <a:ea typeface="Aptos"/>
                <a:cs typeface="Aptos"/>
              </a:defRPr>
            </a:pPr>
            <a:r>
              <a:rPr sz="1350" b="1" i="0">
                <a:solidFill>
                  <a:srgbClr val="0B1F33"/>
                </a:solidFill>
                <a:latin typeface="Aptos"/>
                <a:ea typeface="Aptos"/>
                <a:cs typeface="Aptos"/>
              </a:rPr>
              <a:t>Repository contract</a:t>
            </a:r>
          </a:p>
        </p:txBody>
      </p:sp>
      <p:sp>
        <p:nvSpPr>
          <p:cNvPr id="22" name="">
            <a:extLst xmlns:a="http://schemas.openxmlformats.org/drawingml/2006/main">
              <a:ext uri="{FF2B5EF4-FFF2-40B4-BE49-F238E27FC236}">
                <a16:creationId xmlns:a16="http://schemas.microsoft.com/office/drawing/2014/main" id="{50081766-F6FB-427A-87C9-A3E8281DD67C}"/>
              </a:ext>
            </a:extLst>
          </p:cNvPr>
          <p:cNvSpPr>
            <a:spLocks xmlns:a="http://schemas.openxmlformats.org/drawingml/2006/main" noGrp="1"/>
          </p:cNvSpPr>
          <p:nvPr/>
        </p:nvSpPr>
        <p:spPr>
          <a:xfrm xmlns:a="http://schemas.openxmlformats.org/drawingml/2006/main">
            <a:off x="3333750" y="4191000"/>
            <a:ext cx="4000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i="0">
                <a:solidFill>
                  <a:srgbClr val="152433"/>
                </a:solidFill>
                <a:latin typeface="Aptos"/>
                <a:ea typeface="Aptos"/>
                <a:cs typeface="Aptos"/>
              </a:defRPr>
            </a:pPr>
            <a:r>
              <a:rPr sz="1275" b="0" i="0">
                <a:solidFill>
                  <a:srgbClr val="152433"/>
                </a:solidFill>
                <a:latin typeface="Aptos"/>
                <a:ea typeface="Aptos"/>
                <a:cs typeface="Aptos"/>
              </a:rPr>
              <a:t>Keeps storage replaceable and testable</a:t>
            </a:r>
          </a:p>
        </p:txBody>
      </p:sp>
      <p:sp>
        <p:nvSpPr>
          <p:cNvPr id="23" name="">
            <a:extLst xmlns:a="http://schemas.openxmlformats.org/drawingml/2006/main">
              <a:ext uri="{FF2B5EF4-FFF2-40B4-BE49-F238E27FC236}">
                <a16:creationId xmlns:a16="http://schemas.microsoft.com/office/drawing/2014/main" id="{26378E15-F0DA-4B09-BB21-0FE8A47BD16A}"/>
              </a:ext>
            </a:extLst>
          </p:cNvPr>
          <p:cNvSpPr>
            <a:spLocks xmlns:a="http://schemas.openxmlformats.org/drawingml/2006/main" noGrp="1"/>
          </p:cNvSpPr>
          <p:nvPr/>
        </p:nvSpPr>
        <p:spPr>
          <a:xfrm xmlns:a="http://schemas.openxmlformats.org/drawingml/2006/main">
            <a:off x="7639050" y="4191000"/>
            <a:ext cx="3524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i="0">
                <a:solidFill>
                  <a:srgbClr val="5E6B78"/>
                </a:solidFill>
                <a:latin typeface="Aptos"/>
                <a:ea typeface="Aptos"/>
                <a:cs typeface="Aptos"/>
              </a:defRPr>
            </a:pPr>
            <a:r>
              <a:rPr sz="1275" b="0" i="0">
                <a:solidFill>
                  <a:srgbClr val="5E6B78"/>
                </a:solidFill>
                <a:latin typeface="Aptos"/>
                <a:ea typeface="Aptos"/>
                <a:cs typeface="Aptos"/>
              </a:rPr>
              <a:t>More useful as the system grows</a:t>
            </a:r>
          </a:p>
        </p:txBody>
      </p:sp>
      <p:sp>
        <p:nvSpPr>
          <p:cNvPr id="24" name="">
            <a:extLst xmlns:a="http://schemas.openxmlformats.org/drawingml/2006/main">
              <a:ext uri="{FF2B5EF4-FFF2-40B4-BE49-F238E27FC236}">
                <a16:creationId xmlns:a16="http://schemas.microsoft.com/office/drawing/2014/main" id="{BC3315BC-6661-449A-9EE0-5D615A451197}"/>
              </a:ext>
            </a:extLst>
          </p:cNvPr>
          <p:cNvSpPr>
            <a:spLocks xmlns:a="http://schemas.openxmlformats.org/drawingml/2006/main" noGrp="1"/>
          </p:cNvSpPr>
          <p:nvPr/>
        </p:nvSpPr>
        <p:spPr>
          <a:xfrm xmlns:a="http://schemas.openxmlformats.org/drawingml/2006/main">
            <a:off x="685800" y="4876800"/>
            <a:ext cx="10744200" cy="666750"/>
          </a:xfrm>
          <a:prstGeom xmlns:a="http://schemas.openxmlformats.org/drawingml/2006/main" prst="rect">
            <a:avLst/>
          </a:prstGeom>
          <a:solidFill xmlns:a="http://schemas.openxmlformats.org/drawingml/2006/main">
            <a:srgbClr val="EEF5F8"/>
          </a:solidFill>
          <a:ln xmlns:a="http://schemas.openxmlformats.org/drawingml/2006/main" w="9525">
            <a:solidFill>
              <a:srgbClr val="D4E1E8"/>
            </a:solidFill>
          </a:ln>
        </p:spPr>
      </p:sp>
      <p:sp>
        <p:nvSpPr>
          <p:cNvPr id="25" name="">
            <a:extLst xmlns:a="http://schemas.openxmlformats.org/drawingml/2006/main">
              <a:ext uri="{FF2B5EF4-FFF2-40B4-BE49-F238E27FC236}">
                <a16:creationId xmlns:a16="http://schemas.microsoft.com/office/drawing/2014/main" id="{58D827F4-FE1A-4D15-B1BB-D84C5CCD0DCF}"/>
              </a:ext>
            </a:extLst>
          </p:cNvPr>
          <p:cNvSpPr>
            <a:spLocks xmlns:a="http://schemas.openxmlformats.org/drawingml/2006/main" noGrp="1"/>
          </p:cNvSpPr>
          <p:nvPr/>
        </p:nvSpPr>
        <p:spPr>
          <a:xfrm xmlns:a="http://schemas.openxmlformats.org/drawingml/2006/main">
            <a:off x="876300" y="4972050"/>
            <a:ext cx="2171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i="0">
                <a:solidFill>
                  <a:srgbClr val="0B1F33"/>
                </a:solidFill>
                <a:latin typeface="Aptos"/>
                <a:ea typeface="Aptos"/>
                <a:cs typeface="Aptos"/>
              </a:defRPr>
            </a:pPr>
            <a:r>
              <a:rPr sz="1350" b="1" i="0">
                <a:solidFill>
                  <a:srgbClr val="0B1F33"/>
                </a:solidFill>
                <a:latin typeface="Aptos"/>
                <a:ea typeface="Aptos"/>
                <a:cs typeface="Aptos"/>
              </a:rPr>
              <a:t>Domain exception</a:t>
            </a:r>
          </a:p>
        </p:txBody>
      </p:sp>
      <p:sp>
        <p:nvSpPr>
          <p:cNvPr id="26" name="">
            <a:extLst xmlns:a="http://schemas.openxmlformats.org/drawingml/2006/main">
              <a:ext uri="{FF2B5EF4-FFF2-40B4-BE49-F238E27FC236}">
                <a16:creationId xmlns:a16="http://schemas.microsoft.com/office/drawing/2014/main" id="{C4F48576-41D6-40B5-8EA1-A0190CA6660B}"/>
              </a:ext>
            </a:extLst>
          </p:cNvPr>
          <p:cNvSpPr>
            <a:spLocks xmlns:a="http://schemas.openxmlformats.org/drawingml/2006/main" noGrp="1"/>
          </p:cNvSpPr>
          <p:nvPr/>
        </p:nvSpPr>
        <p:spPr>
          <a:xfrm xmlns:a="http://schemas.openxmlformats.org/drawingml/2006/main">
            <a:off x="3333750" y="4972050"/>
            <a:ext cx="4000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i="0">
                <a:solidFill>
                  <a:srgbClr val="152433"/>
                </a:solidFill>
                <a:latin typeface="Aptos"/>
                <a:ea typeface="Aptos"/>
                <a:cs typeface="Aptos"/>
              </a:defRPr>
            </a:pPr>
            <a:r>
              <a:rPr sz="1275" b="0" i="0">
                <a:solidFill>
                  <a:srgbClr val="152433"/>
                </a:solidFill>
                <a:latin typeface="Aptos"/>
                <a:ea typeface="Aptos"/>
                <a:cs typeface="Aptos"/>
              </a:rPr>
              <a:t>Explains business failure clearly</a:t>
            </a:r>
          </a:p>
        </p:txBody>
      </p:sp>
      <p:sp>
        <p:nvSpPr>
          <p:cNvPr id="27" name="">
            <a:extLst xmlns:a="http://schemas.openxmlformats.org/drawingml/2006/main">
              <a:ext uri="{FF2B5EF4-FFF2-40B4-BE49-F238E27FC236}">
                <a16:creationId xmlns:a16="http://schemas.microsoft.com/office/drawing/2014/main" id="{F5340D13-4FF1-40FE-B727-DCEF67BFAA05}"/>
              </a:ext>
            </a:extLst>
          </p:cNvPr>
          <p:cNvSpPr>
            <a:spLocks xmlns:a="http://schemas.openxmlformats.org/drawingml/2006/main" noGrp="1"/>
          </p:cNvSpPr>
          <p:nvPr/>
        </p:nvSpPr>
        <p:spPr>
          <a:xfrm xmlns:a="http://schemas.openxmlformats.org/drawingml/2006/main">
            <a:off x="7639050" y="4972050"/>
            <a:ext cx="3524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i="0">
                <a:solidFill>
                  <a:srgbClr val="5E6B78"/>
                </a:solidFill>
                <a:latin typeface="Aptos"/>
                <a:ea typeface="Aptos"/>
                <a:cs typeface="Aptos"/>
              </a:defRPr>
            </a:pPr>
            <a:r>
              <a:rPr sz="1275" b="0" i="0">
                <a:solidFill>
                  <a:srgbClr val="5E6B78"/>
                </a:solidFill>
                <a:latin typeface="Aptos"/>
                <a:ea typeface="Aptos"/>
                <a:cs typeface="Aptos"/>
              </a:rPr>
              <a:t>Callers must handle it intentionally</a:t>
            </a:r>
          </a:p>
        </p:txBody>
      </p:sp>
      <p:sp>
        <p:nvSpPr>
          <p:cNvPr id="28" name="">
            <a:extLst xmlns:a="http://schemas.openxmlformats.org/drawingml/2006/main">
              <a:ext uri="{FF2B5EF4-FFF2-40B4-BE49-F238E27FC236}">
                <a16:creationId xmlns:a16="http://schemas.microsoft.com/office/drawing/2014/main" id="{C5E6C8D8-F98C-4672-B21E-567E7569B1C4}"/>
              </a:ext>
            </a:extLst>
          </p:cNvPr>
          <p:cNvSpPr>
            <a:spLocks xmlns:a="http://schemas.openxmlformats.org/drawingml/2006/main" noGrp="1"/>
          </p:cNvSpPr>
          <p:nvPr/>
        </p:nvSpPr>
        <p:spPr>
          <a:xfrm xmlns:a="http://schemas.openxmlformats.org/drawingml/2006/main">
            <a:off x="552450" y="6486525"/>
            <a:ext cx="3048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l">
              <a:defRPr sz="825" b="0" i="0">
                <a:solidFill>
                  <a:srgbClr val="5E6B78"/>
                </a:solidFill>
                <a:latin typeface="Aptos"/>
                <a:ea typeface="Aptos"/>
                <a:cs typeface="Aptos"/>
              </a:defRPr>
            </a:pPr>
            <a:r>
              <a:rPr sz="825" b="0" i="0">
                <a:solidFill>
                  <a:srgbClr val="5E6B78"/>
                </a:solidFill>
                <a:latin typeface="Aptos"/>
                <a:ea typeface="Aptos"/>
                <a:cs typeface="Aptos"/>
              </a:rPr>
              <a:t>Modern PHP Order System</a:t>
            </a:r>
          </a:p>
        </p:txBody>
      </p:sp>
      <p:sp>
        <p:nvSpPr>
          <p:cNvPr id="29" name="">
            <a:extLst xmlns:a="http://schemas.openxmlformats.org/drawingml/2006/main">
              <a:ext uri="{FF2B5EF4-FFF2-40B4-BE49-F238E27FC236}">
                <a16:creationId xmlns:a16="http://schemas.microsoft.com/office/drawing/2014/main" id="{69AAB8D7-EDBC-47B7-8AED-C31A40757717}"/>
              </a:ext>
            </a:extLst>
          </p:cNvPr>
          <p:cNvSpPr>
            <a:spLocks xmlns:a="http://schemas.openxmlformats.org/drawingml/2006/main" noGrp="1"/>
          </p:cNvSpPr>
          <p:nvPr/>
        </p:nvSpPr>
        <p:spPr>
          <a:xfrm xmlns:a="http://schemas.openxmlformats.org/drawingml/2006/main">
            <a:off x="11049000" y="6486525"/>
            <a:ext cx="571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r">
              <a:defRPr sz="825" b="1" i="0">
                <a:solidFill>
                  <a:srgbClr val="5E6B78"/>
                </a:solidFill>
                <a:latin typeface="Aptos"/>
                <a:ea typeface="Aptos"/>
                <a:cs typeface="Aptos"/>
              </a:defRPr>
            </a:pPr>
            <a:r>
              <a:rPr sz="825" b="1" i="0">
                <a:solidFill>
                  <a:srgbClr val="5E6B78"/>
                </a:solidFill>
                <a:latin typeface="Aptos"/>
                <a:ea typeface="Aptos"/>
                <a:cs typeface="Aptos"/>
              </a:rPr>
              <a:t>10</a:t>
            </a:r>
          </a:p>
        </p:txBody>
      </p:sp>
    </p:spTree>
    <p:extLst>
      <p:ext uri="{BB962C8B-B14F-4D97-AF65-F5344CB8AC3E}">
        <p14:creationId xmlns:p14="http://schemas.microsoft.com/office/powerpoint/2010/main" val="89187752"/>
      </p:ext>
    </p:extLst>
  </p:cSld>
</p:sld>
</file>

<file path=ppt/slides/slide11.xml><?xml version="1.0" encoding="utf-8"?>
<p:sld xmlns:p="http://schemas.openxmlformats.org/presentationml/2006/main">
  <p:cSld>
    <p:bg>
      <p:bgPr>
        <a:solidFill xmlns:a="http://schemas.openxmlformats.org/drawingml/2006/main">
          <a:srgbClr val="0B1F33"/>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DE6C3483-566A-41B3-BF4A-9A97C5DBD612}"/>
              </a:ext>
            </a:extLst>
          </p:cNvPr>
          <p:cNvSpPr>
            <a:spLocks xmlns:a="http://schemas.openxmlformats.org/drawingml/2006/main" noGrp="1"/>
          </p:cNvSpPr>
          <p:nvPr/>
        </p:nvSpPr>
        <p:spPr>
          <a:xfrm xmlns:a="http://schemas.openxmlformats.org/drawingml/2006/main">
            <a:off x="685800" y="552450"/>
            <a:ext cx="7429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3150" b="1" i="0">
                <a:solidFill>
                  <a:srgbClr val="FFFFFF"/>
                </a:solidFill>
                <a:latin typeface="Aptos"/>
                <a:ea typeface="Aptos"/>
                <a:cs typeface="Aptos"/>
              </a:defRPr>
            </a:pPr>
            <a:r>
              <a:rPr sz="3150" b="1" i="0">
                <a:solidFill>
                  <a:srgbClr val="FFFFFF"/>
                </a:solidFill>
                <a:latin typeface="Aptos"/>
                <a:ea typeface="Aptos"/>
                <a:cs typeface="Aptos"/>
              </a:rPr>
              <a:t>Interview summary</a:t>
            </a:r>
          </a:p>
        </p:txBody>
      </p:sp>
      <p:sp>
        <p:nvSpPr>
          <p:cNvPr id="2" name="">
            <a:extLst xmlns:a="http://schemas.openxmlformats.org/drawingml/2006/main">
              <a:ext uri="{FF2B5EF4-FFF2-40B4-BE49-F238E27FC236}">
                <a16:creationId xmlns:a16="http://schemas.microsoft.com/office/drawing/2014/main" id="{AE347E09-0F1B-4865-8989-50579E075183}"/>
              </a:ext>
            </a:extLst>
          </p:cNvPr>
          <p:cNvSpPr>
            <a:spLocks xmlns:a="http://schemas.openxmlformats.org/drawingml/2006/main" noGrp="1"/>
          </p:cNvSpPr>
          <p:nvPr/>
        </p:nvSpPr>
        <p:spPr>
          <a:xfrm xmlns:a="http://schemas.openxmlformats.org/drawingml/2006/main">
            <a:off x="685800" y="1257300"/>
            <a:ext cx="10744200" cy="28575"/>
          </a:xfrm>
          <a:prstGeom xmlns:a="http://schemas.openxmlformats.org/drawingml/2006/main" prst="rect">
            <a:avLst/>
          </a:prstGeom>
          <a:solidFill xmlns:a="http://schemas.openxmlformats.org/drawingml/2006/main">
            <a:srgbClr val="22B8A7"/>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254000B-72FC-4787-ACB7-AE534A0AEBBD}"/>
              </a:ext>
            </a:extLst>
          </p:cNvPr>
          <p:cNvSpPr>
            <a:spLocks xmlns:a="http://schemas.openxmlformats.org/drawingml/2006/main" noGrp="1"/>
          </p:cNvSpPr>
          <p:nvPr/>
        </p:nvSpPr>
        <p:spPr>
          <a:xfrm xmlns:a="http://schemas.openxmlformats.org/drawingml/2006/main">
            <a:off x="742950" y="1619250"/>
            <a:ext cx="514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i="0">
                <a:solidFill>
                  <a:srgbClr val="22B8A7"/>
                </a:solidFill>
                <a:latin typeface="Aptos"/>
                <a:ea typeface="Aptos"/>
                <a:cs typeface="Aptos"/>
              </a:defRPr>
            </a:pPr>
            <a:r>
              <a:rPr sz="1350" b="1" i="0">
                <a:solidFill>
                  <a:srgbClr val="22B8A7"/>
                </a:solidFill>
                <a:latin typeface="Aptos"/>
                <a:ea typeface="Aptos"/>
                <a:cs typeface="Aptos"/>
              </a:rPr>
              <a:t>01</a:t>
            </a:r>
          </a:p>
        </p:txBody>
      </p:sp>
      <p:sp>
        <p:nvSpPr>
          <p:cNvPr id="4" name="">
            <a:extLst xmlns:a="http://schemas.openxmlformats.org/drawingml/2006/main">
              <a:ext uri="{FF2B5EF4-FFF2-40B4-BE49-F238E27FC236}">
                <a16:creationId xmlns:a16="http://schemas.microsoft.com/office/drawing/2014/main" id="{B42BE97F-28D9-4DF3-B6B6-CE99412ACA56}"/>
              </a:ext>
            </a:extLst>
          </p:cNvPr>
          <p:cNvSpPr>
            <a:spLocks xmlns:a="http://schemas.openxmlformats.org/drawingml/2006/main" noGrp="1"/>
          </p:cNvSpPr>
          <p:nvPr/>
        </p:nvSpPr>
        <p:spPr>
          <a:xfrm xmlns:a="http://schemas.openxmlformats.org/drawingml/2006/main">
            <a:off x="1409700" y="1581150"/>
            <a:ext cx="219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1" i="0">
                <a:solidFill>
                  <a:srgbClr val="FFFFFF"/>
                </a:solidFill>
                <a:latin typeface="Aptos"/>
                <a:ea typeface="Aptos"/>
                <a:cs typeface="Aptos"/>
              </a:defRPr>
            </a:pPr>
            <a:r>
              <a:rPr sz="1800" b="1" i="0">
                <a:solidFill>
                  <a:srgbClr val="FFFFFF"/>
                </a:solidFill>
                <a:latin typeface="Aptos"/>
                <a:ea typeface="Aptos"/>
                <a:cs typeface="Aptos"/>
              </a:rPr>
              <a:t>Domain rules</a:t>
            </a:r>
          </a:p>
        </p:txBody>
      </p:sp>
      <p:sp>
        <p:nvSpPr>
          <p:cNvPr id="5" name="">
            <a:extLst xmlns:a="http://schemas.openxmlformats.org/drawingml/2006/main">
              <a:ext uri="{FF2B5EF4-FFF2-40B4-BE49-F238E27FC236}">
                <a16:creationId xmlns:a16="http://schemas.microsoft.com/office/drawing/2014/main" id="{AD58C8D9-D6BA-4002-B243-2DDE0F218787}"/>
              </a:ext>
            </a:extLst>
          </p:cNvPr>
          <p:cNvSpPr>
            <a:spLocks xmlns:a="http://schemas.openxmlformats.org/drawingml/2006/main" noGrp="1"/>
          </p:cNvSpPr>
          <p:nvPr/>
        </p:nvSpPr>
        <p:spPr>
          <a:xfrm xmlns:a="http://schemas.openxmlformats.org/drawingml/2006/main">
            <a:off x="3771900" y="1600200"/>
            <a:ext cx="723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i="0">
                <a:solidFill>
                  <a:srgbClr val="CCDCE7"/>
                </a:solidFill>
                <a:latin typeface="Aptos"/>
                <a:ea typeface="Aptos"/>
                <a:cs typeface="Aptos"/>
              </a:defRPr>
            </a:pPr>
            <a:r>
              <a:rPr sz="1425" b="0" i="0">
                <a:solidFill>
                  <a:srgbClr val="CCDCE7"/>
                </a:solidFill>
                <a:latin typeface="Aptos"/>
                <a:ea typeface="Aptos"/>
                <a:cs typeface="Aptos"/>
              </a:rPr>
              <a:t>Order controls lifecycle transitions and Money protects monetary calculations.</a:t>
            </a:r>
          </a:p>
        </p:txBody>
      </p:sp>
      <p:sp>
        <p:nvSpPr>
          <p:cNvPr id="6" name="">
            <a:extLst xmlns:a="http://schemas.openxmlformats.org/drawingml/2006/main">
              <a:ext uri="{FF2B5EF4-FFF2-40B4-BE49-F238E27FC236}">
                <a16:creationId xmlns:a16="http://schemas.microsoft.com/office/drawing/2014/main" id="{9BB4A0F1-EC25-43F5-843F-BE44CA81469E}"/>
              </a:ext>
            </a:extLst>
          </p:cNvPr>
          <p:cNvSpPr>
            <a:spLocks xmlns:a="http://schemas.openxmlformats.org/drawingml/2006/main" noGrp="1"/>
          </p:cNvSpPr>
          <p:nvPr/>
        </p:nvSpPr>
        <p:spPr>
          <a:xfrm xmlns:a="http://schemas.openxmlformats.org/drawingml/2006/main">
            <a:off x="742950" y="2571750"/>
            <a:ext cx="514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i="0">
                <a:solidFill>
                  <a:srgbClr val="22B8A7"/>
                </a:solidFill>
                <a:latin typeface="Aptos"/>
                <a:ea typeface="Aptos"/>
                <a:cs typeface="Aptos"/>
              </a:defRPr>
            </a:pPr>
            <a:r>
              <a:rPr sz="1350" b="1" i="0">
                <a:solidFill>
                  <a:srgbClr val="22B8A7"/>
                </a:solidFill>
                <a:latin typeface="Aptos"/>
                <a:ea typeface="Aptos"/>
                <a:cs typeface="Aptos"/>
              </a:rPr>
              <a:t>02</a:t>
            </a:r>
          </a:p>
        </p:txBody>
      </p:sp>
      <p:sp>
        <p:nvSpPr>
          <p:cNvPr id="7" name="">
            <a:extLst xmlns:a="http://schemas.openxmlformats.org/drawingml/2006/main">
              <a:ext uri="{FF2B5EF4-FFF2-40B4-BE49-F238E27FC236}">
                <a16:creationId xmlns:a16="http://schemas.microsoft.com/office/drawing/2014/main" id="{46A36A74-EBCD-430B-B04C-189CC995FFA3}"/>
              </a:ext>
            </a:extLst>
          </p:cNvPr>
          <p:cNvSpPr>
            <a:spLocks xmlns:a="http://schemas.openxmlformats.org/drawingml/2006/main" noGrp="1"/>
          </p:cNvSpPr>
          <p:nvPr/>
        </p:nvSpPr>
        <p:spPr>
          <a:xfrm xmlns:a="http://schemas.openxmlformats.org/drawingml/2006/main">
            <a:off x="1409700" y="2533650"/>
            <a:ext cx="219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1" i="0">
                <a:solidFill>
                  <a:srgbClr val="FFFFFF"/>
                </a:solidFill>
                <a:latin typeface="Aptos"/>
                <a:ea typeface="Aptos"/>
                <a:cs typeface="Aptos"/>
              </a:defRPr>
            </a:pPr>
            <a:r>
              <a:rPr sz="1800" b="1" i="0">
                <a:solidFill>
                  <a:srgbClr val="FFFFFF"/>
                </a:solidFill>
                <a:latin typeface="Aptos"/>
                <a:ea typeface="Aptos"/>
                <a:cs typeface="Aptos"/>
              </a:rPr>
              <a:t>Clean boundaries</a:t>
            </a:r>
          </a:p>
        </p:txBody>
      </p:sp>
      <p:sp>
        <p:nvSpPr>
          <p:cNvPr id="8" name="">
            <a:extLst xmlns:a="http://schemas.openxmlformats.org/drawingml/2006/main">
              <a:ext uri="{FF2B5EF4-FFF2-40B4-BE49-F238E27FC236}">
                <a16:creationId xmlns:a16="http://schemas.microsoft.com/office/drawing/2014/main" id="{3AD33A6B-4C6F-40F0-BA24-866BD485A670}"/>
              </a:ext>
            </a:extLst>
          </p:cNvPr>
          <p:cNvSpPr>
            <a:spLocks xmlns:a="http://schemas.openxmlformats.org/drawingml/2006/main" noGrp="1"/>
          </p:cNvSpPr>
          <p:nvPr/>
        </p:nvSpPr>
        <p:spPr>
          <a:xfrm xmlns:a="http://schemas.openxmlformats.org/drawingml/2006/main">
            <a:off x="3771900" y="2552700"/>
            <a:ext cx="723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i="0">
                <a:solidFill>
                  <a:srgbClr val="CCDCE7"/>
                </a:solidFill>
                <a:latin typeface="Aptos"/>
                <a:ea typeface="Aptos"/>
                <a:cs typeface="Aptos"/>
              </a:defRPr>
            </a:pPr>
            <a:r>
              <a:rPr sz="1425" b="0" i="0">
                <a:solidFill>
                  <a:srgbClr val="CCDCE7"/>
                </a:solidFill>
                <a:latin typeface="Aptos"/>
                <a:ea typeface="Aptos"/>
                <a:cs typeface="Aptos"/>
              </a:rPr>
              <a:t>Services coordinate operations while repositories isolate persistence.</a:t>
            </a:r>
          </a:p>
        </p:txBody>
      </p:sp>
      <p:sp>
        <p:nvSpPr>
          <p:cNvPr id="9" name="">
            <a:extLst xmlns:a="http://schemas.openxmlformats.org/drawingml/2006/main">
              <a:ext uri="{FF2B5EF4-FFF2-40B4-BE49-F238E27FC236}">
                <a16:creationId xmlns:a16="http://schemas.microsoft.com/office/drawing/2014/main" id="{CE1F4D86-B0E6-4DE1-A4F1-A3FB74E4A39C}"/>
              </a:ext>
            </a:extLst>
          </p:cNvPr>
          <p:cNvSpPr>
            <a:spLocks xmlns:a="http://schemas.openxmlformats.org/drawingml/2006/main" noGrp="1"/>
          </p:cNvSpPr>
          <p:nvPr/>
        </p:nvSpPr>
        <p:spPr>
          <a:xfrm xmlns:a="http://schemas.openxmlformats.org/drawingml/2006/main">
            <a:off x="742950" y="3524250"/>
            <a:ext cx="514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i="0">
                <a:solidFill>
                  <a:srgbClr val="22B8A7"/>
                </a:solidFill>
                <a:latin typeface="Aptos"/>
                <a:ea typeface="Aptos"/>
                <a:cs typeface="Aptos"/>
              </a:defRPr>
            </a:pPr>
            <a:r>
              <a:rPr sz="1350" b="1" i="0">
                <a:solidFill>
                  <a:srgbClr val="22B8A7"/>
                </a:solidFill>
                <a:latin typeface="Aptos"/>
                <a:ea typeface="Aptos"/>
                <a:cs typeface="Aptos"/>
              </a:rPr>
              <a:t>03</a:t>
            </a:r>
          </a:p>
        </p:txBody>
      </p:sp>
      <p:sp>
        <p:nvSpPr>
          <p:cNvPr id="10" name="">
            <a:extLst xmlns:a="http://schemas.openxmlformats.org/drawingml/2006/main">
              <a:ext uri="{FF2B5EF4-FFF2-40B4-BE49-F238E27FC236}">
                <a16:creationId xmlns:a16="http://schemas.microsoft.com/office/drawing/2014/main" id="{FA9D6169-51A8-435B-84AD-79C9D357A255}"/>
              </a:ext>
            </a:extLst>
          </p:cNvPr>
          <p:cNvSpPr>
            <a:spLocks xmlns:a="http://schemas.openxmlformats.org/drawingml/2006/main" noGrp="1"/>
          </p:cNvSpPr>
          <p:nvPr/>
        </p:nvSpPr>
        <p:spPr>
          <a:xfrm xmlns:a="http://schemas.openxmlformats.org/drawingml/2006/main">
            <a:off x="1409700" y="3486150"/>
            <a:ext cx="219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1" i="0">
                <a:solidFill>
                  <a:srgbClr val="FFFFFF"/>
                </a:solidFill>
                <a:latin typeface="Aptos"/>
                <a:ea typeface="Aptos"/>
                <a:cs typeface="Aptos"/>
              </a:defRPr>
            </a:pPr>
            <a:r>
              <a:rPr sz="1800" b="1" i="0">
                <a:solidFill>
                  <a:srgbClr val="FFFFFF"/>
                </a:solidFill>
                <a:latin typeface="Aptos"/>
                <a:ea typeface="Aptos"/>
                <a:cs typeface="Aptos"/>
              </a:rPr>
              <a:t>Modern PHP</a:t>
            </a:r>
          </a:p>
        </p:txBody>
      </p:sp>
      <p:sp>
        <p:nvSpPr>
          <p:cNvPr id="11" name="">
            <a:extLst xmlns:a="http://schemas.openxmlformats.org/drawingml/2006/main">
              <a:ext uri="{FF2B5EF4-FFF2-40B4-BE49-F238E27FC236}">
                <a16:creationId xmlns:a16="http://schemas.microsoft.com/office/drawing/2014/main" id="{B2E8C272-D8D5-4059-B18B-960A1C44C663}"/>
              </a:ext>
            </a:extLst>
          </p:cNvPr>
          <p:cNvSpPr>
            <a:spLocks xmlns:a="http://schemas.openxmlformats.org/drawingml/2006/main" noGrp="1"/>
          </p:cNvSpPr>
          <p:nvPr/>
        </p:nvSpPr>
        <p:spPr>
          <a:xfrm xmlns:a="http://schemas.openxmlformats.org/drawingml/2006/main">
            <a:off x="3771900" y="3505200"/>
            <a:ext cx="723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i="0">
                <a:solidFill>
                  <a:srgbClr val="CCDCE7"/>
                </a:solidFill>
                <a:latin typeface="Aptos"/>
                <a:ea typeface="Aptos"/>
                <a:cs typeface="Aptos"/>
              </a:defRPr>
            </a:pPr>
            <a:r>
              <a:rPr sz="1425" b="0" i="0">
                <a:solidFill>
                  <a:srgbClr val="CCDCE7"/>
                </a:solidFill>
                <a:latin typeface="Aptos"/>
                <a:ea typeface="Aptos"/>
                <a:cs typeface="Aptos"/>
              </a:rPr>
              <a:t>Types, readonly classes, enums, match, attributes, reflection, and custom exceptions.</a:t>
            </a:r>
          </a:p>
        </p:txBody>
      </p:sp>
      <p:sp>
        <p:nvSpPr>
          <p:cNvPr id="12" name="">
            <a:extLst xmlns:a="http://schemas.openxmlformats.org/drawingml/2006/main">
              <a:ext uri="{FF2B5EF4-FFF2-40B4-BE49-F238E27FC236}">
                <a16:creationId xmlns:a16="http://schemas.microsoft.com/office/drawing/2014/main" id="{2A52553F-0B9E-4EC0-85D3-2FD6943903CE}"/>
              </a:ext>
            </a:extLst>
          </p:cNvPr>
          <p:cNvSpPr>
            <a:spLocks xmlns:a="http://schemas.openxmlformats.org/drawingml/2006/main" noGrp="1"/>
          </p:cNvSpPr>
          <p:nvPr/>
        </p:nvSpPr>
        <p:spPr>
          <a:xfrm xmlns:a="http://schemas.openxmlformats.org/drawingml/2006/main">
            <a:off x="742950" y="4476750"/>
            <a:ext cx="514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i="0">
                <a:solidFill>
                  <a:srgbClr val="22B8A7"/>
                </a:solidFill>
                <a:latin typeface="Aptos"/>
                <a:ea typeface="Aptos"/>
                <a:cs typeface="Aptos"/>
              </a:defRPr>
            </a:pPr>
            <a:r>
              <a:rPr sz="1350" b="1" i="0">
                <a:solidFill>
                  <a:srgbClr val="22B8A7"/>
                </a:solidFill>
                <a:latin typeface="Aptos"/>
                <a:ea typeface="Aptos"/>
                <a:cs typeface="Aptos"/>
              </a:rPr>
              <a:t>04</a:t>
            </a:r>
          </a:p>
        </p:txBody>
      </p:sp>
      <p:sp>
        <p:nvSpPr>
          <p:cNvPr id="13" name="">
            <a:extLst xmlns:a="http://schemas.openxmlformats.org/drawingml/2006/main">
              <a:ext uri="{FF2B5EF4-FFF2-40B4-BE49-F238E27FC236}">
                <a16:creationId xmlns:a16="http://schemas.microsoft.com/office/drawing/2014/main" id="{5B077C92-EBC7-4BB6-BC4F-784ECEFD9F07}"/>
              </a:ext>
            </a:extLst>
          </p:cNvPr>
          <p:cNvSpPr>
            <a:spLocks xmlns:a="http://schemas.openxmlformats.org/drawingml/2006/main" noGrp="1"/>
          </p:cNvSpPr>
          <p:nvPr/>
        </p:nvSpPr>
        <p:spPr>
          <a:xfrm xmlns:a="http://schemas.openxmlformats.org/drawingml/2006/main">
            <a:off x="1409700" y="4438650"/>
            <a:ext cx="219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1" i="0">
                <a:solidFill>
                  <a:srgbClr val="FFFFFF"/>
                </a:solidFill>
                <a:latin typeface="Aptos"/>
                <a:ea typeface="Aptos"/>
                <a:cs typeface="Aptos"/>
              </a:defRPr>
            </a:pPr>
            <a:r>
              <a:rPr sz="1800" b="1" i="0">
                <a:solidFill>
                  <a:srgbClr val="FFFFFF"/>
                </a:solidFill>
                <a:latin typeface="Aptos"/>
                <a:ea typeface="Aptos"/>
                <a:cs typeface="Aptos"/>
              </a:rPr>
              <a:t>Confidence</a:t>
            </a:r>
          </a:p>
        </p:txBody>
      </p:sp>
      <p:sp>
        <p:nvSpPr>
          <p:cNvPr id="14" name="">
            <a:extLst xmlns:a="http://schemas.openxmlformats.org/drawingml/2006/main">
              <a:ext uri="{FF2B5EF4-FFF2-40B4-BE49-F238E27FC236}">
                <a16:creationId xmlns:a16="http://schemas.microsoft.com/office/drawing/2014/main" id="{CB9EEC76-FD05-444B-A0C6-DE3F43B4E252}"/>
              </a:ext>
            </a:extLst>
          </p:cNvPr>
          <p:cNvSpPr>
            <a:spLocks xmlns:a="http://schemas.openxmlformats.org/drawingml/2006/main" noGrp="1"/>
          </p:cNvSpPr>
          <p:nvPr/>
        </p:nvSpPr>
        <p:spPr>
          <a:xfrm xmlns:a="http://schemas.openxmlformats.org/drawingml/2006/main">
            <a:off x="3771900" y="4457700"/>
            <a:ext cx="723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i="0">
                <a:solidFill>
                  <a:srgbClr val="CCDCE7"/>
                </a:solidFill>
                <a:latin typeface="Aptos"/>
                <a:ea typeface="Aptos"/>
                <a:cs typeface="Aptos"/>
              </a:defRPr>
            </a:pPr>
            <a:r>
              <a:rPr sz="1425" b="0" i="0">
                <a:solidFill>
                  <a:srgbClr val="CCDCE7"/>
                </a:solidFill>
                <a:latin typeface="Aptos"/>
                <a:ea typeface="Aptos"/>
                <a:cs typeface="Aptos"/>
              </a:rPr>
              <a:t>PHPUnit verifies expected behaviour and catches regressions.</a:t>
            </a:r>
          </a:p>
        </p:txBody>
      </p:sp>
      <p:sp>
        <p:nvSpPr>
          <p:cNvPr id="15" name="">
            <a:extLst xmlns:a="http://schemas.openxmlformats.org/drawingml/2006/main">
              <a:ext uri="{FF2B5EF4-FFF2-40B4-BE49-F238E27FC236}">
                <a16:creationId xmlns:a16="http://schemas.microsoft.com/office/drawing/2014/main" id="{4D34D679-1ACF-4985-8E3E-E9A331D71D1A}"/>
              </a:ext>
            </a:extLst>
          </p:cNvPr>
          <p:cNvSpPr>
            <a:spLocks xmlns:a="http://schemas.openxmlformats.org/drawingml/2006/main" noGrp="1"/>
          </p:cNvSpPr>
          <p:nvPr/>
        </p:nvSpPr>
        <p:spPr>
          <a:xfrm xmlns:a="http://schemas.openxmlformats.org/drawingml/2006/main">
            <a:off x="685800" y="5638800"/>
            <a:ext cx="5048250" cy="590550"/>
          </a:xfrm>
          <a:prstGeom xmlns:a="http://schemas.openxmlformats.org/drawingml/2006/main" prst="roundRect">
            <a:avLst>
              <a:gd name="adj" fmla="val 12903"/>
            </a:avLst>
          </a:prstGeom>
          <a:solidFill xmlns:a="http://schemas.openxmlformats.org/drawingml/2006/main">
            <a:srgbClr val="22B8A7"/>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0F5609B7-91B7-4F5E-98E0-C790E912E4F4}"/>
              </a:ext>
            </a:extLst>
          </p:cNvPr>
          <p:cNvSpPr>
            <a:spLocks xmlns:a="http://schemas.openxmlformats.org/drawingml/2006/main" noGrp="1"/>
          </p:cNvSpPr>
          <p:nvPr/>
        </p:nvSpPr>
        <p:spPr>
          <a:xfrm xmlns:a="http://schemas.openxmlformats.org/drawingml/2006/main">
            <a:off x="876300" y="5743575"/>
            <a:ext cx="4667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1" i="0">
                <a:solidFill>
                  <a:srgbClr val="0B1F33"/>
                </a:solidFill>
                <a:latin typeface="Aptos"/>
                <a:ea typeface="Aptos"/>
                <a:cs typeface="Aptos"/>
              </a:defRPr>
            </a:pPr>
            <a:r>
              <a:rPr sz="1425" b="1" i="0">
                <a:solidFill>
                  <a:srgbClr val="0B1F33"/>
                </a:solidFill>
                <a:latin typeface="Aptos"/>
                <a:ea typeface="Aptos"/>
                <a:cs typeface="Aptos"/>
              </a:rPr>
              <a:t>Next step: persistence + integration tests</a:t>
            </a:r>
          </a:p>
        </p:txBody>
      </p:sp>
      <p:sp>
        <p:nvSpPr>
          <p:cNvPr id="17" name="">
            <a:extLst xmlns:a="http://schemas.openxmlformats.org/drawingml/2006/main">
              <a:ext uri="{FF2B5EF4-FFF2-40B4-BE49-F238E27FC236}">
                <a16:creationId xmlns:a16="http://schemas.microsoft.com/office/drawing/2014/main" id="{3996A168-FE53-4CA3-892F-C53508A159A3}"/>
              </a:ext>
            </a:extLst>
          </p:cNvPr>
          <p:cNvSpPr>
            <a:spLocks xmlns:a="http://schemas.openxmlformats.org/drawingml/2006/main" noGrp="1"/>
          </p:cNvSpPr>
          <p:nvPr/>
        </p:nvSpPr>
        <p:spPr>
          <a:xfrm xmlns:a="http://schemas.openxmlformats.org/drawingml/2006/main">
            <a:off x="8496300" y="5562600"/>
            <a:ext cx="266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2400" b="1" i="0">
                <a:solidFill>
                  <a:srgbClr val="FFFFFF"/>
                </a:solidFill>
                <a:latin typeface="Aptos"/>
                <a:ea typeface="Aptos"/>
                <a:cs typeface="Aptos"/>
              </a:defRPr>
            </a:pPr>
            <a:r>
              <a:rPr sz="2400" b="1" i="0">
                <a:solidFill>
                  <a:srgbClr val="FFFFFF"/>
                </a:solidFill>
                <a:latin typeface="Aptos"/>
                <a:ea typeface="Aptos"/>
                <a:cs typeface="Aptos"/>
              </a:rPr>
              <a:t>Thank you</a:t>
            </a:r>
          </a:p>
        </p:txBody>
      </p:sp>
      <p:sp>
        <p:nvSpPr>
          <p:cNvPr id="18" name="">
            <a:extLst xmlns:a="http://schemas.openxmlformats.org/drawingml/2006/main">
              <a:ext uri="{FF2B5EF4-FFF2-40B4-BE49-F238E27FC236}">
                <a16:creationId xmlns:a16="http://schemas.microsoft.com/office/drawing/2014/main" id="{1715BD70-663E-42F4-8843-E01A87E27A4B}"/>
              </a:ext>
            </a:extLst>
          </p:cNvPr>
          <p:cNvSpPr>
            <a:spLocks xmlns:a="http://schemas.openxmlformats.org/drawingml/2006/main" noGrp="1"/>
          </p:cNvSpPr>
          <p:nvPr/>
        </p:nvSpPr>
        <p:spPr>
          <a:xfrm xmlns:a="http://schemas.openxmlformats.org/drawingml/2006/main">
            <a:off x="8496300" y="6019800"/>
            <a:ext cx="266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350" b="0" i="0">
                <a:solidFill>
                  <a:srgbClr val="7DE2D1"/>
                </a:solidFill>
                <a:latin typeface="Aptos"/>
                <a:ea typeface="Aptos"/>
                <a:cs typeface="Aptos"/>
              </a:defRPr>
            </a:pPr>
            <a:r>
              <a:rPr sz="1350" b="0" i="0">
                <a:solidFill>
                  <a:srgbClr val="7DE2D1"/>
                </a:solidFill>
                <a:latin typeface="Aptos"/>
                <a:ea typeface="Aptos"/>
                <a:cs typeface="Aptos"/>
              </a:rPr>
              <a:t>Questions?</a:t>
            </a:r>
          </a:p>
        </p:txBody>
      </p:sp>
    </p:spTree>
    <p:extLst>
      <p:ext uri="{BB962C8B-B14F-4D97-AF65-F5344CB8AC3E}">
        <p14:creationId xmlns:p14="http://schemas.microsoft.com/office/powerpoint/2010/main" val="41198928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2026-09-18T11:43:27.1320000Z</dcterms:created>
  <dcterms:modified xsi:type="dcterms:W3CDTF">2026-09-18T11:43:27.1320000Z</dcterms:modified>
</coreProperties>
</file>